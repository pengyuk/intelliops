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s>
</file>

<file path=ppt/notesSlides/_rels/notesSlide1.xml.rels><?xml version="1.0" encoding="UTF-8" standalone="yes"?>
<Relationships xmlns="http://schemas.openxmlformats.org/package/2006/relationships">
  <Relationship Id="rId1"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大家好，欢迎参加 IntelliOps —— 大模型驱动的故障应急认知系统的项目评审。本次汇报将介绍我们的原型研发方案，从当前故障应急体系的痛点出发，重点展示我们的方案设计、核心亮点以及后续的推进计划。</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今天的汇报分为四个部分。首先我们将分析当前故障应急体系面临的三大痛点，然后介绍 IntelliOps 的整体方案设计，接着展示我们方案的核心差异化优势，最后汇报后续的分阶段实施计划。</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首先来看故障应急体系的三大核心痛点。经过深入调研，我们发现当前的应急体系在能力、流程和复盘三个维度存在系统性短板。能力层面，运维和开发团队都缺乏有效的工具支撑；流程层面，应急协同严重依赖个人经验和人工传递；复盘层面，改进措施缺乏闭环跟踪机制。这三个问题叠加在一起，导致故障响应效率低下、同类故障反复发生。</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我们首先深入分析痛点一，也就是能力缺口。在运维侧，信创系统的快速推广使得运维人员面临知识储备不足的挑战，应急处置经验主要依赖个人积累而缺乏有效传递，大量操作仍然靠手工完成。在开发侧，应急排查工具配套不足，日志查询依赖运维人员，故障排查期间的沟通成本非常高。两边都面临自动化能力不足的共同困境。</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再来看看痛点二和痛点三。流程断层方面，目前的应急过程高度依赖个人经验，现场信息同步主要靠人工转发，各参与角色之间缺乏有效的联动机制，导致信息碎片化、协同效率低下。复盘不闭环方面，虽然每次故障后都会召开复盘会，但提出的改进措施缺乏有效的跟踪和落实机制，经验无法有效传递，同类故障反复发生。</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那么，IntelliOps 如何解决这些问题呢？接下来进入方案介绍部分。</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IntelliOps 是一个从底层重新设计的故障应急认知系统。我们的核心理念是从传统的智能运维平台升级为大模型驱动的认知系统。整个架构分为五层：最底层是基础设施，包括LLM API、前后端框架和数据库；往上是数据层，负责多源数据的采集、标准化和持久化；中间是知识层，通过本体、知识图谱和案例库构建领域知识体系；再往上是核心的认知层，也是大模型发挥价值的地方，包括根因推理、日志分析、智能副驾和可信度框架；最顶层是执行与闭环层，负责自动化执行、审计回滚和知识蒸馏。</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在认知层之上，我们有四大基础模块为上层AI提供支撑。数据采集模块对接CMDB、告警、日志、变更和工单等系统。知识库模块构建了文档案例库加向量检索引擎，支持相似案例的快速召回。事故管理模块提供看板、事件流、状态机和Incident Graph等功能。执行层则负责Action的执行、审计、回滚和通知推送。</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这是我们方案最核心的部分——八大AI认知能力矩阵。前三项是根因推理引擎、智能日志分析和事故副驾，解决了为什么发生和怎么排查的问题。中间三项包括可信度框架、排查状态机和知识蒸馏器，确保推荐的可靠性和过程的可追溯性。最后两项是作战室智能体和故障演练系统，实现了多角色协同和经验主动传播。每一项能力都精准对应一个现有运维体系的系统性缺口。</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这张表详细展示了八大能力缺口与AI解决方案的对应关系。从故障推理链到可信度，每个缺口都有明确的目标形态和大模型价值。比如故障推理链从简单的相似案例检索升级为多步因果推理，从关注怎么做转变为解释为什么。日志分析从依赖人工查询升级为自动摘要加异常检测，从海量日志中提取关键异常。</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接下来进入亮点展示部分，重点介绍我们方案的三个核心差异化优势。</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第一个亮点是从检索到推理的认知跃升。传统方式本质上是检索驱动的，收到告警后检索历史案例，推荐固定步骤，就像黑盒一样。IntelliOps 是推理驱动的，聚合告警、CMDB、拓扑、变更、日志摘要和历史案例，构建Incident Graph，让大模型进行多步因果推理，最后输出带置信度和依据链的可解释结果。比如当数据库连接池出现问题时，系统不仅告诉你根因是什么，还会展示百分之八十二的置信度，以及完整的依据链，让运维人员真正理解问题的来龙去脉。</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第二个亮点是多角色协同智能体。传统应急协同需要人工建群、反复询问状态、信息碎片化严重。IntelliOps 的作战室智能体自动创建虚拟作战室，通过排查状态机同步进度，自动生成时间线，并根据角色适配推送信息。运维人员获得AI助手的实时引导，开发人员通过透明进度掌握排查状态，管理层获得全链路可审计的闭环跟踪。每个角色各取所需，全链路协同。</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第三个亮点是知识自动蒸馏与闭环学习。在 IntelliOps 中，每次故障都是一次学习机会。系统通过知识蒸馏器自动从故障中提炼规则、SOP、预警信号、脚本和关键经验，然后进行语义去重和聚合，对高频模式进行LLM精炼，最后通过SKILL热更新机制注入到系统中。这样，多次同类故障不再是多条冗余记录，而是精炼为少数几个权威模式，知识信噪比持续提升。</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最后来做一个全面的对比总结。从故障定位、日志分析、排查过程、协同方式、经验沉淀、可信度、新人培养到复盘管理，IntelliOps 在每个维度都实现了从传统到智能的跃升。核心结论是：IntelliOps 实现了从信息聚合到认知驱动的全维度升级，是推理型、协同型、学习型和可信型的真正融合。</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好的，方案介绍完了。最后我们来汇报后续的计划和展望。</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我们规划了七周三阶段的交付路线。阶段A是两周的基础设施建设，Person A负责LLM环境和Prompt框架，Person B负责数据管道和UI骨架。阶段B是两周的大模型认知能力上线，重点完成根因推理、日志分析和可信度框架。阶段C是三周的协同与闭环，完成作战室、知识蒸馏和演练系统。整个过程中，A和B两条线并行开发，通过明确的接口规范协作，确保高效推进。</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以上就是 IntelliOps 项目的完整汇报。感谢大家的聆听。我们相信，通过大模型驱动的故障应急认知系统，能够真正实现从被动响应到主动认知的跨越。谢谢。</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0.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2.xml"/>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3.xml"/>
</Relationships>
</file>

<file path=ppt/slides/_rels/slide14.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4.xml"/>
</Relationships>
</file>

<file path=ppt/slides/_rels/slide15.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5.xml"/>
</Relationships>
</file>

<file path=ppt/slides/_rels/slide16.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6.xml"/>
</Relationships>
</file>

<file path=ppt/slides/_rels/slide17.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7.xml"/>
</Relationships>
</file>

<file path=ppt/slides/_rels/slide18.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8.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76200"/>
          </a:xfrm>
          <a:prstGeom prst="rect">
            <a:avLst/>
          </a:prstGeom>
          <a:solidFill>
            <a:srgbClr val="C00000"/>
          </a:solidFill>
          <a:ln>
            <a:noFill/>
          </a:ln>
        </p:spPr>
      </p:sp>
      <p:sp>
        <p:nvSpPr>
          <p:cNvPr id="4" name="Rectangle 4"/>
          <p:cNvSpPr/>
          <p:nvPr/>
        </p:nvSpPr>
        <p:spPr>
          <a:xfrm>
            <a:off x="0" y="0"/>
            <a:ext cx="571500" cy="3429000"/>
          </a:xfrm>
          <a:prstGeom prst="rect">
            <a:avLst/>
          </a:prstGeom>
          <a:solidFill>
            <a:srgbClr val="C00000"/>
          </a:solidFill>
          <a:ln>
            <a:noFill/>
          </a:ln>
        </p:spPr>
      </p:sp>
      <p:sp>
        <p:nvSpPr>
          <p:cNvPr id="5" name="Rectangle 5"/>
          <p:cNvSpPr/>
          <p:nvPr/>
        </p:nvSpPr>
        <p:spPr>
          <a:xfrm>
            <a:off x="0" y="3429000"/>
            <a:ext cx="571500" cy="3429000"/>
          </a:xfrm>
          <a:prstGeom prst="rect">
            <a:avLst/>
          </a:prstGeom>
          <a:solidFill>
            <a:srgbClr val="2E75B6"/>
          </a:solidFill>
          <a:ln>
            <a:noFill/>
          </a:ln>
        </p:spPr>
      </p:sp>
      <p:sp>
        <p:nvSpPr>
          <p:cNvPr id="6" name="Rectangle 6"/>
          <p:cNvSpPr/>
          <p:nvPr/>
        </p:nvSpPr>
        <p:spPr>
          <a:xfrm>
            <a:off x="571500" y="2667000"/>
            <a:ext cx="11620500" cy="571500"/>
          </a:xfrm>
          <a:prstGeom prst="rect">
            <a:avLst/>
          </a:prstGeom>
          <a:solidFill>
            <a:srgbClr val="F2F2F2"/>
          </a:solidFill>
          <a:ln>
            <a:noFill/>
          </a:ln>
        </p:spPr>
      </p:sp>
      <p:sp>
        <p:nvSpPr>
          <p:cNvPr id="7" name="TextBox 7"/>
          <p:cNvSpPr txBox="1"/>
          <p:nvPr/>
        </p:nvSpPr>
        <p:spPr>
          <a:xfrm>
            <a:off x="294242" y="1642110"/>
            <a:ext cx="11603517" cy="853440"/>
          </a:xfrm>
          <a:prstGeom prst="rect">
            <a:avLst/>
          </a:prstGeom>
          <a:noFill/>
          <a:ln>
            <a:noFill/>
          </a:ln>
        </p:spPr>
        <p:txBody>
          <a:bodyPr wrap="none" lIns="0" tIns="0" rIns="0" bIns="0" anchor="t" anchorCtr="0">
            <a:spAutoFit/>
          </a:bodyPr>
          <a:lstStyle/>
          <a:p>
            <a:pPr algn="ctr"/>
            <a:r>
              <a:rPr lang="zh-CN" sz="4200" b="1" dirty="0">
                <a:solidFill>
                  <a:srgbClr val="C00000"/>
                </a:solidFill>
                <a:latin typeface="Arial"/>
                <a:ea typeface="Microsoft YaHei"/>
                <a:cs typeface="Arial"/>
              </a:rPr>
              <a:t>IntelliOps: 大模型驱动的故障应急认知系统</a:t>
            </a:r>
          </a:p>
        </p:txBody>
      </p:sp>
      <p:sp>
        <p:nvSpPr>
          <p:cNvPr id="8" name="TextBox 8"/>
          <p:cNvSpPr txBox="1"/>
          <p:nvPr/>
        </p:nvSpPr>
        <p:spPr>
          <a:xfrm>
            <a:off x="3225689" y="2869882"/>
            <a:ext cx="5740622" cy="335280"/>
          </a:xfrm>
          <a:prstGeom prst="rect">
            <a:avLst/>
          </a:prstGeom>
          <a:noFill/>
          <a:ln>
            <a:noFill/>
          </a:ln>
        </p:spPr>
        <p:txBody>
          <a:bodyPr wrap="none" lIns="0" tIns="0" rIns="0" bIns="0" anchor="t" anchorCtr="0">
            <a:spAutoFit/>
          </a:bodyPr>
          <a:lstStyle/>
          <a:p>
            <a:pPr algn="ctr"/>
            <a:r>
              <a:rPr lang="zh-CN" sz="1650" dirty="0">
                <a:solidFill>
                  <a:srgbClr val="666666"/>
                </a:solidFill>
                <a:latin typeface="Arial"/>
                <a:ea typeface="Microsoft YaHei"/>
                <a:cs typeface="Arial"/>
              </a:rPr>
              <a:t>从"被动响应"到"主动认知" —— 用大模型重塑故障应急体系</a:t>
            </a:r>
          </a:p>
        </p:txBody>
      </p:sp>
      <p:sp>
        <p:nvSpPr>
          <p:cNvPr id="9" name="Rectangle 9"/>
          <p:cNvSpPr/>
          <p:nvPr/>
        </p:nvSpPr>
        <p:spPr>
          <a:xfrm>
            <a:off x="1905000" y="3810000"/>
            <a:ext cx="381000" cy="381000"/>
          </a:xfrm>
          <a:prstGeom prst="rect">
            <a:avLst/>
          </a:prstGeom>
          <a:solidFill>
            <a:srgbClr val="C00000"/>
          </a:solidFill>
          <a:ln>
            <a:noFill/>
          </a:ln>
        </p:spPr>
      </p:sp>
      <p:sp>
        <p:nvSpPr>
          <p:cNvPr id="10" name="TextBox 10"/>
          <p:cNvSpPr txBox="1"/>
          <p:nvPr/>
        </p:nvSpPr>
        <p:spPr>
          <a:xfrm>
            <a:off x="2011012" y="3898582"/>
            <a:ext cx="168976" cy="335280"/>
          </a:xfrm>
          <a:prstGeom prst="rect">
            <a:avLst/>
          </a:prstGeom>
          <a:noFill/>
          <a:ln>
            <a:noFill/>
          </a:ln>
        </p:spPr>
        <p:txBody>
          <a:bodyPr wrap="none" lIns="0" tIns="0" rIns="0" bIns="0" anchor="t" anchorCtr="0">
            <a:spAutoFit/>
          </a:bodyPr>
          <a:lstStyle/>
          <a:p>
            <a:pPr algn="ctr"/>
            <a:r>
              <a:rPr lang="zh-CN" sz="1650" b="1" dirty="0">
                <a:solidFill>
                  <a:srgbClr val="FFFFFF"/>
                </a:solidFill>
                <a:latin typeface="Arial"/>
                <a:ea typeface="Microsoft YaHei"/>
                <a:cs typeface="Arial"/>
              </a:rPr>
              <a:t>1</a:t>
            </a:r>
          </a:p>
        </p:txBody>
      </p:sp>
      <p:sp>
        <p:nvSpPr>
          <p:cNvPr id="11" name="Rectangle 11"/>
          <p:cNvSpPr/>
          <p:nvPr/>
        </p:nvSpPr>
        <p:spPr>
          <a:xfrm>
            <a:off x="3810000" y="3810000"/>
            <a:ext cx="381000" cy="381000"/>
          </a:xfrm>
          <a:prstGeom prst="rect">
            <a:avLst/>
          </a:prstGeom>
          <a:solidFill>
            <a:srgbClr val="C00000"/>
          </a:solidFill>
          <a:ln>
            <a:noFill/>
          </a:ln>
        </p:spPr>
      </p:sp>
      <p:sp>
        <p:nvSpPr>
          <p:cNvPr id="12" name="TextBox 12"/>
          <p:cNvSpPr txBox="1"/>
          <p:nvPr/>
        </p:nvSpPr>
        <p:spPr>
          <a:xfrm>
            <a:off x="3916012" y="3898582"/>
            <a:ext cx="168976" cy="335280"/>
          </a:xfrm>
          <a:prstGeom prst="rect">
            <a:avLst/>
          </a:prstGeom>
          <a:noFill/>
          <a:ln>
            <a:noFill/>
          </a:ln>
        </p:spPr>
        <p:txBody>
          <a:bodyPr wrap="none" lIns="0" tIns="0" rIns="0" bIns="0" anchor="t" anchorCtr="0">
            <a:spAutoFit/>
          </a:bodyPr>
          <a:lstStyle/>
          <a:p>
            <a:pPr algn="ctr"/>
            <a:r>
              <a:rPr lang="zh-CN" sz="1650" b="1" dirty="0">
                <a:solidFill>
                  <a:srgbClr val="FFFFFF"/>
                </a:solidFill>
                <a:latin typeface="Arial"/>
                <a:ea typeface="Microsoft YaHei"/>
                <a:cs typeface="Arial"/>
              </a:rPr>
              <a:t>2</a:t>
            </a:r>
          </a:p>
        </p:txBody>
      </p:sp>
      <p:sp>
        <p:nvSpPr>
          <p:cNvPr id="13" name="Rectangle 13"/>
          <p:cNvSpPr/>
          <p:nvPr/>
        </p:nvSpPr>
        <p:spPr>
          <a:xfrm>
            <a:off x="5715000" y="3810000"/>
            <a:ext cx="381000" cy="381000"/>
          </a:xfrm>
          <a:prstGeom prst="rect">
            <a:avLst/>
          </a:prstGeom>
          <a:solidFill>
            <a:srgbClr val="C00000"/>
          </a:solidFill>
          <a:ln>
            <a:noFill/>
          </a:ln>
        </p:spPr>
      </p:sp>
      <p:sp>
        <p:nvSpPr>
          <p:cNvPr id="14" name="TextBox 14"/>
          <p:cNvSpPr txBox="1"/>
          <p:nvPr/>
        </p:nvSpPr>
        <p:spPr>
          <a:xfrm>
            <a:off x="5821012" y="3898582"/>
            <a:ext cx="168976" cy="335280"/>
          </a:xfrm>
          <a:prstGeom prst="rect">
            <a:avLst/>
          </a:prstGeom>
          <a:noFill/>
          <a:ln>
            <a:noFill/>
          </a:ln>
        </p:spPr>
        <p:txBody>
          <a:bodyPr wrap="none" lIns="0" tIns="0" rIns="0" bIns="0" anchor="t" anchorCtr="0">
            <a:spAutoFit/>
          </a:bodyPr>
          <a:lstStyle/>
          <a:p>
            <a:pPr algn="ctr"/>
            <a:r>
              <a:rPr lang="zh-CN" sz="1650" b="1" dirty="0">
                <a:solidFill>
                  <a:srgbClr val="FFFFFF"/>
                </a:solidFill>
                <a:latin typeface="Arial"/>
                <a:ea typeface="Microsoft YaHei"/>
                <a:cs typeface="Arial"/>
              </a:rPr>
              <a:t>3</a:t>
            </a:r>
          </a:p>
        </p:txBody>
      </p:sp>
      <p:sp>
        <p:nvSpPr>
          <p:cNvPr id="15" name="Rectangle 15"/>
          <p:cNvSpPr/>
          <p:nvPr/>
        </p:nvSpPr>
        <p:spPr>
          <a:xfrm>
            <a:off x="7620000" y="3810000"/>
            <a:ext cx="381000" cy="381000"/>
          </a:xfrm>
          <a:prstGeom prst="rect">
            <a:avLst/>
          </a:prstGeom>
          <a:solidFill>
            <a:srgbClr val="C00000"/>
          </a:solidFill>
          <a:ln>
            <a:noFill/>
          </a:ln>
        </p:spPr>
      </p:sp>
      <p:sp>
        <p:nvSpPr>
          <p:cNvPr id="16" name="TextBox 16"/>
          <p:cNvSpPr txBox="1"/>
          <p:nvPr/>
        </p:nvSpPr>
        <p:spPr>
          <a:xfrm>
            <a:off x="7726012" y="3898582"/>
            <a:ext cx="168976" cy="335280"/>
          </a:xfrm>
          <a:prstGeom prst="rect">
            <a:avLst/>
          </a:prstGeom>
          <a:noFill/>
          <a:ln>
            <a:noFill/>
          </a:ln>
        </p:spPr>
        <p:txBody>
          <a:bodyPr wrap="none" lIns="0" tIns="0" rIns="0" bIns="0" anchor="t" anchorCtr="0">
            <a:spAutoFit/>
          </a:bodyPr>
          <a:lstStyle/>
          <a:p>
            <a:pPr algn="ctr"/>
            <a:r>
              <a:rPr lang="zh-CN" sz="1650" b="1" dirty="0">
                <a:solidFill>
                  <a:srgbClr val="FFFFFF"/>
                </a:solidFill>
                <a:latin typeface="Arial"/>
                <a:ea typeface="Microsoft YaHei"/>
                <a:cs typeface="Arial"/>
              </a:rPr>
              <a:t>4</a:t>
            </a:r>
          </a:p>
        </p:txBody>
      </p:sp>
      <p:sp>
        <p:nvSpPr>
          <p:cNvPr id="17" name="Rectangle 17"/>
          <p:cNvSpPr/>
          <p:nvPr/>
        </p:nvSpPr>
        <p:spPr>
          <a:xfrm>
            <a:off x="9525000" y="3810000"/>
            <a:ext cx="381000" cy="381000"/>
          </a:xfrm>
          <a:prstGeom prst="rect">
            <a:avLst/>
          </a:prstGeom>
          <a:solidFill>
            <a:srgbClr val="C00000"/>
          </a:solidFill>
          <a:ln>
            <a:noFill/>
          </a:ln>
        </p:spPr>
      </p:sp>
      <p:sp>
        <p:nvSpPr>
          <p:cNvPr id="18" name="TextBox 18"/>
          <p:cNvSpPr txBox="1"/>
          <p:nvPr/>
        </p:nvSpPr>
        <p:spPr>
          <a:xfrm>
            <a:off x="9631012" y="3898582"/>
            <a:ext cx="168976" cy="335280"/>
          </a:xfrm>
          <a:prstGeom prst="rect">
            <a:avLst/>
          </a:prstGeom>
          <a:noFill/>
          <a:ln>
            <a:noFill/>
          </a:ln>
        </p:spPr>
        <p:txBody>
          <a:bodyPr wrap="none" lIns="0" tIns="0" rIns="0" bIns="0" anchor="t" anchorCtr="0">
            <a:spAutoFit/>
          </a:bodyPr>
          <a:lstStyle/>
          <a:p>
            <a:pPr algn="ctr"/>
            <a:r>
              <a:rPr lang="zh-CN" sz="1650" b="1" dirty="0">
                <a:solidFill>
                  <a:srgbClr val="FFFFFF"/>
                </a:solidFill>
                <a:latin typeface="Arial"/>
                <a:ea typeface="Microsoft YaHei"/>
                <a:cs typeface="Arial"/>
              </a:rPr>
              <a:t>5</a:t>
            </a:r>
          </a:p>
        </p:txBody>
      </p:sp>
      <p:sp>
        <p:nvSpPr>
          <p:cNvPr id="19" name="Rectangle 19"/>
          <p:cNvSpPr/>
          <p:nvPr/>
        </p:nvSpPr>
        <p:spPr>
          <a:xfrm>
            <a:off x="2381250" y="3810000"/>
            <a:ext cx="1143000" cy="381000"/>
          </a:xfrm>
          <a:prstGeom prst="rect">
            <a:avLst/>
          </a:prstGeom>
          <a:solidFill>
            <a:srgbClr val="2E75B6"/>
          </a:solidFill>
          <a:ln>
            <a:noFill/>
          </a:ln>
        </p:spPr>
      </p:sp>
      <p:sp>
        <p:nvSpPr>
          <p:cNvPr id="20" name="TextBox 20"/>
          <p:cNvSpPr txBox="1"/>
          <p:nvPr/>
        </p:nvSpPr>
        <p:spPr>
          <a:xfrm>
            <a:off x="2659380" y="3953828"/>
            <a:ext cx="586740" cy="213360"/>
          </a:xfrm>
          <a:prstGeom prst="rect">
            <a:avLst/>
          </a:prstGeom>
          <a:noFill/>
          <a:ln>
            <a:noFill/>
          </a:ln>
        </p:spPr>
        <p:txBody>
          <a:bodyPr wrap="none" lIns="0" tIns="0" rIns="0" bIns="0" anchor="t" anchorCtr="0">
            <a:spAutoFit/>
          </a:bodyPr>
          <a:lstStyle/>
          <a:p>
            <a:pPr algn="ctr"/>
            <a:r>
              <a:rPr lang="zh-CN" sz="1050" dirty="0">
                <a:solidFill>
                  <a:srgbClr val="FFFFFF"/>
                </a:solidFill>
                <a:latin typeface="Arial"/>
                <a:ea typeface="Microsoft YaHei"/>
                <a:cs typeface="Arial"/>
              </a:rPr>
              <a:t>数据采集</a:t>
            </a:r>
          </a:p>
        </p:txBody>
      </p:sp>
      <p:sp>
        <p:nvSpPr>
          <p:cNvPr id="21" name="Rectangle 21"/>
          <p:cNvSpPr/>
          <p:nvPr/>
        </p:nvSpPr>
        <p:spPr>
          <a:xfrm>
            <a:off x="4286250" y="3810000"/>
            <a:ext cx="1143000" cy="381000"/>
          </a:xfrm>
          <a:prstGeom prst="rect">
            <a:avLst/>
          </a:prstGeom>
          <a:solidFill>
            <a:srgbClr val="2E75B6"/>
          </a:solidFill>
          <a:ln>
            <a:noFill/>
          </a:ln>
        </p:spPr>
      </p:sp>
      <p:sp>
        <p:nvSpPr>
          <p:cNvPr id="22" name="TextBox 22"/>
          <p:cNvSpPr txBox="1"/>
          <p:nvPr/>
        </p:nvSpPr>
        <p:spPr>
          <a:xfrm>
            <a:off x="4564380" y="3953828"/>
            <a:ext cx="586740" cy="213360"/>
          </a:xfrm>
          <a:prstGeom prst="rect">
            <a:avLst/>
          </a:prstGeom>
          <a:noFill/>
          <a:ln>
            <a:noFill/>
          </a:ln>
        </p:spPr>
        <p:txBody>
          <a:bodyPr wrap="none" lIns="0" tIns="0" rIns="0" bIns="0" anchor="t" anchorCtr="0">
            <a:spAutoFit/>
          </a:bodyPr>
          <a:lstStyle/>
          <a:p>
            <a:pPr algn="ctr"/>
            <a:r>
              <a:rPr lang="zh-CN" sz="1050" dirty="0">
                <a:solidFill>
                  <a:srgbClr val="FFFFFF"/>
                </a:solidFill>
                <a:latin typeface="Arial"/>
                <a:ea typeface="Microsoft YaHei"/>
                <a:cs typeface="Arial"/>
              </a:rPr>
              <a:t>根因推理</a:t>
            </a:r>
          </a:p>
        </p:txBody>
      </p:sp>
      <p:sp>
        <p:nvSpPr>
          <p:cNvPr id="23" name="Rectangle 23"/>
          <p:cNvSpPr/>
          <p:nvPr/>
        </p:nvSpPr>
        <p:spPr>
          <a:xfrm>
            <a:off x="6191250" y="3810000"/>
            <a:ext cx="1143000" cy="381000"/>
          </a:xfrm>
          <a:prstGeom prst="rect">
            <a:avLst/>
          </a:prstGeom>
          <a:solidFill>
            <a:srgbClr val="2E75B6"/>
          </a:solidFill>
          <a:ln>
            <a:noFill/>
          </a:ln>
        </p:spPr>
      </p:sp>
      <p:sp>
        <p:nvSpPr>
          <p:cNvPr id="24" name="TextBox 24"/>
          <p:cNvSpPr txBox="1"/>
          <p:nvPr/>
        </p:nvSpPr>
        <p:spPr>
          <a:xfrm>
            <a:off x="6399371" y="3953828"/>
            <a:ext cx="726758" cy="213360"/>
          </a:xfrm>
          <a:prstGeom prst="rect">
            <a:avLst/>
          </a:prstGeom>
          <a:noFill/>
          <a:ln>
            <a:noFill/>
          </a:ln>
        </p:spPr>
        <p:txBody>
          <a:bodyPr wrap="none" lIns="0" tIns="0" rIns="0" bIns="0" anchor="t" anchorCtr="0">
            <a:spAutoFit/>
          </a:bodyPr>
          <a:lstStyle/>
          <a:p>
            <a:pPr algn="ctr"/>
            <a:r>
              <a:rPr lang="zh-CN" sz="1050" dirty="0">
                <a:solidFill>
                  <a:srgbClr val="FFFFFF"/>
                </a:solidFill>
                <a:latin typeface="Arial"/>
                <a:ea typeface="Microsoft YaHei"/>
                <a:cs typeface="Arial"/>
              </a:rPr>
              <a:t>协同智能体</a:t>
            </a:r>
          </a:p>
        </p:txBody>
      </p:sp>
      <p:sp>
        <p:nvSpPr>
          <p:cNvPr id="25" name="Rectangle 25"/>
          <p:cNvSpPr/>
          <p:nvPr/>
        </p:nvSpPr>
        <p:spPr>
          <a:xfrm>
            <a:off x="8096250" y="3810000"/>
            <a:ext cx="1143000" cy="381000"/>
          </a:xfrm>
          <a:prstGeom prst="rect">
            <a:avLst/>
          </a:prstGeom>
          <a:solidFill>
            <a:srgbClr val="2E75B6"/>
          </a:solidFill>
          <a:ln>
            <a:noFill/>
          </a:ln>
        </p:spPr>
      </p:sp>
      <p:sp>
        <p:nvSpPr>
          <p:cNvPr id="26" name="TextBox 26"/>
          <p:cNvSpPr txBox="1"/>
          <p:nvPr/>
        </p:nvSpPr>
        <p:spPr>
          <a:xfrm>
            <a:off x="8374380" y="3953828"/>
            <a:ext cx="586740" cy="213360"/>
          </a:xfrm>
          <a:prstGeom prst="rect">
            <a:avLst/>
          </a:prstGeom>
          <a:noFill/>
          <a:ln>
            <a:noFill/>
          </a:ln>
        </p:spPr>
        <p:txBody>
          <a:bodyPr wrap="none" lIns="0" tIns="0" rIns="0" bIns="0" anchor="t" anchorCtr="0">
            <a:spAutoFit/>
          </a:bodyPr>
          <a:lstStyle/>
          <a:p>
            <a:pPr algn="ctr"/>
            <a:r>
              <a:rPr lang="zh-CN" sz="1050" dirty="0">
                <a:solidFill>
                  <a:srgbClr val="FFFFFF"/>
                </a:solidFill>
                <a:latin typeface="Arial"/>
                <a:ea typeface="Microsoft YaHei"/>
                <a:cs typeface="Arial"/>
              </a:rPr>
              <a:t>知识蒸馏</a:t>
            </a:r>
          </a:p>
        </p:txBody>
      </p:sp>
      <p:sp>
        <p:nvSpPr>
          <p:cNvPr id="27" name="Rectangle 27"/>
          <p:cNvSpPr/>
          <p:nvPr/>
        </p:nvSpPr>
        <p:spPr>
          <a:xfrm>
            <a:off x="10001250" y="3810000"/>
            <a:ext cx="1143000" cy="381000"/>
          </a:xfrm>
          <a:prstGeom prst="rect">
            <a:avLst/>
          </a:prstGeom>
          <a:solidFill>
            <a:srgbClr val="2E75B6"/>
          </a:solidFill>
          <a:ln>
            <a:noFill/>
          </a:ln>
        </p:spPr>
      </p:sp>
      <p:sp>
        <p:nvSpPr>
          <p:cNvPr id="28" name="TextBox 28"/>
          <p:cNvSpPr txBox="1"/>
          <p:nvPr/>
        </p:nvSpPr>
        <p:spPr>
          <a:xfrm>
            <a:off x="10279380" y="3953828"/>
            <a:ext cx="586740" cy="213360"/>
          </a:xfrm>
          <a:prstGeom prst="rect">
            <a:avLst/>
          </a:prstGeom>
          <a:noFill/>
          <a:ln>
            <a:noFill/>
          </a:ln>
        </p:spPr>
        <p:txBody>
          <a:bodyPr wrap="none" lIns="0" tIns="0" rIns="0" bIns="0" anchor="t" anchorCtr="0">
            <a:spAutoFit/>
          </a:bodyPr>
          <a:lstStyle/>
          <a:p>
            <a:pPr algn="ctr"/>
            <a:r>
              <a:rPr lang="zh-CN" sz="1050" dirty="0">
                <a:solidFill>
                  <a:srgbClr val="FFFFFF"/>
                </a:solidFill>
                <a:latin typeface="Arial"/>
                <a:ea typeface="Microsoft YaHei"/>
                <a:cs typeface="Arial"/>
              </a:rPr>
              <a:t>故障演练</a:t>
            </a:r>
          </a:p>
        </p:txBody>
      </p:sp>
      <p:sp>
        <p:nvSpPr>
          <p:cNvPr id="29" name="Line 29"/>
          <p:cNvSpPr/>
          <p:nvPr/>
        </p:nvSpPr>
        <p:spPr>
          <a:xfrm>
            <a:off x="1143000" y="4572000"/>
            <a:ext cx="9906000" cy="9525"/>
          </a:xfrm>
          <a:custGeom>
            <a:avLst/>
            <a:gdLst/>
            <a:ahLst/>
            <a:cxnLst/>
            <a:rect l="l" t="t" r="r" b="b"/>
            <a:pathLst>
              <a:path w="9906000" h="9525">
                <a:moveTo>
                  <a:pt x="0" y="0"/>
                </a:moveTo>
                <a:lnTo>
                  <a:pt x="9906000" y="0"/>
                </a:lnTo>
              </a:path>
            </a:pathLst>
          </a:custGeom>
          <a:noFill/>
          <a:ln w="9525">
            <a:solidFill>
              <a:srgbClr val="E7E6E6"/>
            </a:solidFill>
            <a:custDash>
              <a:ds d="500000" sp="500000"/>
            </a:custDash>
          </a:ln>
        </p:spPr>
      </p:sp>
      <p:sp>
        <p:nvSpPr>
          <p:cNvPr id="30" name="TextBox 30"/>
          <p:cNvSpPr txBox="1"/>
          <p:nvPr/>
        </p:nvSpPr>
        <p:spPr>
          <a:xfrm>
            <a:off x="4976812" y="5172075"/>
            <a:ext cx="2238375" cy="304800"/>
          </a:xfrm>
          <a:prstGeom prst="rect">
            <a:avLst/>
          </a:prstGeom>
          <a:noFill/>
          <a:ln>
            <a:noFill/>
          </a:ln>
        </p:spPr>
        <p:txBody>
          <a:bodyPr wrap="none" lIns="0" tIns="0" rIns="0" bIns="0" anchor="t" anchorCtr="0">
            <a:spAutoFit/>
          </a:bodyPr>
          <a:lstStyle/>
          <a:p>
            <a:pPr algn="ctr"/>
            <a:r>
              <a:rPr lang="zh-CN" sz="1500" dirty="0">
                <a:solidFill>
                  <a:srgbClr val="333333"/>
                </a:solidFill>
                <a:latin typeface="Arial"/>
                <a:ea typeface="Microsoft YaHei"/>
                <a:cs typeface="Arial"/>
              </a:rPr>
              <a:t>IntelliOps 原型研发项目</a:t>
            </a:r>
          </a:p>
        </p:txBody>
      </p:sp>
      <p:sp>
        <p:nvSpPr>
          <p:cNvPr id="31" name="TextBox 31"/>
          <p:cNvSpPr txBox="1"/>
          <p:nvPr/>
        </p:nvSpPr>
        <p:spPr>
          <a:xfrm>
            <a:off x="5651302" y="5569268"/>
            <a:ext cx="889397" cy="274320"/>
          </a:xfrm>
          <a:prstGeom prst="rect">
            <a:avLst/>
          </a:prstGeom>
          <a:noFill/>
          <a:ln>
            <a:noFill/>
          </a:ln>
        </p:spPr>
        <p:txBody>
          <a:bodyPr wrap="none" lIns="0" tIns="0" rIns="0" bIns="0" anchor="t" anchorCtr="0">
            <a:spAutoFit/>
          </a:bodyPr>
          <a:lstStyle/>
          <a:p>
            <a:pPr algn="ctr"/>
            <a:r>
              <a:rPr lang="zh-CN" sz="1350" dirty="0">
                <a:solidFill>
                  <a:srgbClr val="999999"/>
                </a:solidFill>
                <a:latin typeface="Arial"/>
                <a:ea typeface="Microsoft YaHei"/>
                <a:cs typeface="Arial"/>
              </a:rPr>
              <a:t>2026年6月</a:t>
            </a:r>
          </a:p>
        </p:txBody>
      </p:sp>
      <p:sp>
        <p:nvSpPr>
          <p:cNvPr id="32" name="Rectangle 32"/>
          <p:cNvSpPr/>
          <p:nvPr/>
        </p:nvSpPr>
        <p:spPr>
          <a:xfrm>
            <a:off x="0" y="6572250"/>
            <a:ext cx="12192000" cy="285750"/>
          </a:xfrm>
          <a:prstGeom prst="rect">
            <a:avLst/>
          </a:prstGeom>
          <a:solidFill>
            <a:srgbClr val="2E75B6"/>
          </a:solidFill>
          <a:ln>
            <a:noFill/>
          </a:ln>
        </p:spPr>
      </p:sp>
      <p:sp>
        <p:nvSpPr>
          <p:cNvPr id="33" name="Rectangle 33"/>
          <p:cNvSpPr/>
          <p:nvPr/>
        </p:nvSpPr>
        <p:spPr>
          <a:xfrm>
            <a:off x="0" y="6477000"/>
            <a:ext cx="12192000" cy="95250"/>
          </a:xfrm>
          <a:prstGeom prst="rect">
            <a:avLst/>
          </a:prstGeom>
          <a:solidFill>
            <a:srgbClr val="FDF3EB"/>
          </a:solidFill>
          <a:ln>
            <a:noFill/>
          </a:ln>
        </p:spPr>
      </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76200"/>
          </a:xfrm>
          <a:prstGeom prst="rect">
            <a:avLst/>
          </a:prstGeom>
          <a:solidFill>
            <a:srgbClr val="C00000"/>
          </a:solidFill>
          <a:ln>
            <a:noFill/>
          </a:ln>
        </p:spPr>
      </p:sp>
      <p:sp>
        <p:nvSpPr>
          <p:cNvPr id="4" name="Rectangle 4"/>
          <p:cNvSpPr/>
          <p:nvPr/>
        </p:nvSpPr>
        <p:spPr>
          <a:xfrm>
            <a:off x="0" y="76200"/>
            <a:ext cx="3048000" cy="6496050"/>
          </a:xfrm>
          <a:prstGeom prst="rect">
            <a:avLst/>
          </a:prstGeom>
          <a:solidFill>
            <a:srgbClr val="C00000"/>
          </a:solidFill>
          <a:ln>
            <a:noFill/>
          </a:ln>
        </p:spPr>
      </p:sp>
      <p:sp>
        <p:nvSpPr>
          <p:cNvPr id="5" name="TextBox 5"/>
          <p:cNvSpPr txBox="1"/>
          <p:nvPr/>
        </p:nvSpPr>
        <p:spPr>
          <a:xfrm>
            <a:off x="882586" y="2404110"/>
            <a:ext cx="1282827" cy="853440"/>
          </a:xfrm>
          <a:prstGeom prst="rect">
            <a:avLst/>
          </a:prstGeom>
          <a:noFill/>
          <a:ln>
            <a:noFill/>
          </a:ln>
        </p:spPr>
        <p:txBody>
          <a:bodyPr wrap="none" lIns="0" tIns="0" rIns="0" bIns="0" anchor="t" anchorCtr="0">
            <a:spAutoFit/>
          </a:bodyPr>
          <a:lstStyle/>
          <a:p>
            <a:pPr algn="ctr"/>
            <a:r>
              <a:rPr lang="zh-CN" sz="4200" b="1" dirty="0">
                <a:solidFill>
                  <a:srgbClr val="FFFFFF"/>
                </a:solidFill>
                <a:latin typeface="Arial"/>
                <a:ea typeface="Microsoft YaHei"/>
                <a:cs typeface="Arial"/>
              </a:rPr>
              <a:t>目录</a:t>
            </a:r>
          </a:p>
        </p:txBody>
      </p:sp>
      <p:sp>
        <p:nvSpPr>
          <p:cNvPr id="6" name="TextBox 6"/>
          <p:cNvSpPr txBox="1"/>
          <p:nvPr/>
        </p:nvSpPr>
        <p:spPr>
          <a:xfrm>
            <a:off x="1044892" y="3267075"/>
            <a:ext cx="958215" cy="304800"/>
          </a:xfrm>
          <a:prstGeom prst="rect">
            <a:avLst/>
          </a:prstGeom>
          <a:noFill/>
          <a:ln>
            <a:noFill/>
          </a:ln>
        </p:spPr>
        <p:txBody>
          <a:bodyPr wrap="none" lIns="0" tIns="0" rIns="0" bIns="0" anchor="t" anchorCtr="0">
            <a:spAutoFit/>
          </a:bodyPr>
          <a:lstStyle/>
          <a:p>
            <a:pPr algn="ctr"/>
            <a:r>
              <a:rPr lang="zh-CN" sz="1500" dirty="0">
                <a:solidFill>
                  <a:srgbClr val="FFFFFF">
                    <a:alphaMod val="70000"/>
                  </a:srgbClr>
                </a:solidFill>
                <a:latin typeface="Arial"/>
                <a:ea typeface="Microsoft YaHei"/>
                <a:cs typeface="Arial"/>
              </a:rPr>
              <a:t>CONTENTS</a:t>
            </a:r>
          </a:p>
        </p:txBody>
      </p:sp>
      <p:sp>
        <p:nvSpPr>
          <p:cNvPr id="7" name="Rectangle 7"/>
          <p:cNvSpPr/>
          <p:nvPr/>
        </p:nvSpPr>
        <p:spPr>
          <a:xfrm>
            <a:off x="3619500" y="1333500"/>
            <a:ext cx="381000" cy="381000"/>
          </a:xfrm>
          <a:prstGeom prst="rect">
            <a:avLst/>
          </a:prstGeom>
          <a:solidFill>
            <a:srgbClr val="C00000"/>
          </a:solidFill>
          <a:ln>
            <a:noFill/>
          </a:ln>
        </p:spPr>
      </p:sp>
      <p:sp>
        <p:nvSpPr>
          <p:cNvPr id="8" name="TextBox 8"/>
          <p:cNvSpPr txBox="1"/>
          <p:nvPr/>
        </p:nvSpPr>
        <p:spPr>
          <a:xfrm>
            <a:off x="3725512" y="1422082"/>
            <a:ext cx="168976" cy="335280"/>
          </a:xfrm>
          <a:prstGeom prst="rect">
            <a:avLst/>
          </a:prstGeom>
          <a:noFill/>
          <a:ln>
            <a:noFill/>
          </a:ln>
        </p:spPr>
        <p:txBody>
          <a:bodyPr wrap="none" lIns="0" tIns="0" rIns="0" bIns="0" anchor="t" anchorCtr="0">
            <a:spAutoFit/>
          </a:bodyPr>
          <a:lstStyle/>
          <a:p>
            <a:pPr algn="ctr"/>
            <a:r>
              <a:rPr lang="zh-CN" sz="1650" b="1" dirty="0">
                <a:solidFill>
                  <a:srgbClr val="FFFFFF"/>
                </a:solidFill>
                <a:latin typeface="Arial"/>
                <a:ea typeface="Microsoft YaHei"/>
                <a:cs typeface="Arial"/>
              </a:rPr>
              <a:t>1</a:t>
            </a:r>
          </a:p>
        </p:txBody>
      </p:sp>
      <p:sp>
        <p:nvSpPr>
          <p:cNvPr id="9" name="Rectangle 9"/>
          <p:cNvSpPr/>
          <p:nvPr/>
        </p:nvSpPr>
        <p:spPr>
          <a:xfrm>
            <a:off x="4095750" y="1333500"/>
            <a:ext cx="2476500" cy="381000"/>
          </a:xfrm>
          <a:prstGeom prst="rect">
            <a:avLst/>
          </a:prstGeom>
          <a:solidFill>
            <a:srgbClr val="2E75B6"/>
          </a:solidFill>
          <a:ln>
            <a:noFill/>
          </a:ln>
        </p:spPr>
      </p:sp>
      <p:sp>
        <p:nvSpPr>
          <p:cNvPr id="10" name="TextBox 10"/>
          <p:cNvSpPr txBox="1"/>
          <p:nvPr/>
        </p:nvSpPr>
        <p:spPr>
          <a:xfrm>
            <a:off x="4686776" y="1444942"/>
            <a:ext cx="1294448" cy="274320"/>
          </a:xfrm>
          <a:prstGeom prst="rect">
            <a:avLst/>
          </a:prstGeom>
          <a:noFill/>
          <a:ln>
            <a:noFill/>
          </a:ln>
        </p:spPr>
        <p:txBody>
          <a:bodyPr wrap="none" lIns="0" tIns="0" rIns="0" bIns="0" anchor="t" anchorCtr="0">
            <a:spAutoFit/>
          </a:bodyPr>
          <a:lstStyle/>
          <a:p>
            <a:pPr algn="ctr"/>
            <a:r>
              <a:rPr lang="zh-CN" sz="1350" dirty="0">
                <a:solidFill>
                  <a:srgbClr val="FFFFFF"/>
                </a:solidFill>
                <a:latin typeface="Arial"/>
                <a:ea typeface="Microsoft YaHei"/>
                <a:cs typeface="Arial"/>
              </a:rPr>
              <a:t>背景与痛点分析</a:t>
            </a:r>
          </a:p>
        </p:txBody>
      </p:sp>
      <p:sp>
        <p:nvSpPr>
          <p:cNvPr id="11" name="Rectangle 11"/>
          <p:cNvSpPr/>
          <p:nvPr/>
        </p:nvSpPr>
        <p:spPr>
          <a:xfrm>
            <a:off x="3619500" y="2095500"/>
            <a:ext cx="381000" cy="381000"/>
          </a:xfrm>
          <a:prstGeom prst="rect">
            <a:avLst/>
          </a:prstGeom>
          <a:solidFill>
            <a:srgbClr val="C00000"/>
          </a:solidFill>
          <a:ln>
            <a:noFill/>
          </a:ln>
        </p:spPr>
      </p:sp>
      <p:sp>
        <p:nvSpPr>
          <p:cNvPr id="12" name="TextBox 12"/>
          <p:cNvSpPr txBox="1"/>
          <p:nvPr/>
        </p:nvSpPr>
        <p:spPr>
          <a:xfrm>
            <a:off x="3725512" y="2184082"/>
            <a:ext cx="168976" cy="335280"/>
          </a:xfrm>
          <a:prstGeom prst="rect">
            <a:avLst/>
          </a:prstGeom>
          <a:noFill/>
          <a:ln>
            <a:noFill/>
          </a:ln>
        </p:spPr>
        <p:txBody>
          <a:bodyPr wrap="none" lIns="0" tIns="0" rIns="0" bIns="0" anchor="t" anchorCtr="0">
            <a:spAutoFit/>
          </a:bodyPr>
          <a:lstStyle/>
          <a:p>
            <a:pPr algn="ctr"/>
            <a:r>
              <a:rPr lang="zh-CN" sz="1650" b="1" dirty="0">
                <a:solidFill>
                  <a:srgbClr val="FFFFFF"/>
                </a:solidFill>
                <a:latin typeface="Arial"/>
                <a:ea typeface="Microsoft YaHei"/>
                <a:cs typeface="Arial"/>
              </a:rPr>
              <a:t>2</a:t>
            </a:r>
          </a:p>
        </p:txBody>
      </p:sp>
      <p:sp>
        <p:nvSpPr>
          <p:cNvPr id="13" name="Rectangle 13"/>
          <p:cNvSpPr/>
          <p:nvPr/>
        </p:nvSpPr>
        <p:spPr>
          <a:xfrm>
            <a:off x="4095750" y="2095500"/>
            <a:ext cx="2476500" cy="381000"/>
          </a:xfrm>
          <a:prstGeom prst="rect">
            <a:avLst/>
          </a:prstGeom>
          <a:solidFill>
            <a:srgbClr val="2E75B6"/>
          </a:solidFill>
          <a:ln>
            <a:noFill/>
          </a:ln>
        </p:spPr>
      </p:sp>
      <p:sp>
        <p:nvSpPr>
          <p:cNvPr id="14" name="TextBox 14"/>
          <p:cNvSpPr txBox="1"/>
          <p:nvPr/>
        </p:nvSpPr>
        <p:spPr>
          <a:xfrm>
            <a:off x="4506754" y="2206942"/>
            <a:ext cx="1654492" cy="274320"/>
          </a:xfrm>
          <a:prstGeom prst="rect">
            <a:avLst/>
          </a:prstGeom>
          <a:noFill/>
          <a:ln>
            <a:noFill/>
          </a:ln>
        </p:spPr>
        <p:txBody>
          <a:bodyPr wrap="none" lIns="0" tIns="0" rIns="0" bIns="0" anchor="t" anchorCtr="0">
            <a:spAutoFit/>
          </a:bodyPr>
          <a:lstStyle/>
          <a:p>
            <a:pPr algn="ctr"/>
            <a:r>
              <a:rPr lang="zh-CN" sz="1350" dirty="0">
                <a:solidFill>
                  <a:srgbClr val="FFFFFF"/>
                </a:solidFill>
                <a:latin typeface="Arial"/>
                <a:ea typeface="Microsoft YaHei"/>
                <a:cs typeface="Arial"/>
              </a:rPr>
              <a:t>IntelliOps 方案介绍</a:t>
            </a:r>
          </a:p>
        </p:txBody>
      </p:sp>
      <p:sp>
        <p:nvSpPr>
          <p:cNvPr id="15" name="Rectangle 15"/>
          <p:cNvSpPr/>
          <p:nvPr/>
        </p:nvSpPr>
        <p:spPr>
          <a:xfrm>
            <a:off x="3619500" y="2857500"/>
            <a:ext cx="381000" cy="381000"/>
          </a:xfrm>
          <a:prstGeom prst="rect">
            <a:avLst/>
          </a:prstGeom>
          <a:solidFill>
            <a:srgbClr val="C00000"/>
          </a:solidFill>
          <a:ln>
            <a:noFill/>
          </a:ln>
        </p:spPr>
      </p:sp>
      <p:sp>
        <p:nvSpPr>
          <p:cNvPr id="16" name="TextBox 16"/>
          <p:cNvSpPr txBox="1"/>
          <p:nvPr/>
        </p:nvSpPr>
        <p:spPr>
          <a:xfrm>
            <a:off x="3725512" y="2946082"/>
            <a:ext cx="168976" cy="335280"/>
          </a:xfrm>
          <a:prstGeom prst="rect">
            <a:avLst/>
          </a:prstGeom>
          <a:noFill/>
          <a:ln>
            <a:noFill/>
          </a:ln>
        </p:spPr>
        <p:txBody>
          <a:bodyPr wrap="none" lIns="0" tIns="0" rIns="0" bIns="0" anchor="t" anchorCtr="0">
            <a:spAutoFit/>
          </a:bodyPr>
          <a:lstStyle/>
          <a:p>
            <a:pPr algn="ctr"/>
            <a:r>
              <a:rPr lang="zh-CN" sz="1650" b="1" dirty="0">
                <a:solidFill>
                  <a:srgbClr val="FFFFFF"/>
                </a:solidFill>
                <a:latin typeface="Arial"/>
                <a:ea typeface="Microsoft YaHei"/>
                <a:cs typeface="Arial"/>
              </a:rPr>
              <a:t>3</a:t>
            </a:r>
          </a:p>
        </p:txBody>
      </p:sp>
      <p:sp>
        <p:nvSpPr>
          <p:cNvPr id="17" name="Rectangle 17"/>
          <p:cNvSpPr/>
          <p:nvPr/>
        </p:nvSpPr>
        <p:spPr>
          <a:xfrm>
            <a:off x="4095750" y="2857500"/>
            <a:ext cx="2476500" cy="381000"/>
          </a:xfrm>
          <a:prstGeom prst="rect">
            <a:avLst/>
          </a:prstGeom>
          <a:solidFill>
            <a:srgbClr val="2E75B6"/>
          </a:solidFill>
          <a:ln>
            <a:noFill/>
          </a:ln>
        </p:spPr>
      </p:sp>
      <p:sp>
        <p:nvSpPr>
          <p:cNvPr id="18" name="TextBox 18"/>
          <p:cNvSpPr txBox="1"/>
          <p:nvPr/>
        </p:nvSpPr>
        <p:spPr>
          <a:xfrm>
            <a:off x="4416742" y="2968942"/>
            <a:ext cx="1834515" cy="274320"/>
          </a:xfrm>
          <a:prstGeom prst="rect">
            <a:avLst/>
          </a:prstGeom>
          <a:noFill/>
          <a:ln>
            <a:noFill/>
          </a:ln>
        </p:spPr>
        <p:txBody>
          <a:bodyPr wrap="none" lIns="0" tIns="0" rIns="0" bIns="0" anchor="t" anchorCtr="0">
            <a:spAutoFit/>
          </a:bodyPr>
          <a:lstStyle/>
          <a:p>
            <a:pPr algn="ctr"/>
            <a:r>
              <a:rPr lang="zh-CN" sz="1350" dirty="0">
                <a:solidFill>
                  <a:srgbClr val="FFFFFF"/>
                </a:solidFill>
                <a:latin typeface="Arial"/>
                <a:ea typeface="Microsoft YaHei"/>
                <a:cs typeface="Arial"/>
              </a:rPr>
              <a:t>核心亮点与差异化优势</a:t>
            </a:r>
          </a:p>
        </p:txBody>
      </p:sp>
      <p:sp>
        <p:nvSpPr>
          <p:cNvPr id="19" name="Rectangle 19"/>
          <p:cNvSpPr/>
          <p:nvPr/>
        </p:nvSpPr>
        <p:spPr>
          <a:xfrm>
            <a:off x="3619500" y="3619500"/>
            <a:ext cx="381000" cy="381000"/>
          </a:xfrm>
          <a:prstGeom prst="rect">
            <a:avLst/>
          </a:prstGeom>
          <a:solidFill>
            <a:srgbClr val="C00000"/>
          </a:solidFill>
          <a:ln>
            <a:noFill/>
          </a:ln>
        </p:spPr>
      </p:sp>
      <p:sp>
        <p:nvSpPr>
          <p:cNvPr id="20" name="TextBox 20"/>
          <p:cNvSpPr txBox="1"/>
          <p:nvPr/>
        </p:nvSpPr>
        <p:spPr>
          <a:xfrm>
            <a:off x="3725512" y="3708082"/>
            <a:ext cx="168976" cy="335280"/>
          </a:xfrm>
          <a:prstGeom prst="rect">
            <a:avLst/>
          </a:prstGeom>
          <a:noFill/>
          <a:ln>
            <a:noFill/>
          </a:ln>
        </p:spPr>
        <p:txBody>
          <a:bodyPr wrap="none" lIns="0" tIns="0" rIns="0" bIns="0" anchor="t" anchorCtr="0">
            <a:spAutoFit/>
          </a:bodyPr>
          <a:lstStyle/>
          <a:p>
            <a:pPr algn="ctr"/>
            <a:r>
              <a:rPr lang="zh-CN" sz="1650" b="1" dirty="0">
                <a:solidFill>
                  <a:srgbClr val="FFFFFF"/>
                </a:solidFill>
                <a:latin typeface="Arial"/>
                <a:ea typeface="Microsoft YaHei"/>
                <a:cs typeface="Arial"/>
              </a:rPr>
              <a:t>4</a:t>
            </a:r>
          </a:p>
        </p:txBody>
      </p:sp>
      <p:sp>
        <p:nvSpPr>
          <p:cNvPr id="21" name="Rectangle 21"/>
          <p:cNvSpPr/>
          <p:nvPr/>
        </p:nvSpPr>
        <p:spPr>
          <a:xfrm>
            <a:off x="4095750" y="3619500"/>
            <a:ext cx="2476500" cy="381000"/>
          </a:xfrm>
          <a:prstGeom prst="rect">
            <a:avLst/>
          </a:prstGeom>
          <a:solidFill>
            <a:srgbClr val="2E75B6"/>
          </a:solidFill>
          <a:ln>
            <a:noFill/>
          </a:ln>
        </p:spPr>
      </p:sp>
      <p:sp>
        <p:nvSpPr>
          <p:cNvPr id="22" name="TextBox 22"/>
          <p:cNvSpPr txBox="1"/>
          <p:nvPr/>
        </p:nvSpPr>
        <p:spPr>
          <a:xfrm>
            <a:off x="4686776" y="3730942"/>
            <a:ext cx="1294448" cy="274320"/>
          </a:xfrm>
          <a:prstGeom prst="rect">
            <a:avLst/>
          </a:prstGeom>
          <a:noFill/>
          <a:ln>
            <a:noFill/>
          </a:ln>
        </p:spPr>
        <p:txBody>
          <a:bodyPr wrap="none" lIns="0" tIns="0" rIns="0" bIns="0" anchor="t" anchorCtr="0">
            <a:spAutoFit/>
          </a:bodyPr>
          <a:lstStyle/>
          <a:p>
            <a:pPr algn="ctr"/>
            <a:r>
              <a:rPr lang="zh-CN" sz="1350" dirty="0">
                <a:solidFill>
                  <a:srgbClr val="FFFFFF"/>
                </a:solidFill>
                <a:latin typeface="Arial"/>
                <a:ea typeface="Microsoft YaHei"/>
                <a:cs typeface="Arial"/>
              </a:rPr>
              <a:t>后续计划与展望</a:t>
            </a:r>
          </a:p>
        </p:txBody>
      </p:sp>
      <p:sp>
        <p:nvSpPr>
          <p:cNvPr id="23" name="Rectangle 23"/>
          <p:cNvSpPr/>
          <p:nvPr/>
        </p:nvSpPr>
        <p:spPr>
          <a:xfrm>
            <a:off x="7429500" y="1333500"/>
            <a:ext cx="4000500" cy="3810000"/>
          </a:xfrm>
          <a:prstGeom prst="rect">
            <a:avLst/>
          </a:prstGeom>
          <a:solidFill>
            <a:srgbClr val="FDF3EB"/>
          </a:solidFill>
          <a:ln w="19050">
            <a:solidFill>
              <a:srgbClr val="F8CBAD"/>
            </a:solidFill>
          </a:ln>
        </p:spPr>
      </p:sp>
      <p:sp>
        <p:nvSpPr>
          <p:cNvPr id="24" name="TextBox 24"/>
          <p:cNvSpPr txBox="1"/>
          <p:nvPr/>
        </p:nvSpPr>
        <p:spPr>
          <a:xfrm>
            <a:off x="8917138" y="2124075"/>
            <a:ext cx="1025223" cy="304800"/>
          </a:xfrm>
          <a:prstGeom prst="rect">
            <a:avLst/>
          </a:prstGeom>
          <a:noFill/>
          <a:ln>
            <a:noFill/>
          </a:ln>
        </p:spPr>
        <p:txBody>
          <a:bodyPr wrap="none" lIns="0" tIns="0" rIns="0" bIns="0" anchor="t" anchorCtr="0">
            <a:spAutoFit/>
          </a:bodyPr>
          <a:lstStyle/>
          <a:p>
            <a:pPr algn="ctr"/>
            <a:r>
              <a:rPr lang="zh-CN" sz="1500" b="1" dirty="0">
                <a:solidFill>
                  <a:srgbClr val="C00000"/>
                </a:solidFill>
                <a:latin typeface="Arial"/>
                <a:ea typeface="Microsoft YaHei"/>
                <a:cs typeface="Arial"/>
              </a:rPr>
              <a:t>IntelliOps</a:t>
            </a:r>
          </a:p>
        </p:txBody>
      </p:sp>
      <p:sp>
        <p:nvSpPr>
          <p:cNvPr id="25" name="TextBox 25"/>
          <p:cNvSpPr txBox="1"/>
          <p:nvPr/>
        </p:nvSpPr>
        <p:spPr>
          <a:xfrm>
            <a:off x="8365331" y="2545556"/>
            <a:ext cx="2128838" cy="228600"/>
          </a:xfrm>
          <a:prstGeom prst="rect">
            <a:avLst/>
          </a:prstGeom>
          <a:noFill/>
          <a:ln>
            <a:noFill/>
          </a:ln>
        </p:spPr>
        <p:txBody>
          <a:bodyPr wrap="none" lIns="0" tIns="0" rIns="0" bIns="0" anchor="t" anchorCtr="0">
            <a:spAutoFit/>
          </a:bodyPr>
          <a:lstStyle/>
          <a:p>
            <a:pPr algn="ctr"/>
            <a:r>
              <a:rPr lang="zh-CN" sz="1125" dirty="0">
                <a:solidFill>
                  <a:srgbClr val="333333"/>
                </a:solidFill>
                <a:latin typeface="Arial"/>
                <a:ea typeface="Microsoft YaHei"/>
                <a:cs typeface="Arial"/>
              </a:rPr>
              <a:t>大模型驱动的故障应急认知系统</a:t>
            </a:r>
          </a:p>
        </p:txBody>
      </p:sp>
      <p:sp>
        <p:nvSpPr>
          <p:cNvPr id="26" name="Line 26"/>
          <p:cNvSpPr/>
          <p:nvPr/>
        </p:nvSpPr>
        <p:spPr>
          <a:xfrm>
            <a:off x="8096250" y="2952750"/>
            <a:ext cx="2667000" cy="9525"/>
          </a:xfrm>
          <a:custGeom>
            <a:avLst/>
            <a:gdLst/>
            <a:ahLst/>
            <a:cxnLst/>
            <a:rect l="l" t="t" r="r" b="b"/>
            <a:pathLst>
              <a:path w="2667000" h="9525">
                <a:moveTo>
                  <a:pt x="0" y="0"/>
                </a:moveTo>
                <a:lnTo>
                  <a:pt x="2667000" y="0"/>
                </a:lnTo>
              </a:path>
            </a:pathLst>
          </a:custGeom>
          <a:noFill/>
          <a:ln w="9525">
            <a:solidFill>
              <a:srgbClr val="E7E6E6"/>
            </a:solidFill>
          </a:ln>
        </p:spPr>
      </p:sp>
      <p:sp>
        <p:nvSpPr>
          <p:cNvPr id="27" name="TextBox 27"/>
          <p:cNvSpPr txBox="1"/>
          <p:nvPr/>
        </p:nvSpPr>
        <p:spPr>
          <a:xfrm>
            <a:off x="8562308" y="3220402"/>
            <a:ext cx="1734884" cy="213360"/>
          </a:xfrm>
          <a:prstGeom prst="rect">
            <a:avLst/>
          </a:prstGeom>
          <a:noFill/>
          <a:ln>
            <a:noFill/>
          </a:ln>
        </p:spPr>
        <p:txBody>
          <a:bodyPr wrap="none" lIns="0" tIns="0" rIns="0" bIns="0" anchor="t" anchorCtr="0">
            <a:spAutoFit/>
          </a:bodyPr>
          <a:lstStyle/>
          <a:p>
            <a:pPr algn="ctr"/>
            <a:r>
              <a:rPr lang="zh-CN" sz="1050" dirty="0">
                <a:solidFill>
                  <a:srgbClr val="666666"/>
                </a:solidFill>
                <a:latin typeface="Arial"/>
                <a:ea typeface="Microsoft YaHei"/>
                <a:cs typeface="Arial"/>
              </a:rPr>
              <a:t>从"被动响应"到"主动认知"</a:t>
            </a:r>
          </a:p>
        </p:txBody>
      </p:sp>
      <p:sp>
        <p:nvSpPr>
          <p:cNvPr id="28" name="TextBox 28"/>
          <p:cNvSpPr txBox="1"/>
          <p:nvPr/>
        </p:nvSpPr>
        <p:spPr>
          <a:xfrm>
            <a:off x="8614815" y="3506152"/>
            <a:ext cx="1629870" cy="213360"/>
          </a:xfrm>
          <a:prstGeom prst="rect">
            <a:avLst/>
          </a:prstGeom>
          <a:noFill/>
          <a:ln>
            <a:noFill/>
          </a:ln>
        </p:spPr>
        <p:txBody>
          <a:bodyPr wrap="none" lIns="0" tIns="0" rIns="0" bIns="0" anchor="t" anchorCtr="0">
            <a:spAutoFit/>
          </a:bodyPr>
          <a:lstStyle/>
          <a:p>
            <a:pPr algn="ctr"/>
            <a:r>
              <a:rPr lang="zh-CN" sz="1050" dirty="0">
                <a:solidFill>
                  <a:srgbClr val="666666"/>
                </a:solidFill>
                <a:latin typeface="Arial"/>
                <a:ea typeface="Microsoft YaHei"/>
                <a:cs typeface="Arial"/>
              </a:rPr>
              <a:t>感知 → 推理 → 协同 → 学习</a:t>
            </a:r>
          </a:p>
        </p:txBody>
      </p:sp>
      <p:sp>
        <p:nvSpPr>
          <p:cNvPr id="29" name="TextBox 29"/>
          <p:cNvSpPr txBox="1"/>
          <p:nvPr/>
        </p:nvSpPr>
        <p:spPr>
          <a:xfrm>
            <a:off x="8576310" y="3791902"/>
            <a:ext cx="1706880" cy="213360"/>
          </a:xfrm>
          <a:prstGeom prst="rect">
            <a:avLst/>
          </a:prstGeom>
          <a:noFill/>
          <a:ln>
            <a:noFill/>
          </a:ln>
        </p:spPr>
        <p:txBody>
          <a:bodyPr wrap="none" lIns="0" tIns="0" rIns="0" bIns="0" anchor="t" anchorCtr="0">
            <a:spAutoFit/>
          </a:bodyPr>
          <a:lstStyle/>
          <a:p>
            <a:pPr algn="ctr"/>
            <a:r>
              <a:rPr lang="zh-CN" sz="1050" dirty="0">
                <a:solidFill>
                  <a:srgbClr val="666666"/>
                </a:solidFill>
                <a:latin typeface="Arial"/>
                <a:ea typeface="Microsoft YaHei"/>
                <a:cs typeface="Arial"/>
              </a:rPr>
              <a:t>用大模型重塑故障应急体系</a:t>
            </a:r>
          </a:p>
        </p:txBody>
      </p:sp>
      <p:sp>
        <p:nvSpPr>
          <p:cNvPr id="30" name="Rectangle 30"/>
          <p:cNvSpPr/>
          <p:nvPr/>
        </p:nvSpPr>
        <p:spPr>
          <a:xfrm>
            <a:off x="0" y="6477000"/>
            <a:ext cx="12192000" cy="95250"/>
          </a:xfrm>
          <a:prstGeom prst="rect">
            <a:avLst/>
          </a:prstGeom>
          <a:solidFill>
            <a:srgbClr val="FDF3EB"/>
          </a:solidFill>
          <a:ln>
            <a:noFill/>
          </a:ln>
        </p:spPr>
      </p:sp>
      <p:sp>
        <p:nvSpPr>
          <p:cNvPr id="31" name="Rectangle 31"/>
          <p:cNvSpPr/>
          <p:nvPr/>
        </p:nvSpPr>
        <p:spPr>
          <a:xfrm>
            <a:off x="0" y="6572250"/>
            <a:ext cx="12192000" cy="285750"/>
          </a:xfrm>
          <a:prstGeom prst="rect">
            <a:avLst/>
          </a:prstGeom>
          <a:solidFill>
            <a:srgbClr val="2E75B6"/>
          </a:solidFill>
          <a:ln>
            <a:noFill/>
          </a:ln>
        </p:spPr>
      </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38100"/>
          </a:xfrm>
          <a:prstGeom prst="rect">
            <a:avLst/>
          </a:prstGeom>
          <a:solidFill>
            <a:srgbClr val="C00000"/>
          </a:solidFill>
          <a:ln>
            <a:noFill/>
          </a:ln>
        </p:spPr>
      </p:sp>
      <p:sp>
        <p:nvSpPr>
          <p:cNvPr id="4" name="Rectangle 4"/>
          <p:cNvSpPr/>
          <p:nvPr/>
        </p:nvSpPr>
        <p:spPr>
          <a:xfrm>
            <a:off x="0" y="38100"/>
            <a:ext cx="12192000" cy="723900"/>
          </a:xfrm>
          <a:prstGeom prst="rect">
            <a:avLst/>
          </a:prstGeom>
          <a:solidFill>
            <a:srgbClr val="FFFFFF"/>
          </a:solidFill>
          <a:ln>
            <a:noFill/>
          </a:ln>
        </p:spPr>
      </p:sp>
      <p:sp>
        <p:nvSpPr>
          <p:cNvPr id="5" name="Line 5"/>
          <p:cNvSpPr/>
          <p:nvPr/>
        </p:nvSpPr>
        <p:spPr>
          <a:xfrm>
            <a:off x="0" y="762000"/>
            <a:ext cx="12192000" cy="9525"/>
          </a:xfrm>
          <a:custGeom>
            <a:avLst/>
            <a:gdLst/>
            <a:ahLst/>
            <a:cxnLst/>
            <a:rect l="l" t="t" r="r" b="b"/>
            <a:pathLst>
              <a:path w="12192000" h="9525">
                <a:moveTo>
                  <a:pt x="0" y="0"/>
                </a:moveTo>
                <a:lnTo>
                  <a:pt x="12192000" y="0"/>
                </a:lnTo>
              </a:path>
            </a:pathLst>
          </a:custGeom>
          <a:noFill/>
          <a:ln w="9525">
            <a:solidFill>
              <a:srgbClr val="E7E6E6"/>
            </a:solidFill>
          </a:ln>
        </p:spPr>
      </p:sp>
      <p:sp>
        <p:nvSpPr>
          <p:cNvPr id="6" name="Rectangle 6"/>
          <p:cNvSpPr/>
          <p:nvPr/>
        </p:nvSpPr>
        <p:spPr>
          <a:xfrm>
            <a:off x="476250" y="190500"/>
            <a:ext cx="76200" cy="381000"/>
          </a:xfrm>
          <a:prstGeom prst="rect">
            <a:avLst/>
          </a:prstGeom>
          <a:solidFill>
            <a:srgbClr val="C00000"/>
          </a:solidFill>
          <a:ln>
            <a:noFill/>
          </a:ln>
        </p:spPr>
      </p:sp>
      <p:sp>
        <p:nvSpPr>
          <p:cNvPr id="7" name="TextBox 7"/>
          <p:cNvSpPr txBox="1"/>
          <p:nvPr/>
        </p:nvSpPr>
        <p:spPr>
          <a:xfrm>
            <a:off x="655320" y="236220"/>
            <a:ext cx="3421380" cy="487680"/>
          </a:xfrm>
          <a:prstGeom prst="rect">
            <a:avLst/>
          </a:prstGeom>
          <a:noFill/>
          <a:ln>
            <a:noFill/>
          </a:ln>
        </p:spPr>
        <p:txBody>
          <a:bodyPr wrap="none" lIns="0" tIns="0" rIns="0" bIns="0" anchor="t" anchorCtr="0">
            <a:spAutoFit/>
          </a:bodyPr>
          <a:lstStyle/>
          <a:p>
            <a:pPr algn="l"/>
            <a:r>
              <a:rPr lang="zh-CN" sz="2400" b="1" dirty="0">
                <a:solidFill>
                  <a:srgbClr val="000000"/>
                </a:solidFill>
                <a:latin typeface="Arial"/>
                <a:ea typeface="Microsoft YaHei"/>
                <a:cs typeface="Arial"/>
              </a:rPr>
              <a:t>故障应急三大核心痛点</a:t>
            </a:r>
          </a:p>
        </p:txBody>
      </p:sp>
      <p:sp>
        <p:nvSpPr>
          <p:cNvPr id="8" name="Rectangle 8"/>
          <p:cNvSpPr/>
          <p:nvPr/>
        </p:nvSpPr>
        <p:spPr>
          <a:xfrm>
            <a:off x="0" y="6477000"/>
            <a:ext cx="12192000" cy="381000"/>
          </a:xfrm>
          <a:prstGeom prst="rect">
            <a:avLst/>
          </a:prstGeom>
          <a:solidFill>
            <a:srgbClr val="F2F2F2"/>
          </a:solidFill>
          <a:ln>
            <a:noFill/>
          </a:ln>
        </p:spPr>
      </p:sp>
      <p:sp>
        <p:nvSpPr>
          <p:cNvPr id="9" name="Rectangle 9"/>
          <p:cNvSpPr/>
          <p:nvPr/>
        </p:nvSpPr>
        <p:spPr>
          <a:xfrm>
            <a:off x="0" y="6477000"/>
            <a:ext cx="38100" cy="381000"/>
          </a:xfrm>
          <a:prstGeom prst="rect">
            <a:avLst/>
          </a:prstGeom>
          <a:solidFill>
            <a:srgbClr val="C00000"/>
          </a:solidFill>
          <a:ln>
            <a:noFill/>
          </a:ln>
        </p:spPr>
      </p:sp>
      <p:sp>
        <p:nvSpPr>
          <p:cNvPr id="10" name="TextBox 10"/>
          <p:cNvSpPr txBox="1"/>
          <p:nvPr/>
        </p:nvSpPr>
        <p:spPr>
          <a:xfrm>
            <a:off x="558165" y="6611302"/>
            <a:ext cx="1006792" cy="213360"/>
          </a:xfrm>
          <a:prstGeom prst="rect">
            <a:avLst/>
          </a:prstGeom>
          <a:noFill/>
          <a:ln>
            <a:noFill/>
          </a:ln>
        </p:spPr>
        <p:txBody>
          <a:bodyPr wrap="none" lIns="0" tIns="0" rIns="0" bIns="0" anchor="t" anchorCtr="0">
            <a:spAutoFit/>
          </a:bodyPr>
          <a:lstStyle/>
          <a:p>
            <a:pPr algn="l"/>
            <a:r>
              <a:rPr lang="zh-CN" sz="1050" dirty="0">
                <a:solidFill>
                  <a:srgbClr val="666666"/>
                </a:solidFill>
                <a:latin typeface="Arial"/>
                <a:ea typeface="Microsoft YaHei"/>
                <a:cs typeface="Arial"/>
              </a:rPr>
              <a:t>背景与痛点分析</a:t>
            </a:r>
          </a:p>
        </p:txBody>
      </p:sp>
      <p:sp>
        <p:nvSpPr>
          <p:cNvPr id="11" name="Rectangle 11"/>
          <p:cNvSpPr/>
          <p:nvPr/>
        </p:nvSpPr>
        <p:spPr>
          <a:xfrm>
            <a:off x="11525250" y="6553200"/>
            <a:ext cx="285750" cy="228600"/>
          </a:xfrm>
          <a:prstGeom prst="rect">
            <a:avLst/>
          </a:prstGeom>
          <a:solidFill>
            <a:srgbClr val="C00000"/>
          </a:solidFill>
          <a:ln>
            <a:noFill/>
          </a:ln>
        </p:spPr>
      </p:sp>
      <p:sp>
        <p:nvSpPr>
          <p:cNvPr id="12" name="TextBox 12"/>
          <p:cNvSpPr txBox="1"/>
          <p:nvPr/>
        </p:nvSpPr>
        <p:spPr>
          <a:xfrm>
            <a:off x="11614360" y="6611302"/>
            <a:ext cx="107530"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Arial"/>
                <a:ea typeface="Microsoft YaHei"/>
                <a:cs typeface="Arial"/>
              </a:rPr>
              <a:t>3</a:t>
            </a:r>
          </a:p>
        </p:txBody>
      </p:sp>
      <p:sp>
        <p:nvSpPr>
          <p:cNvPr id="13" name="Rectangle 13"/>
          <p:cNvSpPr/>
          <p:nvPr/>
        </p:nvSpPr>
        <p:spPr>
          <a:xfrm>
            <a:off x="571500" y="1047750"/>
            <a:ext cx="3524250" cy="5143500"/>
          </a:xfrm>
          <a:prstGeom prst="roundRect">
            <a:avLst>
              <a:gd name="adj" fmla="val 1081"/>
            </a:avLst>
          </a:prstGeom>
          <a:solidFill>
            <a:srgbClr val="FDF3EB"/>
          </a:solidFill>
          <a:ln w="19050">
            <a:solidFill>
              <a:srgbClr val="F8CBAD"/>
            </a:solidFill>
          </a:ln>
        </p:spPr>
      </p:sp>
      <p:sp>
        <p:nvSpPr>
          <p:cNvPr id="14" name="Rectangle 14"/>
          <p:cNvSpPr/>
          <p:nvPr/>
        </p:nvSpPr>
        <p:spPr>
          <a:xfrm>
            <a:off x="571500" y="1047750"/>
            <a:ext cx="3524250" cy="476250"/>
          </a:xfrm>
          <a:prstGeom prst="roundRect">
            <a:avLst>
              <a:gd name="adj" fmla="val 8000"/>
            </a:avLst>
          </a:prstGeom>
          <a:solidFill>
            <a:srgbClr val="C00000"/>
          </a:solidFill>
          <a:ln>
            <a:noFill/>
          </a:ln>
        </p:spPr>
      </p:sp>
      <p:sp>
        <p:nvSpPr>
          <p:cNvPr id="15" name="Rectangle 15"/>
          <p:cNvSpPr/>
          <p:nvPr/>
        </p:nvSpPr>
        <p:spPr>
          <a:xfrm>
            <a:off x="571500" y="1485900"/>
            <a:ext cx="3524250" cy="38100"/>
          </a:xfrm>
          <a:prstGeom prst="rect">
            <a:avLst/>
          </a:prstGeom>
          <a:solidFill>
            <a:srgbClr val="C00000"/>
          </a:solidFill>
          <a:ln>
            <a:noFill/>
          </a:ln>
        </p:spPr>
      </p:sp>
      <p:sp>
        <p:nvSpPr>
          <p:cNvPr id="16" name="TextBox 16"/>
          <p:cNvSpPr txBox="1"/>
          <p:nvPr/>
        </p:nvSpPr>
        <p:spPr>
          <a:xfrm>
            <a:off x="1302639" y="1167765"/>
            <a:ext cx="2061972" cy="365760"/>
          </a:xfrm>
          <a:prstGeom prst="rect">
            <a:avLst/>
          </a:prstGeom>
          <a:noFill/>
          <a:ln>
            <a:noFill/>
          </a:ln>
        </p:spPr>
        <p:txBody>
          <a:bodyPr wrap="none" lIns="0" tIns="0" rIns="0" bIns="0" anchor="t" anchorCtr="0">
            <a:spAutoFit/>
          </a:bodyPr>
          <a:lstStyle/>
          <a:p>
            <a:pPr algn="ctr"/>
            <a:r>
              <a:rPr lang="zh-CN" sz="1800" b="1" dirty="0">
                <a:solidFill>
                  <a:srgbClr val="FFFFFF"/>
                </a:solidFill>
                <a:latin typeface="Arial"/>
                <a:ea typeface="Microsoft YaHei"/>
                <a:cs typeface="Arial"/>
              </a:rPr>
              <a:t>痛点一：能力缺口</a:t>
            </a:r>
          </a:p>
        </p:txBody>
      </p:sp>
      <p:sp>
        <p:nvSpPr>
          <p:cNvPr id="17" name="TextBox 17"/>
          <p:cNvSpPr txBox="1"/>
          <p:nvPr/>
        </p:nvSpPr>
        <p:spPr>
          <a:xfrm>
            <a:off x="842010" y="1870710"/>
            <a:ext cx="534543" cy="243840"/>
          </a:xfrm>
          <a:prstGeom prst="rect">
            <a:avLst/>
          </a:prstGeom>
          <a:noFill/>
          <a:ln>
            <a:noFill/>
          </a:ln>
        </p:spPr>
        <p:txBody>
          <a:bodyPr wrap="none" lIns="0" tIns="0" rIns="0" bIns="0" anchor="t" anchorCtr="0">
            <a:spAutoFit/>
          </a:bodyPr>
          <a:lstStyle/>
          <a:p>
            <a:pPr algn="l"/>
            <a:r>
              <a:rPr lang="zh-CN" sz="1200" b="1" dirty="0">
                <a:solidFill>
                  <a:srgbClr val="C00000"/>
                </a:solidFill>
                <a:latin typeface="Arial"/>
                <a:ea typeface="Microsoft YaHei"/>
                <a:cs typeface="Arial"/>
              </a:rPr>
              <a:t>运维侧</a:t>
            </a:r>
          </a:p>
        </p:txBody>
      </p:sp>
      <p:sp>
        <p:nvSpPr>
          <p:cNvPr id="18" name="TextBox 18"/>
          <p:cNvSpPr txBox="1"/>
          <p:nvPr/>
        </p:nvSpPr>
        <p:spPr>
          <a:xfrm>
            <a:off x="842962" y="2164556"/>
            <a:ext cx="1743075" cy="1085850"/>
          </a:xfrm>
          <a:prstGeom prst="rect">
            <a:avLst/>
          </a:prstGeom>
          <a:noFill/>
          <a:ln>
            <a:noFill/>
          </a:ln>
        </p:spPr>
        <p:txBody>
          <a:bodyPr wrap="square" lIns="0" tIns="0" rIns="0" bIns="0" anchor="t" anchorCtr="0"/>
          <a:lstStyle/>
          <a:p>
            <a:pPr algn="l">
              <a:lnSpc>
                <a:spcPts val="2250"/>
              </a:lnSpc>
            </a:pPr>
            <a:r>
              <a:rPr lang="zh-CN" sz="1125" dirty="0">
                <a:solidFill>
                  <a:srgbClr val="333333"/>
                </a:solidFill>
                <a:latin typeface="Arial"/>
                <a:ea typeface="Microsoft YaHei"/>
                <a:cs typeface="Arial"/>
              </a:rPr>
              <a:t xml:space="preserve">信创系统知识储备不足 </a:t>
            </a:r>
            <a:r>
              <a:rPr lang="zh-CN" sz="1125" dirty="0">
                <a:solidFill>
                  <a:srgbClr val="333333"/>
                </a:solidFill>
                <a:latin typeface="Arial"/>
                <a:ea typeface="Microsoft YaHei"/>
                <a:cs typeface="Arial"/>
              </a:rPr>
              <a:t xml:space="preserve">应急处置经验缺乏有效传递 </a:t>
            </a:r>
            <a:r>
              <a:rPr lang="zh-CN" sz="1125" dirty="0">
                <a:solidFill>
                  <a:srgbClr val="333333"/>
                </a:solidFill>
                <a:latin typeface="Arial"/>
                <a:ea typeface="Microsoft YaHei"/>
                <a:cs typeface="Arial"/>
              </a:rPr>
              <a:t xml:space="preserve">应急手工操作占比高 </a:t>
            </a:r>
            <a:r>
              <a:rPr lang="zh-CN" sz="1125" dirty="0">
                <a:solidFill>
                  <a:srgbClr val="333333"/>
                </a:solidFill>
                <a:latin typeface="Arial"/>
                <a:ea typeface="Microsoft YaHei"/>
                <a:cs typeface="Arial"/>
              </a:rPr>
              <a:t>自动化能力有待完善</a:t>
            </a:r>
          </a:p>
        </p:txBody>
      </p:sp>
      <p:sp>
        <p:nvSpPr>
          <p:cNvPr id="19" name="Line 19"/>
          <p:cNvSpPr/>
          <p:nvPr/>
        </p:nvSpPr>
        <p:spPr>
          <a:xfrm>
            <a:off x="857250" y="3524250"/>
            <a:ext cx="2952750" cy="9525"/>
          </a:xfrm>
          <a:custGeom>
            <a:avLst/>
            <a:gdLst/>
            <a:ahLst/>
            <a:cxnLst/>
            <a:rect l="l" t="t" r="r" b="b"/>
            <a:pathLst>
              <a:path w="2952750" h="9525">
                <a:moveTo>
                  <a:pt x="0" y="0"/>
                </a:moveTo>
                <a:lnTo>
                  <a:pt x="2952750" y="0"/>
                </a:lnTo>
              </a:path>
            </a:pathLst>
          </a:custGeom>
          <a:noFill/>
          <a:ln w="9525">
            <a:solidFill>
              <a:srgbClr val="E7E6E6"/>
            </a:solidFill>
            <a:custDash>
              <a:ds d="300000" sp="300000"/>
            </a:custDash>
          </a:ln>
        </p:spPr>
      </p:sp>
      <p:sp>
        <p:nvSpPr>
          <p:cNvPr id="20" name="TextBox 20"/>
          <p:cNvSpPr txBox="1"/>
          <p:nvPr/>
        </p:nvSpPr>
        <p:spPr>
          <a:xfrm>
            <a:off x="842010" y="3728085"/>
            <a:ext cx="534543" cy="243840"/>
          </a:xfrm>
          <a:prstGeom prst="rect">
            <a:avLst/>
          </a:prstGeom>
          <a:noFill/>
          <a:ln>
            <a:noFill/>
          </a:ln>
        </p:spPr>
        <p:txBody>
          <a:bodyPr wrap="none" lIns="0" tIns="0" rIns="0" bIns="0" anchor="t" anchorCtr="0">
            <a:spAutoFit/>
          </a:bodyPr>
          <a:lstStyle/>
          <a:p>
            <a:pPr algn="l"/>
            <a:r>
              <a:rPr lang="zh-CN" sz="1200" b="1" dirty="0">
                <a:solidFill>
                  <a:srgbClr val="2E75B6"/>
                </a:solidFill>
                <a:latin typeface="Arial"/>
                <a:ea typeface="Microsoft YaHei"/>
                <a:cs typeface="Arial"/>
              </a:rPr>
              <a:t>开发侧</a:t>
            </a:r>
          </a:p>
        </p:txBody>
      </p:sp>
      <p:sp>
        <p:nvSpPr>
          <p:cNvPr id="21" name="TextBox 21"/>
          <p:cNvSpPr txBox="1"/>
          <p:nvPr/>
        </p:nvSpPr>
        <p:spPr>
          <a:xfrm>
            <a:off x="842962" y="4021931"/>
            <a:ext cx="1314450" cy="800100"/>
          </a:xfrm>
          <a:prstGeom prst="rect">
            <a:avLst/>
          </a:prstGeom>
          <a:noFill/>
          <a:ln>
            <a:noFill/>
          </a:ln>
        </p:spPr>
        <p:txBody>
          <a:bodyPr wrap="square" lIns="0" tIns="0" rIns="0" bIns="0" anchor="t" anchorCtr="0"/>
          <a:lstStyle/>
          <a:p>
            <a:pPr algn="l">
              <a:lnSpc>
                <a:spcPts val="2250"/>
              </a:lnSpc>
            </a:pPr>
            <a:r>
              <a:rPr lang="zh-CN" sz="1125" dirty="0">
                <a:solidFill>
                  <a:srgbClr val="333333"/>
                </a:solidFill>
                <a:latin typeface="Arial"/>
                <a:ea typeface="Microsoft YaHei"/>
                <a:cs typeface="Arial"/>
              </a:rPr>
              <a:t xml:space="preserve">应急分析工具不完善 </a:t>
            </a:r>
            <a:r>
              <a:rPr lang="zh-CN" sz="1125" dirty="0">
                <a:solidFill>
                  <a:srgbClr val="333333"/>
                </a:solidFill>
                <a:latin typeface="Arial"/>
                <a:ea typeface="Microsoft YaHei"/>
                <a:cs typeface="Arial"/>
              </a:rPr>
              <a:t xml:space="preserve">日志依赖运维查询 </a:t>
            </a:r>
            <a:r>
              <a:rPr lang="zh-CN" sz="1125" dirty="0">
                <a:solidFill>
                  <a:srgbClr val="333333"/>
                </a:solidFill>
                <a:latin typeface="Arial"/>
                <a:ea typeface="Microsoft YaHei"/>
                <a:cs typeface="Arial"/>
              </a:rPr>
              <a:t>故障排查沟通成本高</a:t>
            </a:r>
          </a:p>
        </p:txBody>
      </p:sp>
      <p:sp>
        <p:nvSpPr>
          <p:cNvPr id="22" name="Rectangle 22"/>
          <p:cNvSpPr/>
          <p:nvPr/>
        </p:nvSpPr>
        <p:spPr>
          <a:xfrm>
            <a:off x="4333875" y="1047750"/>
            <a:ext cx="3524250" cy="5143500"/>
          </a:xfrm>
          <a:prstGeom prst="roundRect">
            <a:avLst>
              <a:gd name="adj" fmla="val 1081"/>
            </a:avLst>
          </a:prstGeom>
          <a:solidFill>
            <a:srgbClr val="FDF3EB"/>
          </a:solidFill>
          <a:ln w="19050">
            <a:solidFill>
              <a:srgbClr val="F8CBAD"/>
            </a:solidFill>
          </a:ln>
        </p:spPr>
      </p:sp>
      <p:sp>
        <p:nvSpPr>
          <p:cNvPr id="23" name="Rectangle 23"/>
          <p:cNvSpPr/>
          <p:nvPr/>
        </p:nvSpPr>
        <p:spPr>
          <a:xfrm>
            <a:off x="4333875" y="1047750"/>
            <a:ext cx="3524250" cy="476250"/>
          </a:xfrm>
          <a:prstGeom prst="roundRect">
            <a:avLst>
              <a:gd name="adj" fmla="val 8000"/>
            </a:avLst>
          </a:prstGeom>
          <a:solidFill>
            <a:srgbClr val="2E75B6"/>
          </a:solidFill>
          <a:ln>
            <a:noFill/>
          </a:ln>
        </p:spPr>
      </p:sp>
      <p:sp>
        <p:nvSpPr>
          <p:cNvPr id="24" name="Rectangle 24"/>
          <p:cNvSpPr/>
          <p:nvPr/>
        </p:nvSpPr>
        <p:spPr>
          <a:xfrm>
            <a:off x="4333875" y="1485900"/>
            <a:ext cx="3524250" cy="38100"/>
          </a:xfrm>
          <a:prstGeom prst="rect">
            <a:avLst/>
          </a:prstGeom>
          <a:solidFill>
            <a:srgbClr val="2E75B6"/>
          </a:solidFill>
          <a:ln>
            <a:noFill/>
          </a:ln>
        </p:spPr>
      </p:sp>
      <p:sp>
        <p:nvSpPr>
          <p:cNvPr id="25" name="TextBox 25"/>
          <p:cNvSpPr txBox="1"/>
          <p:nvPr/>
        </p:nvSpPr>
        <p:spPr>
          <a:xfrm>
            <a:off x="5065014" y="1167765"/>
            <a:ext cx="2061972" cy="365760"/>
          </a:xfrm>
          <a:prstGeom prst="rect">
            <a:avLst/>
          </a:prstGeom>
          <a:noFill/>
          <a:ln>
            <a:noFill/>
          </a:ln>
        </p:spPr>
        <p:txBody>
          <a:bodyPr wrap="none" lIns="0" tIns="0" rIns="0" bIns="0" anchor="t" anchorCtr="0">
            <a:spAutoFit/>
          </a:bodyPr>
          <a:lstStyle/>
          <a:p>
            <a:pPr algn="ctr"/>
            <a:r>
              <a:rPr lang="zh-CN" sz="1800" b="1" dirty="0">
                <a:solidFill>
                  <a:srgbClr val="FFFFFF"/>
                </a:solidFill>
                <a:latin typeface="Arial"/>
                <a:ea typeface="Microsoft YaHei"/>
                <a:cs typeface="Arial"/>
              </a:rPr>
              <a:t>痛点二：流程断层</a:t>
            </a:r>
          </a:p>
        </p:txBody>
      </p:sp>
      <p:sp>
        <p:nvSpPr>
          <p:cNvPr id="26" name="Polygon 26"/>
          <p:cNvSpPr/>
          <p:nvPr/>
        </p:nvSpPr>
        <p:spPr>
          <a:xfrm>
            <a:off x="5619750" y="1809750"/>
            <a:ext cx="952500" cy="381000"/>
          </a:xfrm>
          <a:custGeom>
            <a:avLst/>
            <a:gdLst/>
            <a:ahLst/>
            <a:cxnLst/>
            <a:rect l="l" t="t" r="r" b="b"/>
            <a:pathLst>
              <a:path w="952500" h="381000">
                <a:moveTo>
                  <a:pt x="476250" y="0"/>
                </a:moveTo>
                <a:lnTo>
                  <a:pt x="952500" y="190500"/>
                </a:lnTo>
                <a:lnTo>
                  <a:pt x="476250" y="381000"/>
                </a:lnTo>
                <a:lnTo>
                  <a:pt x="0" y="190500"/>
                </a:lnTo>
                <a:close/>
              </a:path>
            </a:pathLst>
          </a:custGeom>
          <a:solidFill>
            <a:srgbClr val="C00000">
              <a:alpha val="15000"/>
            </a:srgbClr>
          </a:solidFill>
          <a:ln>
            <a:noFill/>
          </a:ln>
        </p:spPr>
      </p:sp>
      <p:sp>
        <p:nvSpPr>
          <p:cNvPr id="27" name="Rectangle 27"/>
          <p:cNvSpPr/>
          <p:nvPr/>
        </p:nvSpPr>
        <p:spPr>
          <a:xfrm>
            <a:off x="5048250" y="2333625"/>
            <a:ext cx="2095500" cy="476250"/>
          </a:xfrm>
          <a:prstGeom prst="roundRect">
            <a:avLst>
              <a:gd name="adj" fmla="val 8000"/>
            </a:avLst>
          </a:prstGeom>
          <a:solidFill>
            <a:srgbClr val="5B9BD5"/>
          </a:solidFill>
          <a:ln>
            <a:noFill/>
          </a:ln>
        </p:spPr>
      </p:sp>
      <p:sp>
        <p:nvSpPr>
          <p:cNvPr id="28" name="TextBox 28"/>
          <p:cNvSpPr txBox="1"/>
          <p:nvPr/>
        </p:nvSpPr>
        <p:spPr>
          <a:xfrm>
            <a:off x="5294114" y="2507456"/>
            <a:ext cx="1603772" cy="228600"/>
          </a:xfrm>
          <a:prstGeom prst="rect">
            <a:avLst/>
          </a:prstGeom>
          <a:noFill/>
          <a:ln>
            <a:noFill/>
          </a:ln>
        </p:spPr>
        <p:txBody>
          <a:bodyPr wrap="none" lIns="0" tIns="0" rIns="0" bIns="0" anchor="t" anchorCtr="0">
            <a:spAutoFit/>
          </a:bodyPr>
          <a:lstStyle/>
          <a:p>
            <a:pPr algn="ctr"/>
            <a:r>
              <a:rPr lang="zh-CN" sz="1125" b="1" dirty="0">
                <a:solidFill>
                  <a:srgbClr val="FFFFFF"/>
                </a:solidFill>
                <a:latin typeface="Arial"/>
                <a:ea typeface="Microsoft YaHei"/>
                <a:cs typeface="Arial"/>
              </a:rPr>
              <a:t>应急过程依赖个人经验</a:t>
            </a:r>
          </a:p>
        </p:txBody>
      </p:sp>
      <p:sp>
        <p:nvSpPr>
          <p:cNvPr id="29" name="Polygon 29"/>
          <p:cNvSpPr/>
          <p:nvPr/>
        </p:nvSpPr>
        <p:spPr>
          <a:xfrm>
            <a:off x="5619750" y="2905125"/>
            <a:ext cx="952500" cy="381000"/>
          </a:xfrm>
          <a:custGeom>
            <a:avLst/>
            <a:gdLst/>
            <a:ahLst/>
            <a:cxnLst/>
            <a:rect l="l" t="t" r="r" b="b"/>
            <a:pathLst>
              <a:path w="952500" h="381000">
                <a:moveTo>
                  <a:pt x="476250" y="0"/>
                </a:moveTo>
                <a:lnTo>
                  <a:pt x="952500" y="190500"/>
                </a:lnTo>
                <a:lnTo>
                  <a:pt x="476250" y="381000"/>
                </a:lnTo>
                <a:lnTo>
                  <a:pt x="0" y="190500"/>
                </a:lnTo>
                <a:close/>
              </a:path>
            </a:pathLst>
          </a:custGeom>
          <a:solidFill>
            <a:srgbClr val="C00000">
              <a:alpha val="15000"/>
            </a:srgbClr>
          </a:solidFill>
          <a:ln>
            <a:noFill/>
          </a:ln>
        </p:spPr>
      </p:sp>
      <p:sp>
        <p:nvSpPr>
          <p:cNvPr id="30" name="Rectangle 30"/>
          <p:cNvSpPr/>
          <p:nvPr/>
        </p:nvSpPr>
        <p:spPr>
          <a:xfrm>
            <a:off x="5048250" y="3429000"/>
            <a:ext cx="2095500" cy="476250"/>
          </a:xfrm>
          <a:prstGeom prst="roundRect">
            <a:avLst>
              <a:gd name="adj" fmla="val 8000"/>
            </a:avLst>
          </a:prstGeom>
          <a:solidFill>
            <a:srgbClr val="5B9BD5"/>
          </a:solidFill>
          <a:ln>
            <a:noFill/>
          </a:ln>
        </p:spPr>
      </p:sp>
      <p:sp>
        <p:nvSpPr>
          <p:cNvPr id="31" name="TextBox 31"/>
          <p:cNvSpPr txBox="1"/>
          <p:nvPr/>
        </p:nvSpPr>
        <p:spPr>
          <a:xfrm>
            <a:off x="5372874" y="3602831"/>
            <a:ext cx="1446252" cy="228600"/>
          </a:xfrm>
          <a:prstGeom prst="rect">
            <a:avLst/>
          </a:prstGeom>
          <a:noFill/>
          <a:ln>
            <a:noFill/>
          </a:ln>
        </p:spPr>
        <p:txBody>
          <a:bodyPr wrap="none" lIns="0" tIns="0" rIns="0" bIns="0" anchor="t" anchorCtr="0">
            <a:spAutoFit/>
          </a:bodyPr>
          <a:lstStyle/>
          <a:p>
            <a:pPr algn="ctr"/>
            <a:r>
              <a:rPr lang="zh-CN" sz="1125" b="1" dirty="0">
                <a:solidFill>
                  <a:srgbClr val="FFFFFF"/>
                </a:solidFill>
                <a:latin typeface="Arial"/>
                <a:ea typeface="Microsoft YaHei"/>
                <a:cs typeface="Arial"/>
              </a:rPr>
              <a:t>信息同步靠人工转发</a:t>
            </a:r>
          </a:p>
        </p:txBody>
      </p:sp>
      <p:sp>
        <p:nvSpPr>
          <p:cNvPr id="32" name="Polygon 32"/>
          <p:cNvSpPr/>
          <p:nvPr/>
        </p:nvSpPr>
        <p:spPr>
          <a:xfrm>
            <a:off x="5619750" y="4000500"/>
            <a:ext cx="952500" cy="381000"/>
          </a:xfrm>
          <a:custGeom>
            <a:avLst/>
            <a:gdLst/>
            <a:ahLst/>
            <a:cxnLst/>
            <a:rect l="l" t="t" r="r" b="b"/>
            <a:pathLst>
              <a:path w="952500" h="381000">
                <a:moveTo>
                  <a:pt x="476250" y="0"/>
                </a:moveTo>
                <a:lnTo>
                  <a:pt x="952500" y="190500"/>
                </a:lnTo>
                <a:lnTo>
                  <a:pt x="476250" y="381000"/>
                </a:lnTo>
                <a:lnTo>
                  <a:pt x="0" y="190500"/>
                </a:lnTo>
                <a:close/>
              </a:path>
            </a:pathLst>
          </a:custGeom>
          <a:solidFill>
            <a:srgbClr val="C00000">
              <a:alpha val="15000"/>
            </a:srgbClr>
          </a:solidFill>
          <a:ln>
            <a:noFill/>
          </a:ln>
        </p:spPr>
      </p:sp>
      <p:sp>
        <p:nvSpPr>
          <p:cNvPr id="33" name="Rectangle 33"/>
          <p:cNvSpPr/>
          <p:nvPr/>
        </p:nvSpPr>
        <p:spPr>
          <a:xfrm>
            <a:off x="5048250" y="4524375"/>
            <a:ext cx="2095500" cy="476250"/>
          </a:xfrm>
          <a:prstGeom prst="roundRect">
            <a:avLst>
              <a:gd name="adj" fmla="val 8000"/>
            </a:avLst>
          </a:prstGeom>
          <a:solidFill>
            <a:srgbClr val="5B9BD5"/>
          </a:solidFill>
          <a:ln>
            <a:noFill/>
          </a:ln>
        </p:spPr>
      </p:sp>
      <p:sp>
        <p:nvSpPr>
          <p:cNvPr id="34" name="TextBox 34"/>
          <p:cNvSpPr txBox="1"/>
          <p:nvPr/>
        </p:nvSpPr>
        <p:spPr>
          <a:xfrm>
            <a:off x="5451634" y="4698206"/>
            <a:ext cx="1288732" cy="228600"/>
          </a:xfrm>
          <a:prstGeom prst="rect">
            <a:avLst/>
          </a:prstGeom>
          <a:noFill/>
          <a:ln>
            <a:noFill/>
          </a:ln>
        </p:spPr>
        <p:txBody>
          <a:bodyPr wrap="none" lIns="0" tIns="0" rIns="0" bIns="0" anchor="t" anchorCtr="0">
            <a:spAutoFit/>
          </a:bodyPr>
          <a:lstStyle/>
          <a:p>
            <a:pPr algn="ctr"/>
            <a:r>
              <a:rPr lang="zh-CN" sz="1125" b="1" dirty="0">
                <a:solidFill>
                  <a:srgbClr val="FFFFFF"/>
                </a:solidFill>
                <a:latin typeface="Arial"/>
                <a:ea typeface="Microsoft YaHei"/>
                <a:cs typeface="Arial"/>
              </a:rPr>
              <a:t>角色联动机制不足</a:t>
            </a:r>
          </a:p>
        </p:txBody>
      </p:sp>
      <p:sp>
        <p:nvSpPr>
          <p:cNvPr id="35" name="Rectangle 35"/>
          <p:cNvSpPr/>
          <p:nvPr/>
        </p:nvSpPr>
        <p:spPr>
          <a:xfrm>
            <a:off x="8096250" y="1047750"/>
            <a:ext cx="3524250" cy="5143500"/>
          </a:xfrm>
          <a:prstGeom prst="roundRect">
            <a:avLst>
              <a:gd name="adj" fmla="val 1081"/>
            </a:avLst>
          </a:prstGeom>
          <a:solidFill>
            <a:srgbClr val="FDF3EB"/>
          </a:solidFill>
          <a:ln w="19050">
            <a:solidFill>
              <a:srgbClr val="F8CBAD"/>
            </a:solidFill>
          </a:ln>
        </p:spPr>
      </p:sp>
      <p:sp>
        <p:nvSpPr>
          <p:cNvPr id="36" name="Rectangle 36"/>
          <p:cNvSpPr/>
          <p:nvPr/>
        </p:nvSpPr>
        <p:spPr>
          <a:xfrm>
            <a:off x="8096250" y="1047750"/>
            <a:ext cx="3524250" cy="476250"/>
          </a:xfrm>
          <a:prstGeom prst="roundRect">
            <a:avLst>
              <a:gd name="adj" fmla="val 8000"/>
            </a:avLst>
          </a:prstGeom>
          <a:solidFill>
            <a:srgbClr val="C00000"/>
          </a:solidFill>
          <a:ln>
            <a:noFill/>
          </a:ln>
        </p:spPr>
      </p:sp>
      <p:sp>
        <p:nvSpPr>
          <p:cNvPr id="37" name="Rectangle 37"/>
          <p:cNvSpPr/>
          <p:nvPr/>
        </p:nvSpPr>
        <p:spPr>
          <a:xfrm>
            <a:off x="8096250" y="1485900"/>
            <a:ext cx="3524250" cy="38100"/>
          </a:xfrm>
          <a:prstGeom prst="rect">
            <a:avLst/>
          </a:prstGeom>
          <a:solidFill>
            <a:srgbClr val="C00000"/>
          </a:solidFill>
          <a:ln>
            <a:noFill/>
          </a:ln>
        </p:spPr>
      </p:sp>
      <p:sp>
        <p:nvSpPr>
          <p:cNvPr id="38" name="TextBox 38"/>
          <p:cNvSpPr txBox="1"/>
          <p:nvPr/>
        </p:nvSpPr>
        <p:spPr>
          <a:xfrm>
            <a:off x="8701373" y="1167765"/>
            <a:ext cx="2314004" cy="365760"/>
          </a:xfrm>
          <a:prstGeom prst="rect">
            <a:avLst/>
          </a:prstGeom>
          <a:noFill/>
          <a:ln>
            <a:noFill/>
          </a:ln>
        </p:spPr>
        <p:txBody>
          <a:bodyPr wrap="none" lIns="0" tIns="0" rIns="0" bIns="0" anchor="t" anchorCtr="0">
            <a:spAutoFit/>
          </a:bodyPr>
          <a:lstStyle/>
          <a:p>
            <a:pPr algn="ctr"/>
            <a:r>
              <a:rPr lang="zh-CN" sz="1800" b="1" dirty="0">
                <a:solidFill>
                  <a:srgbClr val="FFFFFF"/>
                </a:solidFill>
                <a:latin typeface="Arial"/>
                <a:ea typeface="Microsoft YaHei"/>
                <a:cs typeface="Arial"/>
              </a:rPr>
              <a:t>痛点三：复盘不闭环</a:t>
            </a:r>
          </a:p>
        </p:txBody>
      </p:sp>
      <p:sp>
        <p:nvSpPr>
          <p:cNvPr id="39" name="TextBox 39"/>
          <p:cNvSpPr txBox="1"/>
          <p:nvPr/>
        </p:nvSpPr>
        <p:spPr>
          <a:xfrm>
            <a:off x="8366760" y="1870710"/>
            <a:ext cx="1038606" cy="243840"/>
          </a:xfrm>
          <a:prstGeom prst="rect">
            <a:avLst/>
          </a:prstGeom>
          <a:noFill/>
          <a:ln>
            <a:noFill/>
          </a:ln>
        </p:spPr>
        <p:txBody>
          <a:bodyPr wrap="none" lIns="0" tIns="0" rIns="0" bIns="0" anchor="t" anchorCtr="0">
            <a:spAutoFit/>
          </a:bodyPr>
          <a:lstStyle/>
          <a:p>
            <a:pPr algn="l"/>
            <a:r>
              <a:rPr lang="zh-CN" sz="1200" b="1" dirty="0">
                <a:solidFill>
                  <a:srgbClr val="C00000"/>
                </a:solidFill>
                <a:latin typeface="Arial"/>
                <a:ea typeface="Microsoft YaHei"/>
                <a:cs typeface="Arial"/>
              </a:rPr>
              <a:t>故障复盘流程</a:t>
            </a:r>
          </a:p>
        </p:txBody>
      </p:sp>
      <p:sp>
        <p:nvSpPr>
          <p:cNvPr id="40" name="TextBox 40"/>
          <p:cNvSpPr txBox="1"/>
          <p:nvPr/>
        </p:nvSpPr>
        <p:spPr>
          <a:xfrm>
            <a:off x="8367712" y="2212181"/>
            <a:ext cx="1085850" cy="895350"/>
          </a:xfrm>
          <a:prstGeom prst="rect">
            <a:avLst/>
          </a:prstGeom>
          <a:noFill/>
          <a:ln>
            <a:noFill/>
          </a:ln>
        </p:spPr>
        <p:txBody>
          <a:bodyPr wrap="square" lIns="0" tIns="0" rIns="0" bIns="0" anchor="t" anchorCtr="0"/>
          <a:lstStyle/>
          <a:p>
            <a:pPr algn="l">
              <a:lnSpc>
                <a:spcPts val="2625"/>
              </a:lnSpc>
            </a:pPr>
            <a:r>
              <a:rPr lang="zh-CN" sz="1125" dirty="0">
                <a:solidFill>
                  <a:srgbClr val="333333"/>
                </a:solidFill>
                <a:latin typeface="Arial"/>
                <a:ea typeface="Microsoft YaHei"/>
                <a:cs typeface="Arial"/>
              </a:rPr>
              <a:t xml:space="preserve">1. 发生故障 </a:t>
            </a:r>
            <a:r>
              <a:rPr lang="zh-CN" sz="1125" dirty="0">
                <a:solidFill>
                  <a:srgbClr val="333333"/>
                </a:solidFill>
                <a:latin typeface="Arial"/>
                <a:ea typeface="Microsoft YaHei"/>
                <a:cs typeface="Arial"/>
              </a:rPr>
              <a:t xml:space="preserve">2. 召开复盘会 </a:t>
            </a:r>
            <a:r>
              <a:rPr lang="zh-CN" sz="1125" dirty="0">
                <a:solidFill>
                  <a:srgbClr val="333333"/>
                </a:solidFill>
                <a:latin typeface="Arial"/>
                <a:ea typeface="Microsoft YaHei"/>
                <a:cs typeface="Arial"/>
              </a:rPr>
              <a:t>3. 提出改进措施</a:t>
            </a:r>
          </a:p>
        </p:txBody>
      </p:sp>
      <p:sp>
        <p:nvSpPr>
          <p:cNvPr id="41" name="Rectangle 41"/>
          <p:cNvSpPr/>
          <p:nvPr/>
        </p:nvSpPr>
        <p:spPr>
          <a:xfrm>
            <a:off x="9048750" y="3524250"/>
            <a:ext cx="381000" cy="381000"/>
          </a:xfrm>
          <a:prstGeom prst="roundRect">
            <a:avLst>
              <a:gd name="adj" fmla="val 10000"/>
            </a:avLst>
          </a:prstGeom>
          <a:solidFill>
            <a:srgbClr val="C00000"/>
          </a:solidFill>
          <a:ln>
            <a:noFill/>
          </a:ln>
        </p:spPr>
      </p:sp>
      <p:sp>
        <p:nvSpPr>
          <p:cNvPr id="42" name="TextBox 42"/>
          <p:cNvSpPr txBox="1"/>
          <p:nvPr/>
        </p:nvSpPr>
        <p:spPr>
          <a:xfrm>
            <a:off x="9154762" y="3603308"/>
            <a:ext cx="168976" cy="335280"/>
          </a:xfrm>
          <a:prstGeom prst="rect">
            <a:avLst/>
          </a:prstGeom>
          <a:noFill/>
          <a:ln>
            <a:noFill/>
          </a:ln>
        </p:spPr>
        <p:txBody>
          <a:bodyPr wrap="none" lIns="0" tIns="0" rIns="0" bIns="0" anchor="t" anchorCtr="0">
            <a:spAutoFit/>
          </a:bodyPr>
          <a:lstStyle/>
          <a:p>
            <a:pPr algn="ctr"/>
            <a:r>
              <a:rPr lang="zh-CN" sz="1650" b="1" dirty="0">
                <a:solidFill>
                  <a:srgbClr val="FFFFFF"/>
                </a:solidFill>
                <a:latin typeface="Arial"/>
                <a:ea typeface="Microsoft YaHei"/>
                <a:cs typeface="Arial"/>
              </a:rPr>
              <a:t>X</a:t>
            </a:r>
          </a:p>
        </p:txBody>
      </p:sp>
      <p:sp>
        <p:nvSpPr>
          <p:cNvPr id="43" name="TextBox 43"/>
          <p:cNvSpPr txBox="1"/>
          <p:nvPr/>
        </p:nvSpPr>
        <p:spPr>
          <a:xfrm>
            <a:off x="8367712" y="4117181"/>
            <a:ext cx="1171575" cy="1085850"/>
          </a:xfrm>
          <a:prstGeom prst="rect">
            <a:avLst/>
          </a:prstGeom>
          <a:noFill/>
          <a:ln>
            <a:noFill/>
          </a:ln>
        </p:spPr>
        <p:txBody>
          <a:bodyPr wrap="square" lIns="0" tIns="0" rIns="0" bIns="0" anchor="t" anchorCtr="0"/>
          <a:lstStyle/>
          <a:p>
            <a:pPr algn="l">
              <a:lnSpc>
                <a:spcPts val="2250"/>
              </a:lnSpc>
            </a:pPr>
            <a:r>
              <a:rPr lang="zh-CN" sz="1125" dirty="0">
                <a:solidFill>
                  <a:srgbClr val="333333"/>
                </a:solidFill>
                <a:latin typeface="Arial"/>
                <a:ea typeface="Microsoft YaHei"/>
                <a:cs typeface="Arial"/>
              </a:rPr>
              <a:t xml:space="preserve">缺乏跟踪机制 </a:t>
            </a:r>
            <a:r>
              <a:rPr lang="zh-CN" sz="1125" dirty="0">
                <a:solidFill>
                  <a:srgbClr val="333333"/>
                </a:solidFill>
                <a:latin typeface="Arial"/>
                <a:ea typeface="Microsoft YaHei"/>
                <a:cs typeface="Arial"/>
              </a:rPr>
              <a:t xml:space="preserve">改进措施无落实 </a:t>
            </a:r>
            <a:r>
              <a:rPr lang="zh-CN" sz="1125" dirty="0">
                <a:solidFill>
                  <a:srgbClr val="333333"/>
                </a:solidFill>
                <a:latin typeface="Arial"/>
                <a:ea typeface="Microsoft YaHei"/>
                <a:cs typeface="Arial"/>
              </a:rPr>
              <a:t xml:space="preserve">经验传递穿透不足 </a:t>
            </a:r>
            <a:r>
              <a:rPr lang="zh-CN" sz="1125" dirty="0">
                <a:solidFill>
                  <a:srgbClr val="333333"/>
                </a:solidFill>
                <a:latin typeface="Arial"/>
                <a:ea typeface="Microsoft YaHei"/>
                <a:cs typeface="Arial"/>
              </a:rPr>
              <a:t>同类故障重复发生</a:t>
            </a:r>
          </a:p>
        </p:txBody>
      </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38100"/>
          </a:xfrm>
          <a:prstGeom prst="rect">
            <a:avLst/>
          </a:prstGeom>
          <a:solidFill>
            <a:srgbClr val="C00000"/>
          </a:solidFill>
          <a:ln>
            <a:noFill/>
          </a:ln>
        </p:spPr>
      </p:sp>
      <p:sp>
        <p:nvSpPr>
          <p:cNvPr id="4" name="Rectangle 4"/>
          <p:cNvSpPr/>
          <p:nvPr/>
        </p:nvSpPr>
        <p:spPr>
          <a:xfrm>
            <a:off x="0" y="38100"/>
            <a:ext cx="12192000" cy="723900"/>
          </a:xfrm>
          <a:prstGeom prst="rect">
            <a:avLst/>
          </a:prstGeom>
          <a:solidFill>
            <a:srgbClr val="FFFFFF"/>
          </a:solidFill>
          <a:ln>
            <a:noFill/>
          </a:ln>
        </p:spPr>
      </p:sp>
      <p:sp>
        <p:nvSpPr>
          <p:cNvPr id="5" name="Line 5"/>
          <p:cNvSpPr/>
          <p:nvPr/>
        </p:nvSpPr>
        <p:spPr>
          <a:xfrm>
            <a:off x="0" y="762000"/>
            <a:ext cx="12192000" cy="9525"/>
          </a:xfrm>
          <a:custGeom>
            <a:avLst/>
            <a:gdLst/>
            <a:ahLst/>
            <a:cxnLst/>
            <a:rect l="l" t="t" r="r" b="b"/>
            <a:pathLst>
              <a:path w="12192000" h="9525">
                <a:moveTo>
                  <a:pt x="0" y="0"/>
                </a:moveTo>
                <a:lnTo>
                  <a:pt x="12192000" y="0"/>
                </a:lnTo>
              </a:path>
            </a:pathLst>
          </a:custGeom>
          <a:noFill/>
          <a:ln w="9525">
            <a:solidFill>
              <a:srgbClr val="E7E6E6"/>
            </a:solidFill>
          </a:ln>
        </p:spPr>
      </p:sp>
      <p:sp>
        <p:nvSpPr>
          <p:cNvPr id="6" name="Rectangle 6"/>
          <p:cNvSpPr/>
          <p:nvPr/>
        </p:nvSpPr>
        <p:spPr>
          <a:xfrm>
            <a:off x="476250" y="190500"/>
            <a:ext cx="76200" cy="381000"/>
          </a:xfrm>
          <a:prstGeom prst="rect">
            <a:avLst/>
          </a:prstGeom>
          <a:solidFill>
            <a:srgbClr val="C00000"/>
          </a:solidFill>
          <a:ln>
            <a:noFill/>
          </a:ln>
        </p:spPr>
      </p:sp>
      <p:sp>
        <p:nvSpPr>
          <p:cNvPr id="7" name="TextBox 7"/>
          <p:cNvSpPr txBox="1"/>
          <p:nvPr/>
        </p:nvSpPr>
        <p:spPr>
          <a:xfrm>
            <a:off x="655320" y="236220"/>
            <a:ext cx="2749296" cy="487680"/>
          </a:xfrm>
          <a:prstGeom prst="rect">
            <a:avLst/>
          </a:prstGeom>
          <a:noFill/>
          <a:ln>
            <a:noFill/>
          </a:ln>
        </p:spPr>
        <p:txBody>
          <a:bodyPr wrap="none" lIns="0" tIns="0" rIns="0" bIns="0" anchor="t" anchorCtr="0">
            <a:spAutoFit/>
          </a:bodyPr>
          <a:lstStyle/>
          <a:p>
            <a:pPr algn="l"/>
            <a:r>
              <a:rPr lang="zh-CN" sz="2400" b="1" dirty="0">
                <a:solidFill>
                  <a:srgbClr val="000000"/>
                </a:solidFill>
                <a:latin typeface="Arial"/>
                <a:ea typeface="Microsoft YaHei"/>
                <a:cs typeface="Arial"/>
              </a:rPr>
              <a:t>痛点一：能力缺口</a:t>
            </a:r>
          </a:p>
        </p:txBody>
      </p:sp>
      <p:sp>
        <p:nvSpPr>
          <p:cNvPr id="8" name="Rectangle 8"/>
          <p:cNvSpPr/>
          <p:nvPr/>
        </p:nvSpPr>
        <p:spPr>
          <a:xfrm>
            <a:off x="476250" y="904875"/>
            <a:ext cx="11239500" cy="476250"/>
          </a:xfrm>
          <a:prstGeom prst="rect">
            <a:avLst/>
          </a:prstGeom>
          <a:solidFill>
            <a:srgbClr val="F2F2F2"/>
          </a:solidFill>
          <a:ln>
            <a:noFill/>
          </a:ln>
        </p:spPr>
      </p:sp>
      <p:sp>
        <p:nvSpPr>
          <p:cNvPr id="9" name="TextBox 9"/>
          <p:cNvSpPr txBox="1"/>
          <p:nvPr/>
        </p:nvSpPr>
        <p:spPr>
          <a:xfrm>
            <a:off x="4080510" y="1061085"/>
            <a:ext cx="4030980" cy="243840"/>
          </a:xfrm>
          <a:prstGeom prst="rect">
            <a:avLst/>
          </a:prstGeom>
          <a:noFill/>
          <a:ln>
            <a:noFill/>
          </a:ln>
        </p:spPr>
        <p:txBody>
          <a:bodyPr wrap="none" lIns="0" tIns="0" rIns="0" bIns="0" anchor="t" anchorCtr="0">
            <a:spAutoFit/>
          </a:bodyPr>
          <a:lstStyle/>
          <a:p>
            <a:pPr algn="ctr"/>
            <a:r>
              <a:rPr lang="zh-CN" sz="1200" dirty="0">
                <a:solidFill>
                  <a:srgbClr val="333333"/>
                </a:solidFill>
                <a:latin typeface="Arial"/>
                <a:ea typeface="Microsoft YaHei"/>
                <a:cs typeface="Arial"/>
              </a:rPr>
              <a:t>运维与开发团队在故障应急中均面临能力支撑不足的问题</a:t>
            </a:r>
          </a:p>
        </p:txBody>
      </p:sp>
      <p:sp>
        <p:nvSpPr>
          <p:cNvPr id="10" name="Rectangle 10"/>
          <p:cNvSpPr/>
          <p:nvPr/>
        </p:nvSpPr>
        <p:spPr>
          <a:xfrm>
            <a:off x="0" y="6477000"/>
            <a:ext cx="12192000" cy="381000"/>
          </a:xfrm>
          <a:prstGeom prst="rect">
            <a:avLst/>
          </a:prstGeom>
          <a:solidFill>
            <a:srgbClr val="F2F2F2"/>
          </a:solidFill>
          <a:ln>
            <a:noFill/>
          </a:ln>
        </p:spPr>
      </p:sp>
      <p:sp>
        <p:nvSpPr>
          <p:cNvPr id="11" name="Rectangle 11"/>
          <p:cNvSpPr/>
          <p:nvPr/>
        </p:nvSpPr>
        <p:spPr>
          <a:xfrm>
            <a:off x="0" y="6477000"/>
            <a:ext cx="38100" cy="381000"/>
          </a:xfrm>
          <a:prstGeom prst="rect">
            <a:avLst/>
          </a:prstGeom>
          <a:solidFill>
            <a:srgbClr val="C00000"/>
          </a:solidFill>
          <a:ln>
            <a:noFill/>
          </a:ln>
        </p:spPr>
      </p:sp>
      <p:sp>
        <p:nvSpPr>
          <p:cNvPr id="12" name="TextBox 12"/>
          <p:cNvSpPr txBox="1"/>
          <p:nvPr/>
        </p:nvSpPr>
        <p:spPr>
          <a:xfrm>
            <a:off x="558165" y="6611302"/>
            <a:ext cx="1006792" cy="213360"/>
          </a:xfrm>
          <a:prstGeom prst="rect">
            <a:avLst/>
          </a:prstGeom>
          <a:noFill/>
          <a:ln>
            <a:noFill/>
          </a:ln>
        </p:spPr>
        <p:txBody>
          <a:bodyPr wrap="none" lIns="0" tIns="0" rIns="0" bIns="0" anchor="t" anchorCtr="0">
            <a:spAutoFit/>
          </a:bodyPr>
          <a:lstStyle/>
          <a:p>
            <a:pPr algn="l"/>
            <a:r>
              <a:rPr lang="zh-CN" sz="1050" dirty="0">
                <a:solidFill>
                  <a:srgbClr val="666666"/>
                </a:solidFill>
                <a:latin typeface="Arial"/>
                <a:ea typeface="Microsoft YaHei"/>
                <a:cs typeface="Arial"/>
              </a:rPr>
              <a:t>背景与痛点分析</a:t>
            </a:r>
          </a:p>
        </p:txBody>
      </p:sp>
      <p:sp>
        <p:nvSpPr>
          <p:cNvPr id="13" name="Rectangle 13"/>
          <p:cNvSpPr/>
          <p:nvPr/>
        </p:nvSpPr>
        <p:spPr>
          <a:xfrm>
            <a:off x="11525250" y="6553200"/>
            <a:ext cx="285750" cy="228600"/>
          </a:xfrm>
          <a:prstGeom prst="rect">
            <a:avLst/>
          </a:prstGeom>
          <a:solidFill>
            <a:srgbClr val="C00000"/>
          </a:solidFill>
          <a:ln>
            <a:noFill/>
          </a:ln>
        </p:spPr>
      </p:sp>
      <p:sp>
        <p:nvSpPr>
          <p:cNvPr id="14" name="TextBox 14"/>
          <p:cNvSpPr txBox="1"/>
          <p:nvPr/>
        </p:nvSpPr>
        <p:spPr>
          <a:xfrm>
            <a:off x="11614360" y="6611302"/>
            <a:ext cx="107530"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Arial"/>
                <a:ea typeface="Microsoft YaHei"/>
                <a:cs typeface="Arial"/>
              </a:rPr>
              <a:t>4</a:t>
            </a:r>
          </a:p>
        </p:txBody>
      </p:sp>
      <p:sp>
        <p:nvSpPr>
          <p:cNvPr id="15" name="Rectangle 15"/>
          <p:cNvSpPr/>
          <p:nvPr/>
        </p:nvSpPr>
        <p:spPr>
          <a:xfrm>
            <a:off x="571500" y="1619250"/>
            <a:ext cx="5286375" cy="4572000"/>
          </a:xfrm>
          <a:prstGeom prst="roundRect">
            <a:avLst>
              <a:gd name="adj" fmla="val 833"/>
            </a:avLst>
          </a:prstGeom>
          <a:solidFill>
            <a:srgbClr val="FFFFFF"/>
          </a:solidFill>
          <a:ln w="19050">
            <a:solidFill>
              <a:srgbClr val="E7E6E6"/>
            </a:solidFill>
          </a:ln>
        </p:spPr>
      </p:sp>
      <p:sp>
        <p:nvSpPr>
          <p:cNvPr id="16" name="Rectangle 16"/>
          <p:cNvSpPr/>
          <p:nvPr/>
        </p:nvSpPr>
        <p:spPr>
          <a:xfrm>
            <a:off x="571500" y="1619250"/>
            <a:ext cx="5286375" cy="428625"/>
          </a:xfrm>
          <a:prstGeom prst="roundRect">
            <a:avLst>
              <a:gd name="adj" fmla="val 8889"/>
            </a:avLst>
          </a:prstGeom>
          <a:solidFill>
            <a:srgbClr val="C00000"/>
          </a:solidFill>
          <a:ln>
            <a:noFill/>
          </a:ln>
        </p:spPr>
      </p:sp>
      <p:sp>
        <p:nvSpPr>
          <p:cNvPr id="17" name="Rectangle 17"/>
          <p:cNvSpPr/>
          <p:nvPr/>
        </p:nvSpPr>
        <p:spPr>
          <a:xfrm>
            <a:off x="571500" y="2009775"/>
            <a:ext cx="5286375" cy="38100"/>
          </a:xfrm>
          <a:prstGeom prst="rect">
            <a:avLst/>
          </a:prstGeom>
          <a:solidFill>
            <a:srgbClr val="C00000"/>
          </a:solidFill>
          <a:ln>
            <a:noFill/>
          </a:ln>
        </p:spPr>
      </p:sp>
      <p:sp>
        <p:nvSpPr>
          <p:cNvPr id="18" name="TextBox 18"/>
          <p:cNvSpPr txBox="1"/>
          <p:nvPr/>
        </p:nvSpPr>
        <p:spPr>
          <a:xfrm>
            <a:off x="2611398" y="1726882"/>
            <a:ext cx="1197054" cy="335280"/>
          </a:xfrm>
          <a:prstGeom prst="rect">
            <a:avLst/>
          </a:prstGeom>
          <a:noFill/>
          <a:ln>
            <a:noFill/>
          </a:ln>
        </p:spPr>
        <p:txBody>
          <a:bodyPr wrap="none" lIns="0" tIns="0" rIns="0" bIns="0" anchor="t" anchorCtr="0">
            <a:spAutoFit/>
          </a:bodyPr>
          <a:lstStyle/>
          <a:p>
            <a:pPr algn="ctr"/>
            <a:r>
              <a:rPr lang="zh-CN" sz="1650" b="1" dirty="0">
                <a:solidFill>
                  <a:srgbClr val="FFFFFF"/>
                </a:solidFill>
                <a:latin typeface="Arial"/>
                <a:ea typeface="Microsoft YaHei"/>
                <a:cs typeface="Arial"/>
              </a:rPr>
              <a:t>运维侧困境</a:t>
            </a:r>
          </a:p>
        </p:txBody>
      </p:sp>
      <p:sp>
        <p:nvSpPr>
          <p:cNvPr id="19" name="Rectangle 19"/>
          <p:cNvSpPr/>
          <p:nvPr/>
        </p:nvSpPr>
        <p:spPr>
          <a:xfrm>
            <a:off x="857250" y="2286000"/>
            <a:ext cx="4714875" cy="523875"/>
          </a:xfrm>
          <a:prstGeom prst="roundRect">
            <a:avLst>
              <a:gd name="adj" fmla="val 5455"/>
            </a:avLst>
          </a:prstGeom>
          <a:solidFill>
            <a:srgbClr val="FDF3EB"/>
          </a:solidFill>
          <a:ln w="9525">
            <a:solidFill>
              <a:srgbClr val="F8CBAD"/>
            </a:solidFill>
          </a:ln>
        </p:spPr>
      </p:sp>
      <p:sp>
        <p:nvSpPr>
          <p:cNvPr id="20" name="TextBox 20"/>
          <p:cNvSpPr txBox="1"/>
          <p:nvPr/>
        </p:nvSpPr>
        <p:spPr>
          <a:xfrm>
            <a:off x="2394585" y="2489835"/>
            <a:ext cx="1630680" cy="243840"/>
          </a:xfrm>
          <a:prstGeom prst="rect">
            <a:avLst/>
          </a:prstGeom>
          <a:noFill/>
          <a:ln>
            <a:noFill/>
          </a:ln>
        </p:spPr>
        <p:txBody>
          <a:bodyPr wrap="none" lIns="0" tIns="0" rIns="0" bIns="0" anchor="t" anchorCtr="0">
            <a:spAutoFit/>
          </a:bodyPr>
          <a:lstStyle/>
          <a:p>
            <a:pPr algn="ctr"/>
            <a:r>
              <a:rPr lang="zh-CN" sz="1200" dirty="0">
                <a:solidFill>
                  <a:srgbClr val="333333"/>
                </a:solidFill>
                <a:latin typeface="Arial"/>
                <a:ea typeface="Microsoft YaHei"/>
                <a:cs typeface="Arial"/>
              </a:rPr>
              <a:t>信创系统知识储备不足</a:t>
            </a:r>
          </a:p>
        </p:txBody>
      </p:sp>
      <p:sp>
        <p:nvSpPr>
          <p:cNvPr id="21" name="Polygon 21"/>
          <p:cNvSpPr/>
          <p:nvPr/>
        </p:nvSpPr>
        <p:spPr>
          <a:xfrm>
            <a:off x="3019425" y="2905125"/>
            <a:ext cx="381000" cy="190500"/>
          </a:xfrm>
          <a:custGeom>
            <a:avLst/>
            <a:gdLst/>
            <a:ahLst/>
            <a:cxnLst/>
            <a:rect l="l" t="t" r="r" b="b"/>
            <a:pathLst>
              <a:path w="381000" h="190500">
                <a:moveTo>
                  <a:pt x="190500" y="0"/>
                </a:moveTo>
                <a:lnTo>
                  <a:pt x="381000" y="95250"/>
                </a:lnTo>
                <a:lnTo>
                  <a:pt x="190500" y="190500"/>
                </a:lnTo>
                <a:lnTo>
                  <a:pt x="0" y="95250"/>
                </a:lnTo>
                <a:close/>
              </a:path>
            </a:pathLst>
          </a:custGeom>
          <a:solidFill>
            <a:srgbClr val="C00000"/>
          </a:solidFill>
          <a:ln>
            <a:noFill/>
          </a:ln>
        </p:spPr>
      </p:sp>
      <p:sp>
        <p:nvSpPr>
          <p:cNvPr id="22" name="Rectangle 22"/>
          <p:cNvSpPr/>
          <p:nvPr/>
        </p:nvSpPr>
        <p:spPr>
          <a:xfrm>
            <a:off x="857250" y="3190875"/>
            <a:ext cx="4714875" cy="523875"/>
          </a:xfrm>
          <a:prstGeom prst="roundRect">
            <a:avLst>
              <a:gd name="adj" fmla="val 5455"/>
            </a:avLst>
          </a:prstGeom>
          <a:solidFill>
            <a:srgbClr val="FDF3EB"/>
          </a:solidFill>
          <a:ln w="9525">
            <a:solidFill>
              <a:srgbClr val="F8CBAD"/>
            </a:solidFill>
          </a:ln>
        </p:spPr>
      </p:sp>
      <p:sp>
        <p:nvSpPr>
          <p:cNvPr id="23" name="TextBox 23"/>
          <p:cNvSpPr txBox="1"/>
          <p:nvPr/>
        </p:nvSpPr>
        <p:spPr>
          <a:xfrm>
            <a:off x="2234565" y="3394710"/>
            <a:ext cx="1950720" cy="243840"/>
          </a:xfrm>
          <a:prstGeom prst="rect">
            <a:avLst/>
          </a:prstGeom>
          <a:noFill/>
          <a:ln>
            <a:noFill/>
          </a:ln>
        </p:spPr>
        <p:txBody>
          <a:bodyPr wrap="none" lIns="0" tIns="0" rIns="0" bIns="0" anchor="t" anchorCtr="0">
            <a:spAutoFit/>
          </a:bodyPr>
          <a:lstStyle/>
          <a:p>
            <a:pPr algn="ctr"/>
            <a:r>
              <a:rPr lang="zh-CN" sz="1200" dirty="0">
                <a:solidFill>
                  <a:srgbClr val="333333"/>
                </a:solidFill>
                <a:latin typeface="Arial"/>
                <a:ea typeface="Microsoft YaHei"/>
                <a:cs typeface="Arial"/>
              </a:rPr>
              <a:t>应急处置经验缺乏有效传递</a:t>
            </a:r>
          </a:p>
        </p:txBody>
      </p:sp>
      <p:sp>
        <p:nvSpPr>
          <p:cNvPr id="24" name="Polygon 24"/>
          <p:cNvSpPr/>
          <p:nvPr/>
        </p:nvSpPr>
        <p:spPr>
          <a:xfrm>
            <a:off x="3019425" y="3810000"/>
            <a:ext cx="381000" cy="190500"/>
          </a:xfrm>
          <a:custGeom>
            <a:avLst/>
            <a:gdLst/>
            <a:ahLst/>
            <a:cxnLst/>
            <a:rect l="l" t="t" r="r" b="b"/>
            <a:pathLst>
              <a:path w="381000" h="190500">
                <a:moveTo>
                  <a:pt x="190500" y="0"/>
                </a:moveTo>
                <a:lnTo>
                  <a:pt x="381000" y="95250"/>
                </a:lnTo>
                <a:lnTo>
                  <a:pt x="190500" y="190500"/>
                </a:lnTo>
                <a:lnTo>
                  <a:pt x="0" y="95250"/>
                </a:lnTo>
                <a:close/>
              </a:path>
            </a:pathLst>
          </a:custGeom>
          <a:solidFill>
            <a:srgbClr val="C00000"/>
          </a:solidFill>
          <a:ln>
            <a:noFill/>
          </a:ln>
        </p:spPr>
      </p:sp>
      <p:sp>
        <p:nvSpPr>
          <p:cNvPr id="25" name="Rectangle 25"/>
          <p:cNvSpPr/>
          <p:nvPr/>
        </p:nvSpPr>
        <p:spPr>
          <a:xfrm>
            <a:off x="857250" y="4095750"/>
            <a:ext cx="4714875" cy="523875"/>
          </a:xfrm>
          <a:prstGeom prst="roundRect">
            <a:avLst>
              <a:gd name="adj" fmla="val 5455"/>
            </a:avLst>
          </a:prstGeom>
          <a:solidFill>
            <a:srgbClr val="FDF3EB"/>
          </a:solidFill>
          <a:ln w="9525">
            <a:solidFill>
              <a:srgbClr val="F8CBAD"/>
            </a:solidFill>
          </a:ln>
        </p:spPr>
      </p:sp>
      <p:sp>
        <p:nvSpPr>
          <p:cNvPr id="26" name="TextBox 26"/>
          <p:cNvSpPr txBox="1"/>
          <p:nvPr/>
        </p:nvSpPr>
        <p:spPr>
          <a:xfrm>
            <a:off x="2474595" y="4299585"/>
            <a:ext cx="1470660" cy="243840"/>
          </a:xfrm>
          <a:prstGeom prst="rect">
            <a:avLst/>
          </a:prstGeom>
          <a:noFill/>
          <a:ln>
            <a:noFill/>
          </a:ln>
        </p:spPr>
        <p:txBody>
          <a:bodyPr wrap="none" lIns="0" tIns="0" rIns="0" bIns="0" anchor="t" anchorCtr="0">
            <a:spAutoFit/>
          </a:bodyPr>
          <a:lstStyle/>
          <a:p>
            <a:pPr algn="ctr"/>
            <a:r>
              <a:rPr lang="zh-CN" sz="1200" dirty="0">
                <a:solidFill>
                  <a:srgbClr val="333333"/>
                </a:solidFill>
                <a:latin typeface="Arial"/>
                <a:ea typeface="Microsoft YaHei"/>
                <a:cs typeface="Arial"/>
              </a:rPr>
              <a:t>应急手工操作占比高</a:t>
            </a:r>
          </a:p>
        </p:txBody>
      </p:sp>
      <p:sp>
        <p:nvSpPr>
          <p:cNvPr id="27" name="Polygon 27"/>
          <p:cNvSpPr/>
          <p:nvPr/>
        </p:nvSpPr>
        <p:spPr>
          <a:xfrm>
            <a:off x="3019425" y="4714875"/>
            <a:ext cx="381000" cy="190500"/>
          </a:xfrm>
          <a:custGeom>
            <a:avLst/>
            <a:gdLst/>
            <a:ahLst/>
            <a:cxnLst/>
            <a:rect l="l" t="t" r="r" b="b"/>
            <a:pathLst>
              <a:path w="381000" h="190500">
                <a:moveTo>
                  <a:pt x="190500" y="0"/>
                </a:moveTo>
                <a:lnTo>
                  <a:pt x="381000" y="95250"/>
                </a:lnTo>
                <a:lnTo>
                  <a:pt x="190500" y="190500"/>
                </a:lnTo>
                <a:lnTo>
                  <a:pt x="0" y="95250"/>
                </a:lnTo>
                <a:close/>
              </a:path>
            </a:pathLst>
          </a:custGeom>
          <a:solidFill>
            <a:srgbClr val="C00000"/>
          </a:solidFill>
          <a:ln>
            <a:noFill/>
          </a:ln>
        </p:spPr>
      </p:sp>
      <p:sp>
        <p:nvSpPr>
          <p:cNvPr id="28" name="Rectangle 28"/>
          <p:cNvSpPr/>
          <p:nvPr/>
        </p:nvSpPr>
        <p:spPr>
          <a:xfrm>
            <a:off x="857250" y="5000625"/>
            <a:ext cx="4714875" cy="523875"/>
          </a:xfrm>
          <a:prstGeom prst="roundRect">
            <a:avLst>
              <a:gd name="adj" fmla="val 5455"/>
            </a:avLst>
          </a:prstGeom>
          <a:solidFill>
            <a:srgbClr val="C00000"/>
          </a:solidFill>
          <a:ln>
            <a:noFill/>
          </a:ln>
        </p:spPr>
      </p:sp>
      <p:sp>
        <p:nvSpPr>
          <p:cNvPr id="29" name="TextBox 29"/>
          <p:cNvSpPr txBox="1"/>
          <p:nvPr/>
        </p:nvSpPr>
        <p:spPr>
          <a:xfrm>
            <a:off x="2438590" y="5204460"/>
            <a:ext cx="1542669" cy="243840"/>
          </a:xfrm>
          <a:prstGeom prst="rect">
            <a:avLst/>
          </a:prstGeom>
          <a:noFill/>
          <a:ln>
            <a:noFill/>
          </a:ln>
        </p:spPr>
        <p:txBody>
          <a:bodyPr wrap="none" lIns="0" tIns="0" rIns="0" bIns="0" anchor="t" anchorCtr="0">
            <a:spAutoFit/>
          </a:bodyPr>
          <a:lstStyle/>
          <a:p>
            <a:pPr algn="ctr"/>
            <a:r>
              <a:rPr lang="zh-CN" sz="1200" b="1" dirty="0">
                <a:solidFill>
                  <a:srgbClr val="FFFFFF"/>
                </a:solidFill>
                <a:latin typeface="Arial"/>
                <a:ea typeface="Microsoft YaHei"/>
                <a:cs typeface="Arial"/>
              </a:rPr>
              <a:t>自动化能力有待完善</a:t>
            </a:r>
          </a:p>
        </p:txBody>
      </p:sp>
      <p:sp>
        <p:nvSpPr>
          <p:cNvPr id="30" name="Rectangle 30"/>
          <p:cNvSpPr/>
          <p:nvPr/>
        </p:nvSpPr>
        <p:spPr>
          <a:xfrm>
            <a:off x="6334125" y="1619250"/>
            <a:ext cx="5286375" cy="4572000"/>
          </a:xfrm>
          <a:prstGeom prst="roundRect">
            <a:avLst>
              <a:gd name="adj" fmla="val 833"/>
            </a:avLst>
          </a:prstGeom>
          <a:solidFill>
            <a:srgbClr val="FFFFFF"/>
          </a:solidFill>
          <a:ln w="19050">
            <a:solidFill>
              <a:srgbClr val="E7E6E6"/>
            </a:solidFill>
          </a:ln>
        </p:spPr>
      </p:sp>
      <p:sp>
        <p:nvSpPr>
          <p:cNvPr id="31" name="Rectangle 31"/>
          <p:cNvSpPr/>
          <p:nvPr/>
        </p:nvSpPr>
        <p:spPr>
          <a:xfrm>
            <a:off x="6334125" y="1619250"/>
            <a:ext cx="5286375" cy="428625"/>
          </a:xfrm>
          <a:prstGeom prst="roundRect">
            <a:avLst>
              <a:gd name="adj" fmla="val 8889"/>
            </a:avLst>
          </a:prstGeom>
          <a:solidFill>
            <a:srgbClr val="2E75B6"/>
          </a:solidFill>
          <a:ln>
            <a:noFill/>
          </a:ln>
        </p:spPr>
      </p:sp>
      <p:sp>
        <p:nvSpPr>
          <p:cNvPr id="32" name="Rectangle 32"/>
          <p:cNvSpPr/>
          <p:nvPr/>
        </p:nvSpPr>
        <p:spPr>
          <a:xfrm>
            <a:off x="6334125" y="2009775"/>
            <a:ext cx="5286375" cy="38100"/>
          </a:xfrm>
          <a:prstGeom prst="rect">
            <a:avLst/>
          </a:prstGeom>
          <a:solidFill>
            <a:srgbClr val="2E75B6"/>
          </a:solidFill>
          <a:ln>
            <a:noFill/>
          </a:ln>
        </p:spPr>
      </p:sp>
      <p:sp>
        <p:nvSpPr>
          <p:cNvPr id="33" name="TextBox 33"/>
          <p:cNvSpPr txBox="1"/>
          <p:nvPr/>
        </p:nvSpPr>
        <p:spPr>
          <a:xfrm>
            <a:off x="8374023" y="1726882"/>
            <a:ext cx="1197054" cy="335280"/>
          </a:xfrm>
          <a:prstGeom prst="rect">
            <a:avLst/>
          </a:prstGeom>
          <a:noFill/>
          <a:ln>
            <a:noFill/>
          </a:ln>
        </p:spPr>
        <p:txBody>
          <a:bodyPr wrap="none" lIns="0" tIns="0" rIns="0" bIns="0" anchor="t" anchorCtr="0">
            <a:spAutoFit/>
          </a:bodyPr>
          <a:lstStyle/>
          <a:p>
            <a:pPr algn="ctr"/>
            <a:r>
              <a:rPr lang="zh-CN" sz="1650" b="1" dirty="0">
                <a:solidFill>
                  <a:srgbClr val="FFFFFF"/>
                </a:solidFill>
                <a:latin typeface="Arial"/>
                <a:ea typeface="Microsoft YaHei"/>
                <a:cs typeface="Arial"/>
              </a:rPr>
              <a:t>开发侧困境</a:t>
            </a:r>
          </a:p>
        </p:txBody>
      </p:sp>
      <p:sp>
        <p:nvSpPr>
          <p:cNvPr id="34" name="Rectangle 34"/>
          <p:cNvSpPr/>
          <p:nvPr/>
        </p:nvSpPr>
        <p:spPr>
          <a:xfrm>
            <a:off x="6619875" y="2286000"/>
            <a:ext cx="4714875" cy="523875"/>
          </a:xfrm>
          <a:prstGeom prst="roundRect">
            <a:avLst>
              <a:gd name="adj" fmla="val 5455"/>
            </a:avLst>
          </a:prstGeom>
          <a:solidFill>
            <a:srgbClr val="F2F2F2"/>
          </a:solidFill>
          <a:ln w="9525">
            <a:solidFill>
              <a:srgbClr val="D9D9D9"/>
            </a:solidFill>
          </a:ln>
        </p:spPr>
      </p:sp>
      <p:sp>
        <p:nvSpPr>
          <p:cNvPr id="35" name="TextBox 35"/>
          <p:cNvSpPr txBox="1"/>
          <p:nvPr/>
        </p:nvSpPr>
        <p:spPr>
          <a:xfrm>
            <a:off x="8237220" y="2489835"/>
            <a:ext cx="1470660" cy="243840"/>
          </a:xfrm>
          <a:prstGeom prst="rect">
            <a:avLst/>
          </a:prstGeom>
          <a:noFill/>
          <a:ln>
            <a:noFill/>
          </a:ln>
        </p:spPr>
        <p:txBody>
          <a:bodyPr wrap="none" lIns="0" tIns="0" rIns="0" bIns="0" anchor="t" anchorCtr="0">
            <a:spAutoFit/>
          </a:bodyPr>
          <a:lstStyle/>
          <a:p>
            <a:pPr algn="ctr"/>
            <a:r>
              <a:rPr lang="zh-CN" sz="1200" dirty="0">
                <a:solidFill>
                  <a:srgbClr val="333333"/>
                </a:solidFill>
                <a:latin typeface="Arial"/>
                <a:ea typeface="Microsoft YaHei"/>
                <a:cs typeface="Arial"/>
              </a:rPr>
              <a:t>应急分析工具不完善</a:t>
            </a:r>
          </a:p>
        </p:txBody>
      </p:sp>
      <p:sp>
        <p:nvSpPr>
          <p:cNvPr id="36" name="Polygon 36"/>
          <p:cNvSpPr/>
          <p:nvPr/>
        </p:nvSpPr>
        <p:spPr>
          <a:xfrm>
            <a:off x="8782050" y="2905125"/>
            <a:ext cx="381000" cy="190500"/>
          </a:xfrm>
          <a:custGeom>
            <a:avLst/>
            <a:gdLst/>
            <a:ahLst/>
            <a:cxnLst/>
            <a:rect l="l" t="t" r="r" b="b"/>
            <a:pathLst>
              <a:path w="381000" h="190500">
                <a:moveTo>
                  <a:pt x="190500" y="0"/>
                </a:moveTo>
                <a:lnTo>
                  <a:pt x="381000" y="95250"/>
                </a:lnTo>
                <a:lnTo>
                  <a:pt x="190500" y="190500"/>
                </a:lnTo>
                <a:lnTo>
                  <a:pt x="0" y="95250"/>
                </a:lnTo>
                <a:close/>
              </a:path>
            </a:pathLst>
          </a:custGeom>
          <a:solidFill>
            <a:srgbClr val="2E75B6"/>
          </a:solidFill>
          <a:ln>
            <a:noFill/>
          </a:ln>
        </p:spPr>
      </p:sp>
      <p:sp>
        <p:nvSpPr>
          <p:cNvPr id="37" name="Rectangle 37"/>
          <p:cNvSpPr/>
          <p:nvPr/>
        </p:nvSpPr>
        <p:spPr>
          <a:xfrm>
            <a:off x="6619875" y="3190875"/>
            <a:ext cx="4714875" cy="523875"/>
          </a:xfrm>
          <a:prstGeom prst="roundRect">
            <a:avLst>
              <a:gd name="adj" fmla="val 5455"/>
            </a:avLst>
          </a:prstGeom>
          <a:solidFill>
            <a:srgbClr val="F2F2F2"/>
          </a:solidFill>
          <a:ln w="9525">
            <a:solidFill>
              <a:srgbClr val="D9D9D9"/>
            </a:solidFill>
          </a:ln>
        </p:spPr>
      </p:sp>
      <p:sp>
        <p:nvSpPr>
          <p:cNvPr id="38" name="TextBox 38"/>
          <p:cNvSpPr txBox="1"/>
          <p:nvPr/>
        </p:nvSpPr>
        <p:spPr>
          <a:xfrm>
            <a:off x="8317230" y="3394710"/>
            <a:ext cx="1310640" cy="243840"/>
          </a:xfrm>
          <a:prstGeom prst="rect">
            <a:avLst/>
          </a:prstGeom>
          <a:noFill/>
          <a:ln>
            <a:noFill/>
          </a:ln>
        </p:spPr>
        <p:txBody>
          <a:bodyPr wrap="none" lIns="0" tIns="0" rIns="0" bIns="0" anchor="t" anchorCtr="0">
            <a:spAutoFit/>
          </a:bodyPr>
          <a:lstStyle/>
          <a:p>
            <a:pPr algn="ctr"/>
            <a:r>
              <a:rPr lang="zh-CN" sz="1200" dirty="0">
                <a:solidFill>
                  <a:srgbClr val="333333"/>
                </a:solidFill>
                <a:latin typeface="Arial"/>
                <a:ea typeface="Microsoft YaHei"/>
                <a:cs typeface="Arial"/>
              </a:rPr>
              <a:t>日志依赖运维查询</a:t>
            </a:r>
          </a:p>
        </p:txBody>
      </p:sp>
      <p:sp>
        <p:nvSpPr>
          <p:cNvPr id="39" name="Polygon 39"/>
          <p:cNvSpPr/>
          <p:nvPr/>
        </p:nvSpPr>
        <p:spPr>
          <a:xfrm>
            <a:off x="8782050" y="3810000"/>
            <a:ext cx="381000" cy="190500"/>
          </a:xfrm>
          <a:custGeom>
            <a:avLst/>
            <a:gdLst/>
            <a:ahLst/>
            <a:cxnLst/>
            <a:rect l="l" t="t" r="r" b="b"/>
            <a:pathLst>
              <a:path w="381000" h="190500">
                <a:moveTo>
                  <a:pt x="190500" y="0"/>
                </a:moveTo>
                <a:lnTo>
                  <a:pt x="381000" y="95250"/>
                </a:lnTo>
                <a:lnTo>
                  <a:pt x="190500" y="190500"/>
                </a:lnTo>
                <a:lnTo>
                  <a:pt x="0" y="95250"/>
                </a:lnTo>
                <a:close/>
              </a:path>
            </a:pathLst>
          </a:custGeom>
          <a:solidFill>
            <a:srgbClr val="2E75B6"/>
          </a:solidFill>
          <a:ln>
            <a:noFill/>
          </a:ln>
        </p:spPr>
      </p:sp>
      <p:sp>
        <p:nvSpPr>
          <p:cNvPr id="40" name="Rectangle 40"/>
          <p:cNvSpPr/>
          <p:nvPr/>
        </p:nvSpPr>
        <p:spPr>
          <a:xfrm>
            <a:off x="6619875" y="4095750"/>
            <a:ext cx="4714875" cy="523875"/>
          </a:xfrm>
          <a:prstGeom prst="roundRect">
            <a:avLst>
              <a:gd name="adj" fmla="val 5455"/>
            </a:avLst>
          </a:prstGeom>
          <a:solidFill>
            <a:srgbClr val="F2F2F2"/>
          </a:solidFill>
          <a:ln w="9525">
            <a:solidFill>
              <a:srgbClr val="D9D9D9"/>
            </a:solidFill>
          </a:ln>
        </p:spPr>
      </p:sp>
      <p:sp>
        <p:nvSpPr>
          <p:cNvPr id="41" name="TextBox 41"/>
          <p:cNvSpPr txBox="1"/>
          <p:nvPr/>
        </p:nvSpPr>
        <p:spPr>
          <a:xfrm>
            <a:off x="8237220" y="4299585"/>
            <a:ext cx="1470660" cy="243840"/>
          </a:xfrm>
          <a:prstGeom prst="rect">
            <a:avLst/>
          </a:prstGeom>
          <a:noFill/>
          <a:ln>
            <a:noFill/>
          </a:ln>
        </p:spPr>
        <p:txBody>
          <a:bodyPr wrap="none" lIns="0" tIns="0" rIns="0" bIns="0" anchor="t" anchorCtr="0">
            <a:spAutoFit/>
          </a:bodyPr>
          <a:lstStyle/>
          <a:p>
            <a:pPr algn="ctr"/>
            <a:r>
              <a:rPr lang="zh-CN" sz="1200" dirty="0">
                <a:solidFill>
                  <a:srgbClr val="333333"/>
                </a:solidFill>
                <a:latin typeface="Arial"/>
                <a:ea typeface="Microsoft YaHei"/>
                <a:cs typeface="Arial"/>
              </a:rPr>
              <a:t>故障排查沟通成本高</a:t>
            </a:r>
          </a:p>
        </p:txBody>
      </p:sp>
      <p:sp>
        <p:nvSpPr>
          <p:cNvPr id="42" name="Polygon 42"/>
          <p:cNvSpPr/>
          <p:nvPr/>
        </p:nvSpPr>
        <p:spPr>
          <a:xfrm>
            <a:off x="8782050" y="4714875"/>
            <a:ext cx="381000" cy="190500"/>
          </a:xfrm>
          <a:custGeom>
            <a:avLst/>
            <a:gdLst/>
            <a:ahLst/>
            <a:cxnLst/>
            <a:rect l="l" t="t" r="r" b="b"/>
            <a:pathLst>
              <a:path w="381000" h="190500">
                <a:moveTo>
                  <a:pt x="190500" y="0"/>
                </a:moveTo>
                <a:lnTo>
                  <a:pt x="381000" y="95250"/>
                </a:lnTo>
                <a:lnTo>
                  <a:pt x="190500" y="190500"/>
                </a:lnTo>
                <a:lnTo>
                  <a:pt x="0" y="95250"/>
                </a:lnTo>
                <a:close/>
              </a:path>
            </a:pathLst>
          </a:custGeom>
          <a:solidFill>
            <a:srgbClr val="2E75B6"/>
          </a:solidFill>
          <a:ln>
            <a:noFill/>
          </a:ln>
        </p:spPr>
      </p:sp>
      <p:sp>
        <p:nvSpPr>
          <p:cNvPr id="43" name="Rectangle 43"/>
          <p:cNvSpPr/>
          <p:nvPr/>
        </p:nvSpPr>
        <p:spPr>
          <a:xfrm>
            <a:off x="6619875" y="5000625"/>
            <a:ext cx="4714875" cy="523875"/>
          </a:xfrm>
          <a:prstGeom prst="roundRect">
            <a:avLst>
              <a:gd name="adj" fmla="val 5455"/>
            </a:avLst>
          </a:prstGeom>
          <a:solidFill>
            <a:srgbClr val="2E75B6"/>
          </a:solidFill>
          <a:ln>
            <a:noFill/>
          </a:ln>
        </p:spPr>
      </p:sp>
      <p:sp>
        <p:nvSpPr>
          <p:cNvPr id="44" name="TextBox 44"/>
          <p:cNvSpPr txBox="1"/>
          <p:nvPr/>
        </p:nvSpPr>
        <p:spPr>
          <a:xfrm>
            <a:off x="8201216" y="5204460"/>
            <a:ext cx="1542669" cy="243840"/>
          </a:xfrm>
          <a:prstGeom prst="rect">
            <a:avLst/>
          </a:prstGeom>
          <a:noFill/>
          <a:ln>
            <a:noFill/>
          </a:ln>
        </p:spPr>
        <p:txBody>
          <a:bodyPr wrap="none" lIns="0" tIns="0" rIns="0" bIns="0" anchor="t" anchorCtr="0">
            <a:spAutoFit/>
          </a:bodyPr>
          <a:lstStyle/>
          <a:p>
            <a:pPr algn="ctr"/>
            <a:r>
              <a:rPr lang="zh-CN" sz="1200" b="1" dirty="0">
                <a:solidFill>
                  <a:srgbClr val="FFFFFF"/>
                </a:solidFill>
                <a:latin typeface="Arial"/>
                <a:ea typeface="Microsoft YaHei"/>
                <a:cs typeface="Arial"/>
              </a:rPr>
              <a:t>自动化工具配套不足</a:t>
            </a:r>
          </a:p>
        </p:txBody>
      </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38100"/>
          </a:xfrm>
          <a:prstGeom prst="rect">
            <a:avLst/>
          </a:prstGeom>
          <a:solidFill>
            <a:srgbClr val="C00000"/>
          </a:solidFill>
          <a:ln>
            <a:noFill/>
          </a:ln>
        </p:spPr>
      </p:sp>
      <p:sp>
        <p:nvSpPr>
          <p:cNvPr id="4" name="Rectangle 4"/>
          <p:cNvSpPr/>
          <p:nvPr/>
        </p:nvSpPr>
        <p:spPr>
          <a:xfrm>
            <a:off x="0" y="38100"/>
            <a:ext cx="12192000" cy="723900"/>
          </a:xfrm>
          <a:prstGeom prst="rect">
            <a:avLst/>
          </a:prstGeom>
          <a:solidFill>
            <a:srgbClr val="FFFFFF"/>
          </a:solidFill>
          <a:ln>
            <a:noFill/>
          </a:ln>
        </p:spPr>
      </p:sp>
      <p:sp>
        <p:nvSpPr>
          <p:cNvPr id="5" name="Line 5"/>
          <p:cNvSpPr/>
          <p:nvPr/>
        </p:nvSpPr>
        <p:spPr>
          <a:xfrm>
            <a:off x="0" y="762000"/>
            <a:ext cx="12192000" cy="9525"/>
          </a:xfrm>
          <a:custGeom>
            <a:avLst/>
            <a:gdLst/>
            <a:ahLst/>
            <a:cxnLst/>
            <a:rect l="l" t="t" r="r" b="b"/>
            <a:pathLst>
              <a:path w="12192000" h="9525">
                <a:moveTo>
                  <a:pt x="0" y="0"/>
                </a:moveTo>
                <a:lnTo>
                  <a:pt x="12192000" y="0"/>
                </a:lnTo>
              </a:path>
            </a:pathLst>
          </a:custGeom>
          <a:noFill/>
          <a:ln w="9525">
            <a:solidFill>
              <a:srgbClr val="E7E6E6"/>
            </a:solidFill>
          </a:ln>
        </p:spPr>
      </p:sp>
      <p:sp>
        <p:nvSpPr>
          <p:cNvPr id="6" name="Rectangle 6"/>
          <p:cNvSpPr/>
          <p:nvPr/>
        </p:nvSpPr>
        <p:spPr>
          <a:xfrm>
            <a:off x="476250" y="190500"/>
            <a:ext cx="76200" cy="381000"/>
          </a:xfrm>
          <a:prstGeom prst="rect">
            <a:avLst/>
          </a:prstGeom>
          <a:solidFill>
            <a:srgbClr val="C00000"/>
          </a:solidFill>
          <a:ln>
            <a:noFill/>
          </a:ln>
        </p:spPr>
      </p:sp>
      <p:sp>
        <p:nvSpPr>
          <p:cNvPr id="7" name="TextBox 7"/>
          <p:cNvSpPr txBox="1"/>
          <p:nvPr/>
        </p:nvSpPr>
        <p:spPr>
          <a:xfrm>
            <a:off x="655320" y="236220"/>
            <a:ext cx="5488038" cy="487680"/>
          </a:xfrm>
          <a:prstGeom prst="rect">
            <a:avLst/>
          </a:prstGeom>
          <a:noFill/>
          <a:ln>
            <a:noFill/>
          </a:ln>
        </p:spPr>
        <p:txBody>
          <a:bodyPr wrap="none" lIns="0" tIns="0" rIns="0" bIns="0" anchor="t" anchorCtr="0">
            <a:spAutoFit/>
          </a:bodyPr>
          <a:lstStyle/>
          <a:p>
            <a:pPr algn="l"/>
            <a:r>
              <a:rPr lang="zh-CN" sz="2400" b="1" dirty="0">
                <a:solidFill>
                  <a:srgbClr val="000000"/>
                </a:solidFill>
                <a:latin typeface="Arial"/>
                <a:ea typeface="Microsoft YaHei"/>
                <a:cs typeface="Arial"/>
              </a:rPr>
              <a:t>痛点二 &amp; 三：流程断层与复盘不闭环</a:t>
            </a:r>
          </a:p>
        </p:txBody>
      </p:sp>
      <p:sp>
        <p:nvSpPr>
          <p:cNvPr id="8" name="Rectangle 8"/>
          <p:cNvSpPr/>
          <p:nvPr/>
        </p:nvSpPr>
        <p:spPr>
          <a:xfrm>
            <a:off x="0" y="6477000"/>
            <a:ext cx="12192000" cy="381000"/>
          </a:xfrm>
          <a:prstGeom prst="rect">
            <a:avLst/>
          </a:prstGeom>
          <a:solidFill>
            <a:srgbClr val="F2F2F2"/>
          </a:solidFill>
          <a:ln>
            <a:noFill/>
          </a:ln>
        </p:spPr>
      </p:sp>
      <p:sp>
        <p:nvSpPr>
          <p:cNvPr id="9" name="Rectangle 9"/>
          <p:cNvSpPr/>
          <p:nvPr/>
        </p:nvSpPr>
        <p:spPr>
          <a:xfrm>
            <a:off x="0" y="6477000"/>
            <a:ext cx="38100" cy="381000"/>
          </a:xfrm>
          <a:prstGeom prst="rect">
            <a:avLst/>
          </a:prstGeom>
          <a:solidFill>
            <a:srgbClr val="C00000"/>
          </a:solidFill>
          <a:ln>
            <a:noFill/>
          </a:ln>
        </p:spPr>
      </p:sp>
      <p:sp>
        <p:nvSpPr>
          <p:cNvPr id="10" name="TextBox 10"/>
          <p:cNvSpPr txBox="1"/>
          <p:nvPr/>
        </p:nvSpPr>
        <p:spPr>
          <a:xfrm>
            <a:off x="558165" y="6611302"/>
            <a:ext cx="1006792" cy="213360"/>
          </a:xfrm>
          <a:prstGeom prst="rect">
            <a:avLst/>
          </a:prstGeom>
          <a:noFill/>
          <a:ln>
            <a:noFill/>
          </a:ln>
        </p:spPr>
        <p:txBody>
          <a:bodyPr wrap="none" lIns="0" tIns="0" rIns="0" bIns="0" anchor="t" anchorCtr="0">
            <a:spAutoFit/>
          </a:bodyPr>
          <a:lstStyle/>
          <a:p>
            <a:pPr algn="l"/>
            <a:r>
              <a:rPr lang="zh-CN" sz="1050" dirty="0">
                <a:solidFill>
                  <a:srgbClr val="666666"/>
                </a:solidFill>
                <a:latin typeface="Arial"/>
                <a:ea typeface="Microsoft YaHei"/>
                <a:cs typeface="Arial"/>
              </a:rPr>
              <a:t>背景与痛点分析</a:t>
            </a:r>
          </a:p>
        </p:txBody>
      </p:sp>
      <p:sp>
        <p:nvSpPr>
          <p:cNvPr id="11" name="Rectangle 11"/>
          <p:cNvSpPr/>
          <p:nvPr/>
        </p:nvSpPr>
        <p:spPr>
          <a:xfrm>
            <a:off x="11525250" y="6553200"/>
            <a:ext cx="285750" cy="228600"/>
          </a:xfrm>
          <a:prstGeom prst="rect">
            <a:avLst/>
          </a:prstGeom>
          <a:solidFill>
            <a:srgbClr val="C00000"/>
          </a:solidFill>
          <a:ln>
            <a:noFill/>
          </a:ln>
        </p:spPr>
      </p:sp>
      <p:sp>
        <p:nvSpPr>
          <p:cNvPr id="12" name="TextBox 12"/>
          <p:cNvSpPr txBox="1"/>
          <p:nvPr/>
        </p:nvSpPr>
        <p:spPr>
          <a:xfrm>
            <a:off x="11614360" y="6611302"/>
            <a:ext cx="107530"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Arial"/>
                <a:ea typeface="Microsoft YaHei"/>
                <a:cs typeface="Arial"/>
              </a:rPr>
              <a:t>5</a:t>
            </a:r>
          </a:p>
        </p:txBody>
      </p:sp>
      <p:sp>
        <p:nvSpPr>
          <p:cNvPr id="13" name="Rectangle 13"/>
          <p:cNvSpPr/>
          <p:nvPr/>
        </p:nvSpPr>
        <p:spPr>
          <a:xfrm>
            <a:off x="571500" y="1047750"/>
            <a:ext cx="5286375" cy="5143500"/>
          </a:xfrm>
          <a:prstGeom prst="roundRect">
            <a:avLst>
              <a:gd name="adj" fmla="val 741"/>
            </a:avLst>
          </a:prstGeom>
          <a:solidFill>
            <a:srgbClr val="FFFFFF"/>
          </a:solidFill>
          <a:ln w="19050">
            <a:solidFill>
              <a:srgbClr val="E7E6E6"/>
            </a:solidFill>
          </a:ln>
        </p:spPr>
      </p:sp>
      <p:sp>
        <p:nvSpPr>
          <p:cNvPr id="14" name="Rectangle 14"/>
          <p:cNvSpPr/>
          <p:nvPr/>
        </p:nvSpPr>
        <p:spPr>
          <a:xfrm>
            <a:off x="571500" y="1047750"/>
            <a:ext cx="5286375" cy="476250"/>
          </a:xfrm>
          <a:prstGeom prst="roundRect">
            <a:avLst>
              <a:gd name="adj" fmla="val 8000"/>
            </a:avLst>
          </a:prstGeom>
          <a:solidFill>
            <a:srgbClr val="2E75B6"/>
          </a:solidFill>
          <a:ln>
            <a:noFill/>
          </a:ln>
        </p:spPr>
      </p:sp>
      <p:sp>
        <p:nvSpPr>
          <p:cNvPr id="15" name="TextBox 15"/>
          <p:cNvSpPr txBox="1"/>
          <p:nvPr/>
        </p:nvSpPr>
        <p:spPr>
          <a:xfrm>
            <a:off x="2178939" y="1158240"/>
            <a:ext cx="2061972" cy="365760"/>
          </a:xfrm>
          <a:prstGeom prst="rect">
            <a:avLst/>
          </a:prstGeom>
          <a:noFill/>
          <a:ln>
            <a:noFill/>
          </a:ln>
        </p:spPr>
        <p:txBody>
          <a:bodyPr wrap="none" lIns="0" tIns="0" rIns="0" bIns="0" anchor="t" anchorCtr="0">
            <a:spAutoFit/>
          </a:bodyPr>
          <a:lstStyle/>
          <a:p>
            <a:pPr algn="ctr"/>
            <a:r>
              <a:rPr lang="zh-CN" sz="1800" b="1" dirty="0">
                <a:solidFill>
                  <a:srgbClr val="FFFFFF"/>
                </a:solidFill>
                <a:latin typeface="Arial"/>
                <a:ea typeface="Microsoft YaHei"/>
                <a:cs typeface="Arial"/>
              </a:rPr>
              <a:t>痛点二：流程断层</a:t>
            </a:r>
          </a:p>
        </p:txBody>
      </p:sp>
      <p:sp>
        <p:nvSpPr>
          <p:cNvPr id="16" name="TextBox 16"/>
          <p:cNvSpPr txBox="1"/>
          <p:nvPr/>
        </p:nvSpPr>
        <p:spPr>
          <a:xfrm>
            <a:off x="842010" y="1727835"/>
            <a:ext cx="1038606" cy="243840"/>
          </a:xfrm>
          <a:prstGeom prst="rect">
            <a:avLst/>
          </a:prstGeom>
          <a:noFill/>
          <a:ln>
            <a:noFill/>
          </a:ln>
        </p:spPr>
        <p:txBody>
          <a:bodyPr wrap="none" lIns="0" tIns="0" rIns="0" bIns="0" anchor="t" anchorCtr="0">
            <a:spAutoFit/>
          </a:bodyPr>
          <a:lstStyle/>
          <a:p>
            <a:pPr algn="l"/>
            <a:r>
              <a:rPr lang="zh-CN" sz="1200" b="1" dirty="0">
                <a:solidFill>
                  <a:srgbClr val="C00000"/>
                </a:solidFill>
                <a:latin typeface="Arial"/>
                <a:ea typeface="Microsoft YaHei"/>
                <a:cs typeface="Arial"/>
              </a:rPr>
              <a:t>当前应急流程</a:t>
            </a:r>
          </a:p>
        </p:txBody>
      </p:sp>
      <p:sp>
        <p:nvSpPr>
          <p:cNvPr id="17" name="Rectangle 17"/>
          <p:cNvSpPr/>
          <p:nvPr/>
        </p:nvSpPr>
        <p:spPr>
          <a:xfrm>
            <a:off x="1428750" y="2095500"/>
            <a:ext cx="3619500" cy="428625"/>
          </a:xfrm>
          <a:prstGeom prst="roundRect">
            <a:avLst>
              <a:gd name="adj" fmla="val 48889"/>
            </a:avLst>
          </a:prstGeom>
          <a:solidFill>
            <a:srgbClr val="5B9BD5"/>
          </a:solidFill>
          <a:ln>
            <a:noFill/>
          </a:ln>
        </p:spPr>
      </p:sp>
      <p:sp>
        <p:nvSpPr>
          <p:cNvPr id="18" name="TextBox 18"/>
          <p:cNvSpPr txBox="1"/>
          <p:nvPr/>
        </p:nvSpPr>
        <p:spPr>
          <a:xfrm>
            <a:off x="2118522" y="2242185"/>
            <a:ext cx="2239956" cy="243840"/>
          </a:xfrm>
          <a:prstGeom prst="rect">
            <a:avLst/>
          </a:prstGeom>
          <a:noFill/>
          <a:ln>
            <a:noFill/>
          </a:ln>
        </p:spPr>
        <p:txBody>
          <a:bodyPr wrap="none" lIns="0" tIns="0" rIns="0" bIns="0" anchor="t" anchorCtr="0">
            <a:spAutoFit/>
          </a:bodyPr>
          <a:lstStyle/>
          <a:p>
            <a:pPr algn="ctr"/>
            <a:r>
              <a:rPr lang="zh-CN" sz="1200" b="1" dirty="0">
                <a:solidFill>
                  <a:srgbClr val="FFFFFF"/>
                </a:solidFill>
                <a:latin typeface="Arial"/>
                <a:ea typeface="Microsoft YaHei"/>
                <a:cs typeface="Arial"/>
              </a:rPr>
              <a:t>故障发生 → 依赖个人经验判断</a:t>
            </a:r>
          </a:p>
        </p:txBody>
      </p:sp>
      <p:sp>
        <p:nvSpPr>
          <p:cNvPr id="19" name="Line 19"/>
          <p:cNvSpPr/>
          <p:nvPr/>
        </p:nvSpPr>
        <p:spPr>
          <a:xfrm>
            <a:off x="3238500" y="2524125"/>
            <a:ext cx="9525" cy="285750"/>
          </a:xfrm>
          <a:custGeom>
            <a:avLst/>
            <a:gdLst/>
            <a:ahLst/>
            <a:cxnLst/>
            <a:rect l="l" t="t" r="r" b="b"/>
            <a:pathLst>
              <a:path w="9525" h="285750">
                <a:moveTo>
                  <a:pt x="0" y="0"/>
                </a:moveTo>
                <a:lnTo>
                  <a:pt x="0" y="285750"/>
                </a:lnTo>
              </a:path>
            </a:pathLst>
          </a:custGeom>
          <a:noFill/>
          <a:ln w="19050">
            <a:solidFill>
              <a:srgbClr val="2E75B6"/>
            </a:solidFill>
          </a:ln>
        </p:spPr>
      </p:sp>
      <p:sp>
        <p:nvSpPr>
          <p:cNvPr id="20" name="Polygon 20"/>
          <p:cNvSpPr/>
          <p:nvPr/>
        </p:nvSpPr>
        <p:spPr>
          <a:xfrm>
            <a:off x="3143250" y="2809875"/>
            <a:ext cx="190500" cy="142875"/>
          </a:xfrm>
          <a:custGeom>
            <a:avLst/>
            <a:gdLst/>
            <a:ahLst/>
            <a:cxnLst/>
            <a:rect l="l" t="t" r="r" b="b"/>
            <a:pathLst>
              <a:path w="190500" h="142875">
                <a:moveTo>
                  <a:pt x="0" y="0"/>
                </a:moveTo>
                <a:lnTo>
                  <a:pt x="95250" y="142875"/>
                </a:lnTo>
                <a:lnTo>
                  <a:pt x="190500" y="0"/>
                </a:lnTo>
                <a:close/>
              </a:path>
            </a:pathLst>
          </a:custGeom>
          <a:solidFill>
            <a:srgbClr val="2E75B6"/>
          </a:solidFill>
          <a:ln>
            <a:noFill/>
          </a:ln>
        </p:spPr>
      </p:sp>
      <p:sp>
        <p:nvSpPr>
          <p:cNvPr id="21" name="Rectangle 21"/>
          <p:cNvSpPr/>
          <p:nvPr/>
        </p:nvSpPr>
        <p:spPr>
          <a:xfrm>
            <a:off x="1428750" y="3000375"/>
            <a:ext cx="3619500" cy="428625"/>
          </a:xfrm>
          <a:prstGeom prst="roundRect">
            <a:avLst>
              <a:gd name="adj" fmla="val 48889"/>
            </a:avLst>
          </a:prstGeom>
          <a:solidFill>
            <a:srgbClr val="5B9BD5"/>
          </a:solidFill>
          <a:ln>
            <a:noFill/>
          </a:ln>
        </p:spPr>
      </p:sp>
      <p:sp>
        <p:nvSpPr>
          <p:cNvPr id="22" name="TextBox 22"/>
          <p:cNvSpPr txBox="1"/>
          <p:nvPr/>
        </p:nvSpPr>
        <p:spPr>
          <a:xfrm>
            <a:off x="2467166" y="3147060"/>
            <a:ext cx="1542669" cy="243840"/>
          </a:xfrm>
          <a:prstGeom prst="rect">
            <a:avLst/>
          </a:prstGeom>
          <a:noFill/>
          <a:ln>
            <a:noFill/>
          </a:ln>
        </p:spPr>
        <p:txBody>
          <a:bodyPr wrap="none" lIns="0" tIns="0" rIns="0" bIns="0" anchor="t" anchorCtr="0">
            <a:spAutoFit/>
          </a:bodyPr>
          <a:lstStyle/>
          <a:p>
            <a:pPr algn="ctr"/>
            <a:r>
              <a:rPr lang="zh-CN" sz="1200" b="1" dirty="0">
                <a:solidFill>
                  <a:srgbClr val="FFFFFF"/>
                </a:solidFill>
                <a:latin typeface="Arial"/>
                <a:ea typeface="Microsoft YaHei"/>
                <a:cs typeface="Arial"/>
              </a:rPr>
              <a:t>信息同步靠人工转发</a:t>
            </a:r>
          </a:p>
        </p:txBody>
      </p:sp>
      <p:sp>
        <p:nvSpPr>
          <p:cNvPr id="23" name="Line 23"/>
          <p:cNvSpPr/>
          <p:nvPr/>
        </p:nvSpPr>
        <p:spPr>
          <a:xfrm>
            <a:off x="3238500" y="3429000"/>
            <a:ext cx="9525" cy="285750"/>
          </a:xfrm>
          <a:custGeom>
            <a:avLst/>
            <a:gdLst/>
            <a:ahLst/>
            <a:cxnLst/>
            <a:rect l="l" t="t" r="r" b="b"/>
            <a:pathLst>
              <a:path w="9525" h="285750">
                <a:moveTo>
                  <a:pt x="0" y="0"/>
                </a:moveTo>
                <a:lnTo>
                  <a:pt x="0" y="285750"/>
                </a:lnTo>
              </a:path>
            </a:pathLst>
          </a:custGeom>
          <a:noFill/>
          <a:ln w="19050">
            <a:solidFill>
              <a:srgbClr val="2E75B6"/>
            </a:solidFill>
          </a:ln>
        </p:spPr>
      </p:sp>
      <p:sp>
        <p:nvSpPr>
          <p:cNvPr id="24" name="Polygon 24"/>
          <p:cNvSpPr/>
          <p:nvPr/>
        </p:nvSpPr>
        <p:spPr>
          <a:xfrm>
            <a:off x="3143250" y="3714750"/>
            <a:ext cx="190500" cy="142875"/>
          </a:xfrm>
          <a:custGeom>
            <a:avLst/>
            <a:gdLst/>
            <a:ahLst/>
            <a:cxnLst/>
            <a:rect l="l" t="t" r="r" b="b"/>
            <a:pathLst>
              <a:path w="190500" h="142875">
                <a:moveTo>
                  <a:pt x="0" y="0"/>
                </a:moveTo>
                <a:lnTo>
                  <a:pt x="95250" y="142875"/>
                </a:lnTo>
                <a:lnTo>
                  <a:pt x="190500" y="0"/>
                </a:lnTo>
                <a:close/>
              </a:path>
            </a:pathLst>
          </a:custGeom>
          <a:solidFill>
            <a:srgbClr val="2E75B6"/>
          </a:solidFill>
          <a:ln>
            <a:noFill/>
          </a:ln>
        </p:spPr>
      </p:sp>
      <p:sp>
        <p:nvSpPr>
          <p:cNvPr id="25" name="Rectangle 25"/>
          <p:cNvSpPr/>
          <p:nvPr/>
        </p:nvSpPr>
        <p:spPr>
          <a:xfrm>
            <a:off x="1428750" y="3905250"/>
            <a:ext cx="3619500" cy="428625"/>
          </a:xfrm>
          <a:prstGeom prst="roundRect">
            <a:avLst>
              <a:gd name="adj" fmla="val 48889"/>
            </a:avLst>
          </a:prstGeom>
          <a:solidFill>
            <a:srgbClr val="5B9BD5"/>
          </a:solidFill>
          <a:ln>
            <a:noFill/>
          </a:ln>
        </p:spPr>
      </p:sp>
      <p:sp>
        <p:nvSpPr>
          <p:cNvPr id="26" name="TextBox 26"/>
          <p:cNvSpPr txBox="1"/>
          <p:nvPr/>
        </p:nvSpPr>
        <p:spPr>
          <a:xfrm>
            <a:off x="2551176" y="4051935"/>
            <a:ext cx="1374648" cy="243840"/>
          </a:xfrm>
          <a:prstGeom prst="rect">
            <a:avLst/>
          </a:prstGeom>
          <a:noFill/>
          <a:ln>
            <a:noFill/>
          </a:ln>
        </p:spPr>
        <p:txBody>
          <a:bodyPr wrap="none" lIns="0" tIns="0" rIns="0" bIns="0" anchor="t" anchorCtr="0">
            <a:spAutoFit/>
          </a:bodyPr>
          <a:lstStyle/>
          <a:p>
            <a:pPr algn="ctr"/>
            <a:r>
              <a:rPr lang="zh-CN" sz="1200" b="1" dirty="0">
                <a:solidFill>
                  <a:srgbClr val="FFFFFF"/>
                </a:solidFill>
                <a:latin typeface="Arial"/>
                <a:ea typeface="Microsoft YaHei"/>
                <a:cs typeface="Arial"/>
              </a:rPr>
              <a:t>角色联动机制不足</a:t>
            </a:r>
          </a:p>
        </p:txBody>
      </p:sp>
      <p:sp>
        <p:nvSpPr>
          <p:cNvPr id="27" name="Rectangle 27"/>
          <p:cNvSpPr/>
          <p:nvPr/>
        </p:nvSpPr>
        <p:spPr>
          <a:xfrm>
            <a:off x="857250" y="4762500"/>
            <a:ext cx="4714875" cy="523875"/>
          </a:xfrm>
          <a:prstGeom prst="roundRect">
            <a:avLst>
              <a:gd name="adj" fmla="val 5455"/>
            </a:avLst>
          </a:prstGeom>
          <a:solidFill>
            <a:srgbClr val="FDF3EB"/>
          </a:solidFill>
          <a:ln w="9525">
            <a:solidFill>
              <a:srgbClr val="F8CBAD"/>
            </a:solidFill>
          </a:ln>
        </p:spPr>
      </p:sp>
      <p:sp>
        <p:nvSpPr>
          <p:cNvPr id="28" name="TextBox 28"/>
          <p:cNvSpPr txBox="1"/>
          <p:nvPr/>
        </p:nvSpPr>
        <p:spPr>
          <a:xfrm>
            <a:off x="2167461" y="4934902"/>
            <a:ext cx="2084927" cy="213360"/>
          </a:xfrm>
          <a:prstGeom prst="rect">
            <a:avLst/>
          </a:prstGeom>
          <a:noFill/>
          <a:ln>
            <a:noFill/>
          </a:ln>
        </p:spPr>
        <p:txBody>
          <a:bodyPr wrap="none" lIns="0" tIns="0" rIns="0" bIns="0" anchor="t" anchorCtr="0">
            <a:spAutoFit/>
          </a:bodyPr>
          <a:lstStyle/>
          <a:p>
            <a:pPr algn="ctr"/>
            <a:r>
              <a:rPr lang="zh-CN" sz="1050" b="1" dirty="0">
                <a:solidFill>
                  <a:srgbClr val="C00000"/>
                </a:solidFill>
                <a:latin typeface="Arial"/>
                <a:ea typeface="Microsoft YaHei"/>
                <a:cs typeface="Arial"/>
              </a:rPr>
              <a:t>后果：信息碎片化，协同效率低</a:t>
            </a:r>
          </a:p>
        </p:txBody>
      </p:sp>
      <p:sp>
        <p:nvSpPr>
          <p:cNvPr id="29" name="TextBox 29"/>
          <p:cNvSpPr txBox="1"/>
          <p:nvPr/>
        </p:nvSpPr>
        <p:spPr>
          <a:xfrm>
            <a:off x="2001393" y="5114449"/>
            <a:ext cx="2417064" cy="198120"/>
          </a:xfrm>
          <a:prstGeom prst="rect">
            <a:avLst/>
          </a:prstGeom>
          <a:noFill/>
          <a:ln>
            <a:noFill/>
          </a:ln>
        </p:spPr>
        <p:txBody>
          <a:bodyPr wrap="none" lIns="0" tIns="0" rIns="0" bIns="0" anchor="t" anchorCtr="0">
            <a:spAutoFit/>
          </a:bodyPr>
          <a:lstStyle/>
          <a:p>
            <a:pPr algn="ctr"/>
            <a:r>
              <a:rPr lang="zh-CN" sz="975" dirty="0">
                <a:solidFill>
                  <a:srgbClr val="666666"/>
                </a:solidFill>
                <a:latin typeface="Arial"/>
                <a:ea typeface="Microsoft YaHei"/>
                <a:cs typeface="Arial"/>
              </a:rPr>
              <a:t>各角色信息不同步，重复排查，MTTR延长</a:t>
            </a:r>
          </a:p>
        </p:txBody>
      </p:sp>
      <p:sp>
        <p:nvSpPr>
          <p:cNvPr id="30" name="Rectangle 30"/>
          <p:cNvSpPr/>
          <p:nvPr/>
        </p:nvSpPr>
        <p:spPr>
          <a:xfrm>
            <a:off x="6334125" y="1047750"/>
            <a:ext cx="5286375" cy="5143500"/>
          </a:xfrm>
          <a:prstGeom prst="roundRect">
            <a:avLst>
              <a:gd name="adj" fmla="val 741"/>
            </a:avLst>
          </a:prstGeom>
          <a:solidFill>
            <a:srgbClr val="FFFFFF"/>
          </a:solidFill>
          <a:ln w="19050">
            <a:solidFill>
              <a:srgbClr val="E7E6E6"/>
            </a:solidFill>
          </a:ln>
        </p:spPr>
      </p:sp>
      <p:sp>
        <p:nvSpPr>
          <p:cNvPr id="31" name="Rectangle 31"/>
          <p:cNvSpPr/>
          <p:nvPr/>
        </p:nvSpPr>
        <p:spPr>
          <a:xfrm>
            <a:off x="6334125" y="1047750"/>
            <a:ext cx="5286375" cy="476250"/>
          </a:xfrm>
          <a:prstGeom prst="roundRect">
            <a:avLst>
              <a:gd name="adj" fmla="val 8000"/>
            </a:avLst>
          </a:prstGeom>
          <a:solidFill>
            <a:srgbClr val="C00000"/>
          </a:solidFill>
          <a:ln>
            <a:noFill/>
          </a:ln>
        </p:spPr>
      </p:sp>
      <p:sp>
        <p:nvSpPr>
          <p:cNvPr id="32" name="TextBox 32"/>
          <p:cNvSpPr txBox="1"/>
          <p:nvPr/>
        </p:nvSpPr>
        <p:spPr>
          <a:xfrm>
            <a:off x="7815548" y="1158240"/>
            <a:ext cx="2314004" cy="365760"/>
          </a:xfrm>
          <a:prstGeom prst="rect">
            <a:avLst/>
          </a:prstGeom>
          <a:noFill/>
          <a:ln>
            <a:noFill/>
          </a:ln>
        </p:spPr>
        <p:txBody>
          <a:bodyPr wrap="none" lIns="0" tIns="0" rIns="0" bIns="0" anchor="t" anchorCtr="0">
            <a:spAutoFit/>
          </a:bodyPr>
          <a:lstStyle/>
          <a:p>
            <a:pPr algn="ctr"/>
            <a:r>
              <a:rPr lang="zh-CN" sz="1800" b="1" dirty="0">
                <a:solidFill>
                  <a:srgbClr val="FFFFFF"/>
                </a:solidFill>
                <a:latin typeface="Arial"/>
                <a:ea typeface="Microsoft YaHei"/>
                <a:cs typeface="Arial"/>
              </a:rPr>
              <a:t>痛点三：复盘不闭环</a:t>
            </a:r>
          </a:p>
        </p:txBody>
      </p:sp>
      <p:sp>
        <p:nvSpPr>
          <p:cNvPr id="33" name="TextBox 33"/>
          <p:cNvSpPr txBox="1"/>
          <p:nvPr/>
        </p:nvSpPr>
        <p:spPr>
          <a:xfrm>
            <a:off x="6604635" y="1727835"/>
            <a:ext cx="1038606" cy="243840"/>
          </a:xfrm>
          <a:prstGeom prst="rect">
            <a:avLst/>
          </a:prstGeom>
          <a:noFill/>
          <a:ln>
            <a:noFill/>
          </a:ln>
        </p:spPr>
        <p:txBody>
          <a:bodyPr wrap="none" lIns="0" tIns="0" rIns="0" bIns="0" anchor="t" anchorCtr="0">
            <a:spAutoFit/>
          </a:bodyPr>
          <a:lstStyle/>
          <a:p>
            <a:pPr algn="l"/>
            <a:r>
              <a:rPr lang="zh-CN" sz="1200" b="1" dirty="0">
                <a:solidFill>
                  <a:srgbClr val="C00000"/>
                </a:solidFill>
                <a:latin typeface="Arial"/>
                <a:ea typeface="Microsoft YaHei"/>
                <a:cs typeface="Arial"/>
              </a:rPr>
              <a:t>复盘循环断裂</a:t>
            </a:r>
          </a:p>
        </p:txBody>
      </p:sp>
      <p:sp>
        <p:nvSpPr>
          <p:cNvPr id="34" name="Ellipse 34"/>
          <p:cNvSpPr/>
          <p:nvPr/>
        </p:nvSpPr>
        <p:spPr>
          <a:xfrm>
            <a:off x="7639050" y="2286000"/>
            <a:ext cx="2667000" cy="2667000"/>
          </a:xfrm>
          <a:prstGeom prst="ellipse">
            <a:avLst/>
          </a:prstGeom>
          <a:noFill/>
          <a:ln w="28575">
            <a:solidFill>
              <a:srgbClr val="E7E6E6"/>
            </a:solidFill>
          </a:ln>
        </p:spPr>
      </p:sp>
      <p:sp>
        <p:nvSpPr>
          <p:cNvPr id="35" name="Ellipse 35"/>
          <p:cNvSpPr/>
          <p:nvPr/>
        </p:nvSpPr>
        <p:spPr>
          <a:xfrm>
            <a:off x="7639050" y="2286000"/>
            <a:ext cx="2667000" cy="2667000"/>
          </a:xfrm>
          <a:prstGeom prst="ellipse">
            <a:avLst/>
          </a:prstGeom>
          <a:solidFill>
            <a:srgbClr val="FDF3EB">
              <a:alpha val="50000"/>
            </a:srgbClr>
          </a:solidFill>
          <a:ln>
            <a:noFill/>
          </a:ln>
        </p:spPr>
      </p:sp>
      <p:sp>
        <p:nvSpPr>
          <p:cNvPr id="36" name="TextBox 36"/>
          <p:cNvSpPr txBox="1"/>
          <p:nvPr/>
        </p:nvSpPr>
        <p:spPr>
          <a:xfrm>
            <a:off x="8643223" y="2736056"/>
            <a:ext cx="658654" cy="228600"/>
          </a:xfrm>
          <a:prstGeom prst="rect">
            <a:avLst/>
          </a:prstGeom>
          <a:noFill/>
          <a:ln>
            <a:noFill/>
          </a:ln>
        </p:spPr>
        <p:txBody>
          <a:bodyPr wrap="none" lIns="0" tIns="0" rIns="0" bIns="0" anchor="t" anchorCtr="0">
            <a:spAutoFit/>
          </a:bodyPr>
          <a:lstStyle/>
          <a:p>
            <a:pPr algn="ctr"/>
            <a:r>
              <a:rPr lang="zh-CN" sz="1125" b="1" dirty="0">
                <a:solidFill>
                  <a:srgbClr val="C00000"/>
                </a:solidFill>
                <a:latin typeface="Arial"/>
                <a:ea typeface="Microsoft YaHei"/>
                <a:cs typeface="Arial"/>
              </a:rPr>
              <a:t>故障发生</a:t>
            </a:r>
          </a:p>
        </p:txBody>
      </p:sp>
      <p:sp>
        <p:nvSpPr>
          <p:cNvPr id="37" name="Line 37"/>
          <p:cNvSpPr/>
          <p:nvPr/>
        </p:nvSpPr>
        <p:spPr>
          <a:xfrm>
            <a:off x="8972550" y="2952750"/>
            <a:ext cx="9525" cy="190500"/>
          </a:xfrm>
          <a:custGeom>
            <a:avLst/>
            <a:gdLst/>
            <a:ahLst/>
            <a:cxnLst/>
            <a:rect l="l" t="t" r="r" b="b"/>
            <a:pathLst>
              <a:path w="9525" h="190500">
                <a:moveTo>
                  <a:pt x="0" y="0"/>
                </a:moveTo>
                <a:lnTo>
                  <a:pt x="0" y="190500"/>
                </a:lnTo>
              </a:path>
            </a:pathLst>
          </a:custGeom>
          <a:noFill/>
          <a:ln w="19050">
            <a:solidFill>
              <a:srgbClr val="E7E6E6"/>
            </a:solidFill>
            <a:custDash>
              <a:ds d="150000" sp="150000"/>
            </a:custDash>
          </a:ln>
        </p:spPr>
      </p:sp>
      <p:sp>
        <p:nvSpPr>
          <p:cNvPr id="38" name="TextBox 38"/>
          <p:cNvSpPr txBox="1"/>
          <p:nvPr/>
        </p:nvSpPr>
        <p:spPr>
          <a:xfrm>
            <a:off x="9750683" y="3498056"/>
            <a:ext cx="501134" cy="228600"/>
          </a:xfrm>
          <a:prstGeom prst="rect">
            <a:avLst/>
          </a:prstGeom>
          <a:noFill/>
          <a:ln>
            <a:noFill/>
          </a:ln>
        </p:spPr>
        <p:txBody>
          <a:bodyPr wrap="none" lIns="0" tIns="0" rIns="0" bIns="0" anchor="t" anchorCtr="0">
            <a:spAutoFit/>
          </a:bodyPr>
          <a:lstStyle/>
          <a:p>
            <a:pPr algn="ctr"/>
            <a:r>
              <a:rPr lang="zh-CN" sz="1125" b="1" dirty="0">
                <a:solidFill>
                  <a:srgbClr val="2E75B6"/>
                </a:solidFill>
                <a:latin typeface="Arial"/>
                <a:ea typeface="Microsoft YaHei"/>
                <a:cs typeface="Arial"/>
              </a:rPr>
              <a:t>复盘会</a:t>
            </a:r>
          </a:p>
        </p:txBody>
      </p:sp>
      <p:sp>
        <p:nvSpPr>
          <p:cNvPr id="39" name="Line 39"/>
          <p:cNvSpPr/>
          <p:nvPr/>
        </p:nvSpPr>
        <p:spPr>
          <a:xfrm>
            <a:off x="9525000" y="3619500"/>
            <a:ext cx="190500" cy="9525"/>
          </a:xfrm>
          <a:custGeom>
            <a:avLst/>
            <a:gdLst/>
            <a:ahLst/>
            <a:cxnLst/>
            <a:rect l="l" t="t" r="r" b="b"/>
            <a:pathLst>
              <a:path w="190500" h="9525">
                <a:moveTo>
                  <a:pt x="190500" y="0"/>
                </a:moveTo>
                <a:lnTo>
                  <a:pt x="0" y="0"/>
                </a:lnTo>
              </a:path>
            </a:pathLst>
          </a:custGeom>
          <a:noFill/>
          <a:ln w="19050">
            <a:solidFill>
              <a:srgbClr val="E7E6E6"/>
            </a:solidFill>
            <a:custDash>
              <a:ds d="150000" sp="150000"/>
            </a:custDash>
          </a:ln>
        </p:spPr>
      </p:sp>
      <p:sp>
        <p:nvSpPr>
          <p:cNvPr id="40" name="TextBox 40"/>
          <p:cNvSpPr txBox="1"/>
          <p:nvPr/>
        </p:nvSpPr>
        <p:spPr>
          <a:xfrm>
            <a:off x="8643223" y="4402931"/>
            <a:ext cx="658654" cy="228600"/>
          </a:xfrm>
          <a:prstGeom prst="rect">
            <a:avLst/>
          </a:prstGeom>
          <a:noFill/>
          <a:ln>
            <a:noFill/>
          </a:ln>
        </p:spPr>
        <p:txBody>
          <a:bodyPr wrap="none" lIns="0" tIns="0" rIns="0" bIns="0" anchor="t" anchorCtr="0">
            <a:spAutoFit/>
          </a:bodyPr>
          <a:lstStyle/>
          <a:p>
            <a:pPr algn="ctr"/>
            <a:r>
              <a:rPr lang="zh-CN" sz="1125" b="1" dirty="0">
                <a:solidFill>
                  <a:srgbClr val="C00000"/>
                </a:solidFill>
                <a:latin typeface="Arial"/>
                <a:ea typeface="Microsoft YaHei"/>
                <a:cs typeface="Arial"/>
              </a:rPr>
              <a:t>改进措施</a:t>
            </a:r>
          </a:p>
        </p:txBody>
      </p:sp>
      <p:sp>
        <p:nvSpPr>
          <p:cNvPr id="41" name="Rectangle 41"/>
          <p:cNvSpPr/>
          <p:nvPr/>
        </p:nvSpPr>
        <p:spPr>
          <a:xfrm>
            <a:off x="8020050" y="4857750"/>
            <a:ext cx="1905000" cy="333375"/>
          </a:xfrm>
          <a:prstGeom prst="roundRect">
            <a:avLst>
              <a:gd name="adj" fmla="val 11429"/>
            </a:avLst>
          </a:prstGeom>
          <a:solidFill>
            <a:srgbClr val="C00000"/>
          </a:solidFill>
          <a:ln>
            <a:noFill/>
          </a:ln>
        </p:spPr>
      </p:sp>
      <p:sp>
        <p:nvSpPr>
          <p:cNvPr id="42" name="TextBox 42"/>
          <p:cNvSpPr txBox="1"/>
          <p:nvPr/>
        </p:nvSpPr>
        <p:spPr>
          <a:xfrm>
            <a:off x="8455677" y="4963478"/>
            <a:ext cx="1033746"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Arial"/>
                <a:ea typeface="Microsoft YaHei"/>
                <a:cs typeface="Arial"/>
              </a:rPr>
              <a:t>缺乏跟踪机制 ✕</a:t>
            </a:r>
          </a:p>
        </p:txBody>
      </p:sp>
      <p:sp>
        <p:nvSpPr>
          <p:cNvPr id="43" name="Rectangle 43"/>
          <p:cNvSpPr/>
          <p:nvPr/>
        </p:nvSpPr>
        <p:spPr>
          <a:xfrm>
            <a:off x="6619875" y="5429250"/>
            <a:ext cx="4714875" cy="381000"/>
          </a:xfrm>
          <a:prstGeom prst="roundRect">
            <a:avLst>
              <a:gd name="adj" fmla="val 7500"/>
            </a:avLst>
          </a:prstGeom>
          <a:solidFill>
            <a:srgbClr val="FDF3EB"/>
          </a:solidFill>
          <a:ln w="9525">
            <a:solidFill>
              <a:srgbClr val="F8CBAD"/>
            </a:solidFill>
          </a:ln>
        </p:spPr>
      </p:sp>
      <p:sp>
        <p:nvSpPr>
          <p:cNvPr id="44" name="TextBox 44"/>
          <p:cNvSpPr txBox="1"/>
          <p:nvPr/>
        </p:nvSpPr>
        <p:spPr>
          <a:xfrm>
            <a:off x="7636050" y="5563552"/>
            <a:ext cx="2673001" cy="213360"/>
          </a:xfrm>
          <a:prstGeom prst="rect">
            <a:avLst/>
          </a:prstGeom>
          <a:noFill/>
          <a:ln>
            <a:noFill/>
          </a:ln>
        </p:spPr>
        <p:txBody>
          <a:bodyPr wrap="none" lIns="0" tIns="0" rIns="0" bIns="0" anchor="t" anchorCtr="0">
            <a:spAutoFit/>
          </a:bodyPr>
          <a:lstStyle/>
          <a:p>
            <a:pPr algn="ctr"/>
            <a:r>
              <a:rPr lang="zh-CN" sz="1050" b="1" dirty="0">
                <a:solidFill>
                  <a:srgbClr val="C00000"/>
                </a:solidFill>
                <a:latin typeface="Arial"/>
                <a:ea typeface="Microsoft YaHei"/>
                <a:cs typeface="Arial"/>
              </a:rPr>
              <a:t>结果：同类故障重复发生，经验无法沉淀</a:t>
            </a:r>
          </a:p>
        </p:txBody>
      </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76200"/>
          </a:xfrm>
          <a:prstGeom prst="rect">
            <a:avLst/>
          </a:prstGeom>
          <a:solidFill>
            <a:srgbClr val="C00000"/>
          </a:solidFill>
          <a:ln>
            <a:noFill/>
          </a:ln>
        </p:spPr>
      </p:sp>
      <p:sp>
        <p:nvSpPr>
          <p:cNvPr id="4" name="Rectangle 4"/>
          <p:cNvSpPr/>
          <p:nvPr/>
        </p:nvSpPr>
        <p:spPr>
          <a:xfrm>
            <a:off x="0" y="762000"/>
            <a:ext cx="1143000" cy="5334000"/>
          </a:xfrm>
          <a:prstGeom prst="rect">
            <a:avLst/>
          </a:prstGeom>
          <a:solidFill>
            <a:srgbClr val="F2F2F2"/>
          </a:solidFill>
          <a:ln>
            <a:noFill/>
          </a:ln>
        </p:spPr>
      </p:sp>
      <p:sp>
        <p:nvSpPr>
          <p:cNvPr id="5" name="Rectangle 5"/>
          <p:cNvSpPr/>
          <p:nvPr/>
        </p:nvSpPr>
        <p:spPr>
          <a:xfrm>
            <a:off x="0" y="762000"/>
            <a:ext cx="76200" cy="5334000"/>
          </a:xfrm>
          <a:prstGeom prst="rect">
            <a:avLst/>
          </a:prstGeom>
          <a:solidFill>
            <a:srgbClr val="C00000"/>
          </a:solidFill>
          <a:ln>
            <a:noFill/>
          </a:ln>
        </p:spPr>
      </p:sp>
      <p:sp>
        <p:nvSpPr>
          <p:cNvPr id="6" name="Rectangle 6"/>
          <p:cNvSpPr/>
          <p:nvPr/>
        </p:nvSpPr>
        <p:spPr>
          <a:xfrm>
            <a:off x="11049000" y="762000"/>
            <a:ext cx="1143000" cy="5334000"/>
          </a:xfrm>
          <a:prstGeom prst="rect">
            <a:avLst/>
          </a:prstGeom>
          <a:solidFill>
            <a:srgbClr val="FDF3EB"/>
          </a:solidFill>
          <a:ln>
            <a:noFill/>
          </a:ln>
        </p:spPr>
      </p:sp>
      <p:sp>
        <p:nvSpPr>
          <p:cNvPr id="7" name="Rectangle 7"/>
          <p:cNvSpPr/>
          <p:nvPr/>
        </p:nvSpPr>
        <p:spPr>
          <a:xfrm>
            <a:off x="12115800" y="762000"/>
            <a:ext cx="76200" cy="5334000"/>
          </a:xfrm>
          <a:prstGeom prst="rect">
            <a:avLst/>
          </a:prstGeom>
          <a:solidFill>
            <a:srgbClr val="2E75B6"/>
          </a:solidFill>
          <a:ln>
            <a:noFill/>
          </a:ln>
        </p:spPr>
      </p:sp>
      <p:sp>
        <p:nvSpPr>
          <p:cNvPr id="8" name="Rectangle 8"/>
          <p:cNvSpPr/>
          <p:nvPr/>
        </p:nvSpPr>
        <p:spPr>
          <a:xfrm>
            <a:off x="5143500" y="2095500"/>
            <a:ext cx="762000" cy="762000"/>
          </a:xfrm>
          <a:prstGeom prst="rect">
            <a:avLst/>
          </a:prstGeom>
          <a:solidFill>
            <a:srgbClr val="C00000"/>
          </a:solidFill>
          <a:ln>
            <a:noFill/>
          </a:ln>
        </p:spPr>
      </p:sp>
      <p:sp>
        <p:nvSpPr>
          <p:cNvPr id="9" name="TextBox 9"/>
          <p:cNvSpPr txBox="1"/>
          <p:nvPr/>
        </p:nvSpPr>
        <p:spPr>
          <a:xfrm>
            <a:off x="5201545" y="2259330"/>
            <a:ext cx="645909" cy="731520"/>
          </a:xfrm>
          <a:prstGeom prst="rect">
            <a:avLst/>
          </a:prstGeom>
          <a:noFill/>
          <a:ln>
            <a:noFill/>
          </a:ln>
        </p:spPr>
        <p:txBody>
          <a:bodyPr wrap="none" lIns="0" tIns="0" rIns="0" bIns="0" anchor="t" anchorCtr="0">
            <a:spAutoFit/>
          </a:bodyPr>
          <a:lstStyle/>
          <a:p>
            <a:pPr algn="ctr"/>
            <a:r>
              <a:rPr lang="zh-CN" sz="3600" b="1" dirty="0">
                <a:solidFill>
                  <a:srgbClr val="FFFFFF"/>
                </a:solidFill>
                <a:latin typeface="Arial"/>
                <a:ea typeface="Microsoft YaHei"/>
                <a:cs typeface="Arial"/>
              </a:rPr>
              <a:t>02</a:t>
            </a:r>
          </a:p>
        </p:txBody>
      </p:sp>
      <p:sp>
        <p:nvSpPr>
          <p:cNvPr id="10" name="TextBox 10"/>
          <p:cNvSpPr txBox="1"/>
          <p:nvPr/>
        </p:nvSpPr>
        <p:spPr>
          <a:xfrm>
            <a:off x="5019484" y="1943100"/>
            <a:ext cx="2153031" cy="2438400"/>
          </a:xfrm>
          <a:prstGeom prst="rect">
            <a:avLst/>
          </a:prstGeom>
          <a:noFill/>
          <a:ln>
            <a:noFill/>
          </a:ln>
        </p:spPr>
        <p:txBody>
          <a:bodyPr wrap="none" lIns="0" tIns="0" rIns="0" bIns="0" anchor="t" anchorCtr="0">
            <a:spAutoFit/>
          </a:bodyPr>
          <a:lstStyle/>
          <a:p>
            <a:pPr algn="ctr"/>
            <a:r>
              <a:rPr lang="zh-CN" sz="12000" b="1" dirty="0">
                <a:solidFill>
                  <a:srgbClr val="F2F2F2"/>
                </a:solidFill>
                <a:latin typeface="Arial"/>
                <a:ea typeface="Microsoft YaHei"/>
                <a:cs typeface="Arial"/>
              </a:rPr>
              <a:t>02</a:t>
            </a:r>
          </a:p>
        </p:txBody>
      </p:sp>
      <p:sp>
        <p:nvSpPr>
          <p:cNvPr id="11" name="TextBox 11"/>
          <p:cNvSpPr txBox="1"/>
          <p:nvPr/>
        </p:nvSpPr>
        <p:spPr>
          <a:xfrm>
            <a:off x="3781996" y="3611880"/>
            <a:ext cx="4628007" cy="731520"/>
          </a:xfrm>
          <a:prstGeom prst="rect">
            <a:avLst/>
          </a:prstGeom>
          <a:noFill/>
          <a:ln>
            <a:noFill/>
          </a:ln>
        </p:spPr>
        <p:txBody>
          <a:bodyPr wrap="none" lIns="0" tIns="0" rIns="0" bIns="0" anchor="t" anchorCtr="0">
            <a:spAutoFit/>
          </a:bodyPr>
          <a:lstStyle/>
          <a:p>
            <a:pPr algn="ctr"/>
            <a:r>
              <a:rPr lang="zh-CN" sz="3600" b="1" dirty="0">
                <a:solidFill>
                  <a:srgbClr val="000000"/>
                </a:solidFill>
                <a:latin typeface="Arial"/>
                <a:ea typeface="Microsoft YaHei"/>
                <a:cs typeface="Arial"/>
              </a:rPr>
              <a:t>IntelliOps 方案介绍</a:t>
            </a:r>
          </a:p>
        </p:txBody>
      </p:sp>
      <p:sp>
        <p:nvSpPr>
          <p:cNvPr id="12" name="Line 12"/>
          <p:cNvSpPr/>
          <p:nvPr/>
        </p:nvSpPr>
        <p:spPr>
          <a:xfrm>
            <a:off x="4572000" y="4286250"/>
            <a:ext cx="3048000" cy="9525"/>
          </a:xfrm>
          <a:custGeom>
            <a:avLst/>
            <a:gdLst/>
            <a:ahLst/>
            <a:cxnLst/>
            <a:rect l="l" t="t" r="r" b="b"/>
            <a:pathLst>
              <a:path w="3048000" h="9525">
                <a:moveTo>
                  <a:pt x="0" y="0"/>
                </a:moveTo>
                <a:lnTo>
                  <a:pt x="3048000" y="0"/>
                </a:lnTo>
              </a:path>
            </a:pathLst>
          </a:custGeom>
          <a:noFill/>
          <a:ln w="28575">
            <a:solidFill>
              <a:srgbClr val="C00000"/>
            </a:solidFill>
          </a:ln>
        </p:spPr>
      </p:sp>
      <p:sp>
        <p:nvSpPr>
          <p:cNvPr id="13" name="Line 13"/>
          <p:cNvSpPr/>
          <p:nvPr/>
        </p:nvSpPr>
        <p:spPr>
          <a:xfrm>
            <a:off x="4953000" y="4362450"/>
            <a:ext cx="2286000" cy="9525"/>
          </a:xfrm>
          <a:custGeom>
            <a:avLst/>
            <a:gdLst/>
            <a:ahLst/>
            <a:cxnLst/>
            <a:rect l="l" t="t" r="r" b="b"/>
            <a:pathLst>
              <a:path w="2286000" h="9525">
                <a:moveTo>
                  <a:pt x="0" y="0"/>
                </a:moveTo>
                <a:lnTo>
                  <a:pt x="2286000" y="0"/>
                </a:lnTo>
              </a:path>
            </a:pathLst>
          </a:custGeom>
          <a:noFill/>
          <a:ln w="9525">
            <a:solidFill>
              <a:srgbClr val="2E75B6"/>
            </a:solidFill>
          </a:ln>
        </p:spPr>
      </p:sp>
      <p:sp>
        <p:nvSpPr>
          <p:cNvPr id="14" name="TextBox 14"/>
          <p:cNvSpPr txBox="1"/>
          <p:nvPr/>
        </p:nvSpPr>
        <p:spPr>
          <a:xfrm>
            <a:off x="3876675" y="4695825"/>
            <a:ext cx="4438650" cy="304800"/>
          </a:xfrm>
          <a:prstGeom prst="rect">
            <a:avLst/>
          </a:prstGeom>
          <a:noFill/>
          <a:ln>
            <a:noFill/>
          </a:ln>
        </p:spPr>
        <p:txBody>
          <a:bodyPr wrap="none" lIns="0" tIns="0" rIns="0" bIns="0" anchor="t" anchorCtr="0">
            <a:spAutoFit/>
          </a:bodyPr>
          <a:lstStyle/>
          <a:p>
            <a:pPr algn="ctr"/>
            <a:r>
              <a:rPr lang="zh-CN" sz="1500" dirty="0">
                <a:solidFill>
                  <a:srgbClr val="666666"/>
                </a:solidFill>
                <a:latin typeface="Arial"/>
                <a:ea typeface="Microsoft YaHei"/>
                <a:cs typeface="Arial"/>
              </a:rPr>
              <a:t>以大模型认知能力为核心，构建故障应急闭环系统</a:t>
            </a:r>
          </a:p>
        </p:txBody>
      </p:sp>
      <p:sp>
        <p:nvSpPr>
          <p:cNvPr id="15" name="Rectangle 15"/>
          <p:cNvSpPr/>
          <p:nvPr/>
        </p:nvSpPr>
        <p:spPr>
          <a:xfrm>
            <a:off x="0" y="6572250"/>
            <a:ext cx="12192000" cy="285750"/>
          </a:xfrm>
          <a:prstGeom prst="rect">
            <a:avLst/>
          </a:prstGeom>
          <a:solidFill>
            <a:srgbClr val="2E75B6"/>
          </a:solidFill>
          <a:ln>
            <a:noFill/>
          </a:ln>
        </p:spPr>
      </p:sp>
      <p:sp>
        <p:nvSpPr>
          <p:cNvPr id="16" name="Rectangle 16"/>
          <p:cNvSpPr/>
          <p:nvPr/>
        </p:nvSpPr>
        <p:spPr>
          <a:xfrm>
            <a:off x="0" y="6477000"/>
            <a:ext cx="12192000" cy="95250"/>
          </a:xfrm>
          <a:prstGeom prst="rect">
            <a:avLst/>
          </a:prstGeom>
          <a:solidFill>
            <a:srgbClr val="FDF3EB"/>
          </a:solidFill>
          <a:ln>
            <a:noFill/>
          </a:ln>
        </p:spPr>
      </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38100"/>
          </a:xfrm>
          <a:prstGeom prst="rect">
            <a:avLst/>
          </a:prstGeom>
          <a:solidFill>
            <a:srgbClr val="C00000"/>
          </a:solidFill>
          <a:ln>
            <a:noFill/>
          </a:ln>
        </p:spPr>
      </p:sp>
      <p:sp>
        <p:nvSpPr>
          <p:cNvPr id="4" name="Rectangle 4"/>
          <p:cNvSpPr/>
          <p:nvPr/>
        </p:nvSpPr>
        <p:spPr>
          <a:xfrm>
            <a:off x="0" y="38100"/>
            <a:ext cx="12192000" cy="723900"/>
          </a:xfrm>
          <a:prstGeom prst="rect">
            <a:avLst/>
          </a:prstGeom>
          <a:solidFill>
            <a:srgbClr val="FFFFFF"/>
          </a:solidFill>
          <a:ln>
            <a:noFill/>
          </a:ln>
        </p:spPr>
      </p:sp>
      <p:sp>
        <p:nvSpPr>
          <p:cNvPr id="5" name="Line 5"/>
          <p:cNvSpPr/>
          <p:nvPr/>
        </p:nvSpPr>
        <p:spPr>
          <a:xfrm>
            <a:off x="0" y="762000"/>
            <a:ext cx="12192000" cy="9525"/>
          </a:xfrm>
          <a:custGeom>
            <a:avLst/>
            <a:gdLst/>
            <a:ahLst/>
            <a:cxnLst/>
            <a:rect l="l" t="t" r="r" b="b"/>
            <a:pathLst>
              <a:path w="12192000" h="9525">
                <a:moveTo>
                  <a:pt x="0" y="0"/>
                </a:moveTo>
                <a:lnTo>
                  <a:pt x="12192000" y="0"/>
                </a:lnTo>
              </a:path>
            </a:pathLst>
          </a:custGeom>
          <a:noFill/>
          <a:ln w="9525">
            <a:solidFill>
              <a:srgbClr val="E7E6E6"/>
            </a:solidFill>
          </a:ln>
        </p:spPr>
      </p:sp>
      <p:sp>
        <p:nvSpPr>
          <p:cNvPr id="6" name="Rectangle 6"/>
          <p:cNvSpPr/>
          <p:nvPr/>
        </p:nvSpPr>
        <p:spPr>
          <a:xfrm>
            <a:off x="476250" y="190500"/>
            <a:ext cx="76200" cy="381000"/>
          </a:xfrm>
          <a:prstGeom prst="rect">
            <a:avLst/>
          </a:prstGeom>
          <a:solidFill>
            <a:srgbClr val="C00000"/>
          </a:solidFill>
          <a:ln>
            <a:noFill/>
          </a:ln>
        </p:spPr>
      </p:sp>
      <p:sp>
        <p:nvSpPr>
          <p:cNvPr id="7" name="TextBox 7"/>
          <p:cNvSpPr txBox="1"/>
          <p:nvPr/>
        </p:nvSpPr>
        <p:spPr>
          <a:xfrm>
            <a:off x="655320" y="236220"/>
            <a:ext cx="3085338" cy="487680"/>
          </a:xfrm>
          <a:prstGeom prst="rect">
            <a:avLst/>
          </a:prstGeom>
          <a:noFill/>
          <a:ln>
            <a:noFill/>
          </a:ln>
        </p:spPr>
        <p:txBody>
          <a:bodyPr wrap="none" lIns="0" tIns="0" rIns="0" bIns="0" anchor="t" anchorCtr="0">
            <a:spAutoFit/>
          </a:bodyPr>
          <a:lstStyle/>
          <a:p>
            <a:pPr algn="l"/>
            <a:r>
              <a:rPr lang="zh-CN" sz="2400" b="1" dirty="0">
                <a:solidFill>
                  <a:srgbClr val="000000"/>
                </a:solidFill>
                <a:latin typeface="Arial"/>
                <a:ea typeface="Microsoft YaHei"/>
                <a:cs typeface="Arial"/>
              </a:rPr>
              <a:t>IntelliOps 方案全景</a:t>
            </a:r>
          </a:p>
        </p:txBody>
      </p:sp>
      <p:sp>
        <p:nvSpPr>
          <p:cNvPr id="8" name="Rectangle 8"/>
          <p:cNvSpPr/>
          <p:nvPr/>
        </p:nvSpPr>
        <p:spPr>
          <a:xfrm>
            <a:off x="476250" y="904875"/>
            <a:ext cx="11239500" cy="476250"/>
          </a:xfrm>
          <a:prstGeom prst="rect">
            <a:avLst/>
          </a:prstGeom>
          <a:solidFill>
            <a:srgbClr val="F2F2F2"/>
          </a:solidFill>
          <a:ln>
            <a:noFill/>
          </a:ln>
        </p:spPr>
      </p:sp>
      <p:sp>
        <p:nvSpPr>
          <p:cNvPr id="9" name="TextBox 9"/>
          <p:cNvSpPr txBox="1"/>
          <p:nvPr/>
        </p:nvSpPr>
        <p:spPr>
          <a:xfrm>
            <a:off x="3984498" y="1061085"/>
            <a:ext cx="4223004" cy="243840"/>
          </a:xfrm>
          <a:prstGeom prst="rect">
            <a:avLst/>
          </a:prstGeom>
          <a:noFill/>
          <a:ln>
            <a:noFill/>
          </a:ln>
        </p:spPr>
        <p:txBody>
          <a:bodyPr wrap="none" lIns="0" tIns="0" rIns="0" bIns="0" anchor="t" anchorCtr="0">
            <a:spAutoFit/>
          </a:bodyPr>
          <a:lstStyle/>
          <a:p>
            <a:pPr algn="ctr"/>
            <a:r>
              <a:rPr lang="zh-CN" sz="1200" dirty="0">
                <a:solidFill>
                  <a:srgbClr val="333333"/>
                </a:solidFill>
                <a:latin typeface="Arial"/>
                <a:ea typeface="Microsoft YaHei"/>
                <a:cs typeface="Arial"/>
              </a:rPr>
              <a:t>从"智能运维平台"升级为"大模型驱动的故障应急认知系统"</a:t>
            </a:r>
          </a:p>
        </p:txBody>
      </p:sp>
      <p:sp>
        <p:nvSpPr>
          <p:cNvPr id="10" name="Rectangle 10"/>
          <p:cNvSpPr/>
          <p:nvPr/>
        </p:nvSpPr>
        <p:spPr>
          <a:xfrm>
            <a:off x="0" y="6477000"/>
            <a:ext cx="12192000" cy="381000"/>
          </a:xfrm>
          <a:prstGeom prst="rect">
            <a:avLst/>
          </a:prstGeom>
          <a:solidFill>
            <a:srgbClr val="F2F2F2"/>
          </a:solidFill>
          <a:ln>
            <a:noFill/>
          </a:ln>
        </p:spPr>
      </p:sp>
      <p:sp>
        <p:nvSpPr>
          <p:cNvPr id="11" name="Rectangle 11"/>
          <p:cNvSpPr/>
          <p:nvPr/>
        </p:nvSpPr>
        <p:spPr>
          <a:xfrm>
            <a:off x="0" y="6477000"/>
            <a:ext cx="38100" cy="381000"/>
          </a:xfrm>
          <a:prstGeom prst="rect">
            <a:avLst/>
          </a:prstGeom>
          <a:solidFill>
            <a:srgbClr val="C00000"/>
          </a:solidFill>
          <a:ln>
            <a:noFill/>
          </a:ln>
        </p:spPr>
      </p:sp>
      <p:sp>
        <p:nvSpPr>
          <p:cNvPr id="12" name="TextBox 12"/>
          <p:cNvSpPr txBox="1"/>
          <p:nvPr/>
        </p:nvSpPr>
        <p:spPr>
          <a:xfrm>
            <a:off x="558165" y="6611302"/>
            <a:ext cx="586740" cy="213360"/>
          </a:xfrm>
          <a:prstGeom prst="rect">
            <a:avLst/>
          </a:prstGeom>
          <a:noFill/>
          <a:ln>
            <a:noFill/>
          </a:ln>
        </p:spPr>
        <p:txBody>
          <a:bodyPr wrap="none" lIns="0" tIns="0" rIns="0" bIns="0" anchor="t" anchorCtr="0">
            <a:spAutoFit/>
          </a:bodyPr>
          <a:lstStyle/>
          <a:p>
            <a:pPr algn="l"/>
            <a:r>
              <a:rPr lang="zh-CN" sz="1050" dirty="0">
                <a:solidFill>
                  <a:srgbClr val="666666"/>
                </a:solidFill>
                <a:latin typeface="Arial"/>
                <a:ea typeface="Microsoft YaHei"/>
                <a:cs typeface="Arial"/>
              </a:rPr>
              <a:t>方案介绍</a:t>
            </a:r>
          </a:p>
        </p:txBody>
      </p:sp>
      <p:sp>
        <p:nvSpPr>
          <p:cNvPr id="13" name="Rectangle 13"/>
          <p:cNvSpPr/>
          <p:nvPr/>
        </p:nvSpPr>
        <p:spPr>
          <a:xfrm>
            <a:off x="11525250" y="6553200"/>
            <a:ext cx="285750" cy="228600"/>
          </a:xfrm>
          <a:prstGeom prst="rect">
            <a:avLst/>
          </a:prstGeom>
          <a:solidFill>
            <a:srgbClr val="C00000"/>
          </a:solidFill>
          <a:ln>
            <a:noFill/>
          </a:ln>
        </p:spPr>
      </p:sp>
      <p:sp>
        <p:nvSpPr>
          <p:cNvPr id="14" name="TextBox 14"/>
          <p:cNvSpPr txBox="1"/>
          <p:nvPr/>
        </p:nvSpPr>
        <p:spPr>
          <a:xfrm>
            <a:off x="11614360" y="6611302"/>
            <a:ext cx="107530"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Arial"/>
                <a:ea typeface="Microsoft YaHei"/>
                <a:cs typeface="Arial"/>
              </a:rPr>
              <a:t>7</a:t>
            </a:r>
          </a:p>
        </p:txBody>
      </p:sp>
      <p:sp>
        <p:nvSpPr>
          <p:cNvPr id="15" name="Rectangle 15"/>
          <p:cNvSpPr/>
          <p:nvPr/>
        </p:nvSpPr>
        <p:spPr>
          <a:xfrm>
            <a:off x="3238500" y="1476375"/>
            <a:ext cx="5715000" cy="571500"/>
          </a:xfrm>
          <a:prstGeom prst="roundRect">
            <a:avLst>
              <a:gd name="adj" fmla="val 6667"/>
            </a:avLst>
          </a:prstGeom>
          <a:solidFill>
            <a:srgbClr val="C00000"/>
          </a:solidFill>
          <a:ln>
            <a:noFill/>
          </a:ln>
        </p:spPr>
      </p:sp>
      <p:sp>
        <p:nvSpPr>
          <p:cNvPr id="16" name="Rectangle 16"/>
          <p:cNvSpPr/>
          <p:nvPr/>
        </p:nvSpPr>
        <p:spPr>
          <a:xfrm>
            <a:off x="8953500" y="1476375"/>
            <a:ext cx="381000" cy="571500"/>
          </a:xfrm>
          <a:prstGeom prst="roundRect">
            <a:avLst>
              <a:gd name="adj" fmla="val 10000"/>
            </a:avLst>
          </a:prstGeom>
          <a:solidFill>
            <a:srgbClr val="8B0000"/>
          </a:solidFill>
          <a:ln>
            <a:noFill/>
          </a:ln>
        </p:spPr>
      </p:sp>
      <p:sp>
        <p:nvSpPr>
          <p:cNvPr id="17" name="TextBox 17"/>
          <p:cNvSpPr txBox="1"/>
          <p:nvPr/>
        </p:nvSpPr>
        <p:spPr>
          <a:xfrm>
            <a:off x="9177804" y="1670685"/>
            <a:ext cx="122892" cy="243840"/>
          </a:xfrm>
          <a:prstGeom prst="rect">
            <a:avLst/>
          </a:prstGeom>
          <a:noFill/>
          <a:ln>
            <a:noFill/>
          </a:ln>
        </p:spPr>
        <p:txBody>
          <a:bodyPr wrap="none" lIns="0" tIns="0" rIns="0" bIns="0" anchor="t" anchorCtr="0">
            <a:spAutoFit/>
          </a:bodyPr>
          <a:lstStyle/>
          <a:p>
            <a:pPr algn="ctr"/>
            <a:r>
              <a:rPr lang="zh-CN" sz="1200" b="1" dirty="0">
                <a:solidFill>
                  <a:srgbClr val="FFFFFF"/>
                </a:solidFill>
                <a:latin typeface="Arial"/>
                <a:ea typeface="Microsoft YaHei"/>
                <a:cs typeface="Arial"/>
              </a:rPr>
              <a:t>5</a:t>
            </a:r>
          </a:p>
        </p:txBody>
      </p:sp>
      <p:sp>
        <p:nvSpPr>
          <p:cNvPr id="18" name="TextBox 18"/>
          <p:cNvSpPr txBox="1"/>
          <p:nvPr/>
        </p:nvSpPr>
        <p:spPr>
          <a:xfrm>
            <a:off x="3829474" y="1597342"/>
            <a:ext cx="4533052" cy="274320"/>
          </a:xfrm>
          <a:prstGeom prst="rect">
            <a:avLst/>
          </a:prstGeom>
          <a:noFill/>
          <a:ln>
            <a:noFill/>
          </a:ln>
        </p:spPr>
        <p:txBody>
          <a:bodyPr wrap="none" lIns="0" tIns="0" rIns="0" bIns="0" anchor="t" anchorCtr="0">
            <a:spAutoFit/>
          </a:bodyPr>
          <a:lstStyle/>
          <a:p>
            <a:pPr algn="ctr"/>
            <a:r>
              <a:rPr lang="zh-CN" sz="1350" b="1" dirty="0">
                <a:solidFill>
                  <a:srgbClr val="FFFFFF"/>
                </a:solidFill>
                <a:latin typeface="Arial"/>
                <a:ea typeface="Microsoft YaHei"/>
                <a:cs typeface="Arial"/>
              </a:rPr>
              <a:t>执行与闭环层：Action 执行 · 审计 · 回滚 · 知识蒸馏</a:t>
            </a:r>
          </a:p>
        </p:txBody>
      </p:sp>
      <p:sp>
        <p:nvSpPr>
          <p:cNvPr id="19" name="Polygon 19"/>
          <p:cNvSpPr/>
          <p:nvPr/>
        </p:nvSpPr>
        <p:spPr>
          <a:xfrm>
            <a:off x="5953125" y="2095500"/>
            <a:ext cx="285750" cy="152400"/>
          </a:xfrm>
          <a:custGeom>
            <a:avLst/>
            <a:gdLst/>
            <a:ahLst/>
            <a:cxnLst/>
            <a:rect l="l" t="t" r="r" b="b"/>
            <a:pathLst>
              <a:path w="285750" h="152400">
                <a:moveTo>
                  <a:pt x="142875" y="0"/>
                </a:moveTo>
                <a:lnTo>
                  <a:pt x="285750" y="76200"/>
                </a:lnTo>
                <a:lnTo>
                  <a:pt x="142875" y="152400"/>
                </a:lnTo>
                <a:lnTo>
                  <a:pt x="0" y="76200"/>
                </a:lnTo>
                <a:close/>
              </a:path>
            </a:pathLst>
          </a:custGeom>
          <a:solidFill>
            <a:srgbClr val="C00000"/>
          </a:solidFill>
          <a:ln>
            <a:noFill/>
          </a:ln>
        </p:spPr>
      </p:sp>
      <p:sp>
        <p:nvSpPr>
          <p:cNvPr id="20" name="Rectangle 20"/>
          <p:cNvSpPr/>
          <p:nvPr/>
        </p:nvSpPr>
        <p:spPr>
          <a:xfrm>
            <a:off x="2095500" y="2305050"/>
            <a:ext cx="8001000" cy="762000"/>
          </a:xfrm>
          <a:prstGeom prst="roundRect">
            <a:avLst>
              <a:gd name="adj" fmla="val 5000"/>
            </a:avLst>
          </a:prstGeom>
          <a:solidFill>
            <a:srgbClr val="2E75B6"/>
          </a:solidFill>
          <a:ln>
            <a:noFill/>
          </a:ln>
        </p:spPr>
      </p:sp>
      <p:sp>
        <p:nvSpPr>
          <p:cNvPr id="21" name="Rectangle 21"/>
          <p:cNvSpPr/>
          <p:nvPr/>
        </p:nvSpPr>
        <p:spPr>
          <a:xfrm>
            <a:off x="8953500" y="2305050"/>
            <a:ext cx="381000" cy="762000"/>
          </a:xfrm>
          <a:prstGeom prst="roundRect">
            <a:avLst>
              <a:gd name="adj" fmla="val 10000"/>
            </a:avLst>
          </a:prstGeom>
          <a:solidFill>
            <a:srgbClr val="1A5276"/>
          </a:solidFill>
          <a:ln>
            <a:noFill/>
          </a:ln>
        </p:spPr>
      </p:sp>
      <p:sp>
        <p:nvSpPr>
          <p:cNvPr id="22" name="TextBox 22"/>
          <p:cNvSpPr txBox="1"/>
          <p:nvPr/>
        </p:nvSpPr>
        <p:spPr>
          <a:xfrm>
            <a:off x="9177804" y="2575560"/>
            <a:ext cx="122892" cy="243840"/>
          </a:xfrm>
          <a:prstGeom prst="rect">
            <a:avLst/>
          </a:prstGeom>
          <a:noFill/>
          <a:ln>
            <a:noFill/>
          </a:ln>
        </p:spPr>
        <p:txBody>
          <a:bodyPr wrap="none" lIns="0" tIns="0" rIns="0" bIns="0" anchor="t" anchorCtr="0">
            <a:spAutoFit/>
          </a:bodyPr>
          <a:lstStyle/>
          <a:p>
            <a:pPr algn="ctr"/>
            <a:r>
              <a:rPr lang="zh-CN" sz="1200" b="1" dirty="0">
                <a:solidFill>
                  <a:srgbClr val="FFFFFF"/>
                </a:solidFill>
                <a:latin typeface="Arial"/>
                <a:ea typeface="Microsoft YaHei"/>
                <a:cs typeface="Arial"/>
              </a:rPr>
              <a:t>4</a:t>
            </a:r>
          </a:p>
        </p:txBody>
      </p:sp>
      <p:sp>
        <p:nvSpPr>
          <p:cNvPr id="23" name="TextBox 23"/>
          <p:cNvSpPr txBox="1"/>
          <p:nvPr/>
        </p:nvSpPr>
        <p:spPr>
          <a:xfrm>
            <a:off x="3843651" y="2445068"/>
            <a:ext cx="4504699" cy="274320"/>
          </a:xfrm>
          <a:prstGeom prst="rect">
            <a:avLst/>
          </a:prstGeom>
          <a:noFill/>
          <a:ln>
            <a:noFill/>
          </a:ln>
        </p:spPr>
        <p:txBody>
          <a:bodyPr wrap="none" lIns="0" tIns="0" rIns="0" bIns="0" anchor="t" anchorCtr="0">
            <a:spAutoFit/>
          </a:bodyPr>
          <a:lstStyle/>
          <a:p>
            <a:pPr algn="ctr"/>
            <a:r>
              <a:rPr lang="zh-CN" sz="1350" b="1" dirty="0">
                <a:solidFill>
                  <a:srgbClr val="FFFFFF"/>
                </a:solidFill>
                <a:latin typeface="Arial"/>
                <a:ea typeface="Microsoft YaHei"/>
                <a:cs typeface="Arial"/>
              </a:rPr>
              <a:t>认知层：LLM推理 · 日志分析 · Copilot · 可信度框架</a:t>
            </a:r>
          </a:p>
        </p:txBody>
      </p:sp>
      <p:sp>
        <p:nvSpPr>
          <p:cNvPr id="24" name="TextBox 24"/>
          <p:cNvSpPr txBox="1"/>
          <p:nvPr/>
        </p:nvSpPr>
        <p:spPr>
          <a:xfrm>
            <a:off x="3174504" y="2733199"/>
            <a:ext cx="5842992" cy="198120"/>
          </a:xfrm>
          <a:prstGeom prst="rect">
            <a:avLst/>
          </a:prstGeom>
          <a:noFill/>
          <a:ln>
            <a:noFill/>
          </a:ln>
        </p:spPr>
        <p:txBody>
          <a:bodyPr wrap="none" lIns="0" tIns="0" rIns="0" bIns="0" anchor="t" anchorCtr="0">
            <a:spAutoFit/>
          </a:bodyPr>
          <a:lstStyle/>
          <a:p>
            <a:pPr algn="ctr"/>
            <a:r>
              <a:rPr lang="zh-CN" sz="975" dirty="0">
                <a:solidFill>
                  <a:srgbClr val="FFFFFF"/>
                </a:solidFill>
                <a:latin typeface="Arial"/>
                <a:ea typeface="Microsoft YaHei"/>
                <a:cs typeface="Arial"/>
              </a:rPr>
              <a:t>Root Cause Reasoner | Log Analyzer | Incident Copilot | Credibility Framework | State Machine</a:t>
            </a:r>
          </a:p>
        </p:txBody>
      </p:sp>
      <p:sp>
        <p:nvSpPr>
          <p:cNvPr id="25" name="Polygon 25"/>
          <p:cNvSpPr/>
          <p:nvPr/>
        </p:nvSpPr>
        <p:spPr>
          <a:xfrm>
            <a:off x="5953125" y="3114675"/>
            <a:ext cx="285750" cy="152400"/>
          </a:xfrm>
          <a:custGeom>
            <a:avLst/>
            <a:gdLst/>
            <a:ahLst/>
            <a:cxnLst/>
            <a:rect l="l" t="t" r="r" b="b"/>
            <a:pathLst>
              <a:path w="285750" h="152400">
                <a:moveTo>
                  <a:pt x="142875" y="0"/>
                </a:moveTo>
                <a:lnTo>
                  <a:pt x="285750" y="76200"/>
                </a:lnTo>
                <a:lnTo>
                  <a:pt x="142875" y="152400"/>
                </a:lnTo>
                <a:lnTo>
                  <a:pt x="0" y="76200"/>
                </a:lnTo>
                <a:close/>
              </a:path>
            </a:pathLst>
          </a:custGeom>
          <a:solidFill>
            <a:srgbClr val="2E75B6"/>
          </a:solidFill>
          <a:ln>
            <a:noFill/>
          </a:ln>
        </p:spPr>
      </p:sp>
      <p:sp>
        <p:nvSpPr>
          <p:cNvPr id="26" name="Rectangle 26"/>
          <p:cNvSpPr/>
          <p:nvPr/>
        </p:nvSpPr>
        <p:spPr>
          <a:xfrm>
            <a:off x="2095500" y="3314700"/>
            <a:ext cx="8001000" cy="619125"/>
          </a:xfrm>
          <a:prstGeom prst="roundRect">
            <a:avLst>
              <a:gd name="adj" fmla="val 6154"/>
            </a:avLst>
          </a:prstGeom>
          <a:solidFill>
            <a:srgbClr val="5B9BD5"/>
          </a:solidFill>
          <a:ln>
            <a:noFill/>
          </a:ln>
        </p:spPr>
      </p:sp>
      <p:sp>
        <p:nvSpPr>
          <p:cNvPr id="27" name="Rectangle 27"/>
          <p:cNvSpPr/>
          <p:nvPr/>
        </p:nvSpPr>
        <p:spPr>
          <a:xfrm>
            <a:off x="8953500" y="3314700"/>
            <a:ext cx="381000" cy="619125"/>
          </a:xfrm>
          <a:prstGeom prst="roundRect">
            <a:avLst>
              <a:gd name="adj" fmla="val 10000"/>
            </a:avLst>
          </a:prstGeom>
          <a:solidFill>
            <a:srgbClr val="3A7CC2"/>
          </a:solidFill>
          <a:ln>
            <a:noFill/>
          </a:ln>
        </p:spPr>
      </p:sp>
      <p:sp>
        <p:nvSpPr>
          <p:cNvPr id="28" name="TextBox 28"/>
          <p:cNvSpPr txBox="1"/>
          <p:nvPr/>
        </p:nvSpPr>
        <p:spPr>
          <a:xfrm>
            <a:off x="9177804" y="3537585"/>
            <a:ext cx="122892" cy="243840"/>
          </a:xfrm>
          <a:prstGeom prst="rect">
            <a:avLst/>
          </a:prstGeom>
          <a:noFill/>
          <a:ln>
            <a:noFill/>
          </a:ln>
        </p:spPr>
        <p:txBody>
          <a:bodyPr wrap="none" lIns="0" tIns="0" rIns="0" bIns="0" anchor="t" anchorCtr="0">
            <a:spAutoFit/>
          </a:bodyPr>
          <a:lstStyle/>
          <a:p>
            <a:pPr algn="ctr"/>
            <a:r>
              <a:rPr lang="zh-CN" sz="1200" b="1" dirty="0">
                <a:solidFill>
                  <a:srgbClr val="FFFFFF"/>
                </a:solidFill>
                <a:latin typeface="Arial"/>
                <a:ea typeface="Microsoft YaHei"/>
                <a:cs typeface="Arial"/>
              </a:rPr>
              <a:t>3</a:t>
            </a:r>
          </a:p>
        </p:txBody>
      </p:sp>
      <p:sp>
        <p:nvSpPr>
          <p:cNvPr id="29" name="TextBox 29"/>
          <p:cNvSpPr txBox="1"/>
          <p:nvPr/>
        </p:nvSpPr>
        <p:spPr>
          <a:xfrm>
            <a:off x="3720785" y="3435668"/>
            <a:ext cx="4750429" cy="274320"/>
          </a:xfrm>
          <a:prstGeom prst="rect">
            <a:avLst/>
          </a:prstGeom>
          <a:noFill/>
          <a:ln>
            <a:noFill/>
          </a:ln>
        </p:spPr>
        <p:txBody>
          <a:bodyPr wrap="none" lIns="0" tIns="0" rIns="0" bIns="0" anchor="t" anchorCtr="0">
            <a:spAutoFit/>
          </a:bodyPr>
          <a:lstStyle/>
          <a:p>
            <a:pPr algn="ctr"/>
            <a:r>
              <a:rPr lang="zh-CN" sz="1350" b="1" dirty="0">
                <a:solidFill>
                  <a:srgbClr val="FFFFFF"/>
                </a:solidFill>
                <a:latin typeface="Arial"/>
                <a:ea typeface="Microsoft YaHei"/>
                <a:cs typeface="Arial"/>
              </a:rPr>
              <a:t>知识层：本体(Ontology) · 知识图谱(KG) · 故障案例库</a:t>
            </a:r>
          </a:p>
        </p:txBody>
      </p:sp>
      <p:sp>
        <p:nvSpPr>
          <p:cNvPr id="30" name="TextBox 30"/>
          <p:cNvSpPr txBox="1"/>
          <p:nvPr/>
        </p:nvSpPr>
        <p:spPr>
          <a:xfrm>
            <a:off x="4861465" y="3685699"/>
            <a:ext cx="2469071" cy="198120"/>
          </a:xfrm>
          <a:prstGeom prst="rect">
            <a:avLst/>
          </a:prstGeom>
          <a:noFill/>
          <a:ln>
            <a:noFill/>
          </a:ln>
        </p:spPr>
        <p:txBody>
          <a:bodyPr wrap="none" lIns="0" tIns="0" rIns="0" bIns="0" anchor="t" anchorCtr="0">
            <a:spAutoFit/>
          </a:bodyPr>
          <a:lstStyle/>
          <a:p>
            <a:pPr algn="ctr"/>
            <a:r>
              <a:rPr lang="zh-CN" sz="975" dirty="0">
                <a:solidFill>
                  <a:srgbClr val="FFFFFF"/>
                </a:solidFill>
                <a:latin typeface="Arial"/>
                <a:ea typeface="Microsoft YaHei"/>
                <a:cs typeface="Arial"/>
              </a:rPr>
              <a:t>向量检索 · Incident Graph · 文档/案例库</a:t>
            </a:r>
          </a:p>
        </p:txBody>
      </p:sp>
      <p:sp>
        <p:nvSpPr>
          <p:cNvPr id="31" name="Polygon 31"/>
          <p:cNvSpPr/>
          <p:nvPr/>
        </p:nvSpPr>
        <p:spPr>
          <a:xfrm>
            <a:off x="5953125" y="3981450"/>
            <a:ext cx="285750" cy="152400"/>
          </a:xfrm>
          <a:custGeom>
            <a:avLst/>
            <a:gdLst/>
            <a:ahLst/>
            <a:cxnLst/>
            <a:rect l="l" t="t" r="r" b="b"/>
            <a:pathLst>
              <a:path w="285750" h="152400">
                <a:moveTo>
                  <a:pt x="142875" y="0"/>
                </a:moveTo>
                <a:lnTo>
                  <a:pt x="285750" y="76200"/>
                </a:lnTo>
                <a:lnTo>
                  <a:pt x="142875" y="152400"/>
                </a:lnTo>
                <a:lnTo>
                  <a:pt x="0" y="76200"/>
                </a:lnTo>
                <a:close/>
              </a:path>
            </a:pathLst>
          </a:custGeom>
          <a:solidFill>
            <a:srgbClr val="5B9BD5"/>
          </a:solidFill>
          <a:ln>
            <a:noFill/>
          </a:ln>
        </p:spPr>
      </p:sp>
      <p:sp>
        <p:nvSpPr>
          <p:cNvPr id="32" name="Rectangle 32"/>
          <p:cNvSpPr/>
          <p:nvPr/>
        </p:nvSpPr>
        <p:spPr>
          <a:xfrm>
            <a:off x="2095500" y="4191000"/>
            <a:ext cx="8001000" cy="619125"/>
          </a:xfrm>
          <a:prstGeom prst="roundRect">
            <a:avLst>
              <a:gd name="adj" fmla="val 6154"/>
            </a:avLst>
          </a:prstGeom>
          <a:solidFill>
            <a:srgbClr val="F2F2F2"/>
          </a:solidFill>
          <a:ln w="19050">
            <a:solidFill>
              <a:srgbClr val="D9D9D9"/>
            </a:solidFill>
          </a:ln>
        </p:spPr>
      </p:sp>
      <p:sp>
        <p:nvSpPr>
          <p:cNvPr id="33" name="Rectangle 33"/>
          <p:cNvSpPr/>
          <p:nvPr/>
        </p:nvSpPr>
        <p:spPr>
          <a:xfrm>
            <a:off x="8953500" y="4191000"/>
            <a:ext cx="381000" cy="619125"/>
          </a:xfrm>
          <a:prstGeom prst="roundRect">
            <a:avLst>
              <a:gd name="adj" fmla="val 10000"/>
            </a:avLst>
          </a:prstGeom>
          <a:solidFill>
            <a:srgbClr val="D9D9D9"/>
          </a:solidFill>
          <a:ln>
            <a:noFill/>
          </a:ln>
        </p:spPr>
      </p:sp>
      <p:sp>
        <p:nvSpPr>
          <p:cNvPr id="34" name="TextBox 34"/>
          <p:cNvSpPr txBox="1"/>
          <p:nvPr/>
        </p:nvSpPr>
        <p:spPr>
          <a:xfrm>
            <a:off x="9177804" y="4413885"/>
            <a:ext cx="122892" cy="243840"/>
          </a:xfrm>
          <a:prstGeom prst="rect">
            <a:avLst/>
          </a:prstGeom>
          <a:noFill/>
          <a:ln>
            <a:noFill/>
          </a:ln>
        </p:spPr>
        <p:txBody>
          <a:bodyPr wrap="none" lIns="0" tIns="0" rIns="0" bIns="0" anchor="t" anchorCtr="0">
            <a:spAutoFit/>
          </a:bodyPr>
          <a:lstStyle/>
          <a:p>
            <a:pPr algn="ctr"/>
            <a:r>
              <a:rPr lang="zh-CN" sz="1200" b="1" dirty="0">
                <a:solidFill>
                  <a:srgbClr val="333333"/>
                </a:solidFill>
                <a:latin typeface="Arial"/>
                <a:ea typeface="Microsoft YaHei"/>
                <a:cs typeface="Arial"/>
              </a:rPr>
              <a:t>2</a:t>
            </a:r>
          </a:p>
        </p:txBody>
      </p:sp>
      <p:sp>
        <p:nvSpPr>
          <p:cNvPr id="35" name="TextBox 35"/>
          <p:cNvSpPr txBox="1"/>
          <p:nvPr/>
        </p:nvSpPr>
        <p:spPr>
          <a:xfrm>
            <a:off x="4538312" y="4311968"/>
            <a:ext cx="3115375" cy="274320"/>
          </a:xfrm>
          <a:prstGeom prst="rect">
            <a:avLst/>
          </a:prstGeom>
          <a:noFill/>
          <a:ln>
            <a:noFill/>
          </a:ln>
        </p:spPr>
        <p:txBody>
          <a:bodyPr wrap="none" lIns="0" tIns="0" rIns="0" bIns="0" anchor="t" anchorCtr="0">
            <a:spAutoFit/>
          </a:bodyPr>
          <a:lstStyle/>
          <a:p>
            <a:pPr algn="ctr"/>
            <a:r>
              <a:rPr lang="zh-CN" sz="1350" b="1" dirty="0">
                <a:solidFill>
                  <a:srgbClr val="333333"/>
                </a:solidFill>
                <a:latin typeface="Arial"/>
                <a:ea typeface="Microsoft YaHei"/>
                <a:cs typeface="Arial"/>
              </a:rPr>
              <a:t>数据层：多源采集 · 标准化 · 持久化</a:t>
            </a:r>
          </a:p>
        </p:txBody>
      </p:sp>
      <p:sp>
        <p:nvSpPr>
          <p:cNvPr id="36" name="TextBox 36"/>
          <p:cNvSpPr txBox="1"/>
          <p:nvPr/>
        </p:nvSpPr>
        <p:spPr>
          <a:xfrm>
            <a:off x="4523422" y="4561999"/>
            <a:ext cx="3145155" cy="198120"/>
          </a:xfrm>
          <a:prstGeom prst="rect">
            <a:avLst/>
          </a:prstGeom>
          <a:noFill/>
          <a:ln>
            <a:noFill/>
          </a:ln>
        </p:spPr>
        <p:txBody>
          <a:bodyPr wrap="none" lIns="0" tIns="0" rIns="0" bIns="0" anchor="t" anchorCtr="0">
            <a:spAutoFit/>
          </a:bodyPr>
          <a:lstStyle/>
          <a:p>
            <a:pPr algn="ctr"/>
            <a:r>
              <a:rPr lang="zh-CN" sz="975" dirty="0">
                <a:solidFill>
                  <a:srgbClr val="666666"/>
                </a:solidFill>
                <a:latin typeface="Arial"/>
                <a:ea typeface="Microsoft YaHei"/>
                <a:cs typeface="Arial"/>
              </a:rPr>
              <a:t>时序/关系/图存储 | CMDB · 告警 · 日志 · 变更 · 工单</a:t>
            </a:r>
          </a:p>
        </p:txBody>
      </p:sp>
      <p:sp>
        <p:nvSpPr>
          <p:cNvPr id="37" name="Polygon 37"/>
          <p:cNvSpPr/>
          <p:nvPr/>
        </p:nvSpPr>
        <p:spPr>
          <a:xfrm>
            <a:off x="5953125" y="4857750"/>
            <a:ext cx="285750" cy="152400"/>
          </a:xfrm>
          <a:custGeom>
            <a:avLst/>
            <a:gdLst/>
            <a:ahLst/>
            <a:cxnLst/>
            <a:rect l="l" t="t" r="r" b="b"/>
            <a:pathLst>
              <a:path w="285750" h="152400">
                <a:moveTo>
                  <a:pt x="142875" y="0"/>
                </a:moveTo>
                <a:lnTo>
                  <a:pt x="285750" y="76200"/>
                </a:lnTo>
                <a:lnTo>
                  <a:pt x="142875" y="152400"/>
                </a:lnTo>
                <a:lnTo>
                  <a:pt x="0" y="76200"/>
                </a:lnTo>
                <a:close/>
              </a:path>
            </a:pathLst>
          </a:custGeom>
          <a:solidFill>
            <a:srgbClr val="D9D9D9"/>
          </a:solidFill>
          <a:ln>
            <a:noFill/>
          </a:ln>
        </p:spPr>
      </p:sp>
      <p:sp>
        <p:nvSpPr>
          <p:cNvPr id="38" name="Rectangle 38"/>
          <p:cNvSpPr/>
          <p:nvPr/>
        </p:nvSpPr>
        <p:spPr>
          <a:xfrm>
            <a:off x="3238500" y="5067300"/>
            <a:ext cx="5715000" cy="523875"/>
          </a:xfrm>
          <a:prstGeom prst="roundRect">
            <a:avLst>
              <a:gd name="adj" fmla="val 7273"/>
            </a:avLst>
          </a:prstGeom>
          <a:solidFill>
            <a:srgbClr val="FDF3EB"/>
          </a:solidFill>
          <a:ln w="19050">
            <a:solidFill>
              <a:srgbClr val="F8CBAD"/>
            </a:solidFill>
          </a:ln>
        </p:spPr>
      </p:sp>
      <p:sp>
        <p:nvSpPr>
          <p:cNvPr id="39" name="Rectangle 39"/>
          <p:cNvSpPr/>
          <p:nvPr/>
        </p:nvSpPr>
        <p:spPr>
          <a:xfrm>
            <a:off x="8953500" y="5067300"/>
            <a:ext cx="381000" cy="523875"/>
          </a:xfrm>
          <a:prstGeom prst="roundRect">
            <a:avLst>
              <a:gd name="adj" fmla="val 10000"/>
            </a:avLst>
          </a:prstGeom>
          <a:solidFill>
            <a:srgbClr val="E8D5B7"/>
          </a:solidFill>
          <a:ln>
            <a:noFill/>
          </a:ln>
        </p:spPr>
      </p:sp>
      <p:sp>
        <p:nvSpPr>
          <p:cNvPr id="40" name="TextBox 40"/>
          <p:cNvSpPr txBox="1"/>
          <p:nvPr/>
        </p:nvSpPr>
        <p:spPr>
          <a:xfrm>
            <a:off x="9177804" y="5242560"/>
            <a:ext cx="122892" cy="243840"/>
          </a:xfrm>
          <a:prstGeom prst="rect">
            <a:avLst/>
          </a:prstGeom>
          <a:noFill/>
          <a:ln>
            <a:noFill/>
          </a:ln>
        </p:spPr>
        <p:txBody>
          <a:bodyPr wrap="none" lIns="0" tIns="0" rIns="0" bIns="0" anchor="t" anchorCtr="0">
            <a:spAutoFit/>
          </a:bodyPr>
          <a:lstStyle/>
          <a:p>
            <a:pPr algn="ctr"/>
            <a:r>
              <a:rPr lang="zh-CN" sz="1200" b="1" dirty="0">
                <a:solidFill>
                  <a:srgbClr val="C00000"/>
                </a:solidFill>
                <a:latin typeface="Arial"/>
                <a:ea typeface="Microsoft YaHei"/>
                <a:cs typeface="Arial"/>
              </a:rPr>
              <a:t>1</a:t>
            </a:r>
          </a:p>
        </p:txBody>
      </p:sp>
      <p:sp>
        <p:nvSpPr>
          <p:cNvPr id="41" name="TextBox 41"/>
          <p:cNvSpPr txBox="1"/>
          <p:nvPr/>
        </p:nvSpPr>
        <p:spPr>
          <a:xfrm>
            <a:off x="3744413" y="5207318"/>
            <a:ext cx="4703174" cy="274320"/>
          </a:xfrm>
          <a:prstGeom prst="rect">
            <a:avLst/>
          </a:prstGeom>
          <a:noFill/>
          <a:ln>
            <a:noFill/>
          </a:ln>
        </p:spPr>
        <p:txBody>
          <a:bodyPr wrap="none" lIns="0" tIns="0" rIns="0" bIns="0" anchor="t" anchorCtr="0">
            <a:spAutoFit/>
          </a:bodyPr>
          <a:lstStyle/>
          <a:p>
            <a:pPr algn="ctr"/>
            <a:r>
              <a:rPr lang="zh-CN" sz="1350" b="1" dirty="0">
                <a:solidFill>
                  <a:srgbClr val="C00000"/>
                </a:solidFill>
                <a:latin typeface="Arial"/>
                <a:ea typeface="Microsoft YaHei"/>
                <a:cs typeface="Arial"/>
              </a:rPr>
              <a:t>基础设施层：LLM API · 前端 · 后端(FastAPI) · 数据库</a:t>
            </a:r>
          </a:p>
        </p:txBody>
      </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38100"/>
          </a:xfrm>
          <a:prstGeom prst="rect">
            <a:avLst/>
          </a:prstGeom>
          <a:solidFill>
            <a:srgbClr val="C00000"/>
          </a:solidFill>
          <a:ln>
            <a:noFill/>
          </a:ln>
        </p:spPr>
      </p:sp>
      <p:sp>
        <p:nvSpPr>
          <p:cNvPr id="4" name="Rectangle 4"/>
          <p:cNvSpPr/>
          <p:nvPr/>
        </p:nvSpPr>
        <p:spPr>
          <a:xfrm>
            <a:off x="0" y="38100"/>
            <a:ext cx="12192000" cy="723900"/>
          </a:xfrm>
          <a:prstGeom prst="rect">
            <a:avLst/>
          </a:prstGeom>
          <a:solidFill>
            <a:srgbClr val="FFFFFF"/>
          </a:solidFill>
          <a:ln>
            <a:noFill/>
          </a:ln>
        </p:spPr>
      </p:sp>
      <p:sp>
        <p:nvSpPr>
          <p:cNvPr id="5" name="Line 5"/>
          <p:cNvSpPr/>
          <p:nvPr/>
        </p:nvSpPr>
        <p:spPr>
          <a:xfrm>
            <a:off x="0" y="762000"/>
            <a:ext cx="12192000" cy="9525"/>
          </a:xfrm>
          <a:custGeom>
            <a:avLst/>
            <a:gdLst/>
            <a:ahLst/>
            <a:cxnLst/>
            <a:rect l="l" t="t" r="r" b="b"/>
            <a:pathLst>
              <a:path w="12192000" h="9525">
                <a:moveTo>
                  <a:pt x="0" y="0"/>
                </a:moveTo>
                <a:lnTo>
                  <a:pt x="12192000" y="0"/>
                </a:lnTo>
              </a:path>
            </a:pathLst>
          </a:custGeom>
          <a:noFill/>
          <a:ln w="9525">
            <a:solidFill>
              <a:srgbClr val="E7E6E6"/>
            </a:solidFill>
          </a:ln>
        </p:spPr>
      </p:sp>
      <p:sp>
        <p:nvSpPr>
          <p:cNvPr id="6" name="Rectangle 6"/>
          <p:cNvSpPr/>
          <p:nvPr/>
        </p:nvSpPr>
        <p:spPr>
          <a:xfrm>
            <a:off x="476250" y="190500"/>
            <a:ext cx="76200" cy="381000"/>
          </a:xfrm>
          <a:prstGeom prst="rect">
            <a:avLst/>
          </a:prstGeom>
          <a:solidFill>
            <a:srgbClr val="C00000"/>
          </a:solidFill>
          <a:ln>
            <a:noFill/>
          </a:ln>
        </p:spPr>
      </p:sp>
      <p:sp>
        <p:nvSpPr>
          <p:cNvPr id="7" name="TextBox 7"/>
          <p:cNvSpPr txBox="1"/>
          <p:nvPr/>
        </p:nvSpPr>
        <p:spPr>
          <a:xfrm>
            <a:off x="655320" y="236220"/>
            <a:ext cx="2749296" cy="487680"/>
          </a:xfrm>
          <a:prstGeom prst="rect">
            <a:avLst/>
          </a:prstGeom>
          <a:noFill/>
          <a:ln>
            <a:noFill/>
          </a:ln>
        </p:spPr>
        <p:txBody>
          <a:bodyPr wrap="none" lIns="0" tIns="0" rIns="0" bIns="0" anchor="t" anchorCtr="0">
            <a:spAutoFit/>
          </a:bodyPr>
          <a:lstStyle/>
          <a:p>
            <a:pPr algn="l"/>
            <a:r>
              <a:rPr lang="zh-CN" sz="2400" b="1" dirty="0">
                <a:solidFill>
                  <a:srgbClr val="000000"/>
                </a:solidFill>
                <a:latin typeface="Arial"/>
                <a:ea typeface="Microsoft YaHei"/>
                <a:cs typeface="Arial"/>
              </a:rPr>
              <a:t>平台基础能力矩阵</a:t>
            </a:r>
          </a:p>
        </p:txBody>
      </p:sp>
      <p:sp>
        <p:nvSpPr>
          <p:cNvPr id="8" name="Rectangle 8"/>
          <p:cNvSpPr/>
          <p:nvPr/>
        </p:nvSpPr>
        <p:spPr>
          <a:xfrm>
            <a:off x="476250" y="904875"/>
            <a:ext cx="11239500" cy="476250"/>
          </a:xfrm>
          <a:prstGeom prst="rect">
            <a:avLst/>
          </a:prstGeom>
          <a:solidFill>
            <a:srgbClr val="F2F2F2"/>
          </a:solidFill>
          <a:ln>
            <a:noFill/>
          </a:ln>
        </p:spPr>
      </p:sp>
      <p:sp>
        <p:nvSpPr>
          <p:cNvPr id="9" name="TextBox 9"/>
          <p:cNvSpPr txBox="1"/>
          <p:nvPr/>
        </p:nvSpPr>
        <p:spPr>
          <a:xfrm>
            <a:off x="4252531" y="1061085"/>
            <a:ext cx="3686937" cy="243840"/>
          </a:xfrm>
          <a:prstGeom prst="rect">
            <a:avLst/>
          </a:prstGeom>
          <a:noFill/>
          <a:ln>
            <a:noFill/>
          </a:ln>
        </p:spPr>
        <p:txBody>
          <a:bodyPr wrap="none" lIns="0" tIns="0" rIns="0" bIns="0" anchor="t" anchorCtr="0">
            <a:spAutoFit/>
          </a:bodyPr>
          <a:lstStyle/>
          <a:p>
            <a:pPr algn="ctr"/>
            <a:r>
              <a:rPr lang="zh-CN" sz="1200" dirty="0">
                <a:solidFill>
                  <a:srgbClr val="333333"/>
                </a:solidFill>
                <a:latin typeface="Arial"/>
                <a:ea typeface="Microsoft YaHei"/>
                <a:cs typeface="Arial"/>
              </a:rPr>
              <a:t>四大基础模块为上层AI认知提供完整数据与执行支撑</a:t>
            </a:r>
          </a:p>
        </p:txBody>
      </p:sp>
      <p:sp>
        <p:nvSpPr>
          <p:cNvPr id="10" name="Rectangle 10"/>
          <p:cNvSpPr/>
          <p:nvPr/>
        </p:nvSpPr>
        <p:spPr>
          <a:xfrm>
            <a:off x="0" y="6477000"/>
            <a:ext cx="12192000" cy="381000"/>
          </a:xfrm>
          <a:prstGeom prst="rect">
            <a:avLst/>
          </a:prstGeom>
          <a:solidFill>
            <a:srgbClr val="F2F2F2"/>
          </a:solidFill>
          <a:ln>
            <a:noFill/>
          </a:ln>
        </p:spPr>
      </p:sp>
      <p:sp>
        <p:nvSpPr>
          <p:cNvPr id="11" name="Rectangle 11"/>
          <p:cNvSpPr/>
          <p:nvPr/>
        </p:nvSpPr>
        <p:spPr>
          <a:xfrm>
            <a:off x="0" y="6477000"/>
            <a:ext cx="38100" cy="381000"/>
          </a:xfrm>
          <a:prstGeom prst="rect">
            <a:avLst/>
          </a:prstGeom>
          <a:solidFill>
            <a:srgbClr val="C00000"/>
          </a:solidFill>
          <a:ln>
            <a:noFill/>
          </a:ln>
        </p:spPr>
      </p:sp>
      <p:sp>
        <p:nvSpPr>
          <p:cNvPr id="12" name="TextBox 12"/>
          <p:cNvSpPr txBox="1"/>
          <p:nvPr/>
        </p:nvSpPr>
        <p:spPr>
          <a:xfrm>
            <a:off x="558165" y="6611302"/>
            <a:ext cx="586740" cy="213360"/>
          </a:xfrm>
          <a:prstGeom prst="rect">
            <a:avLst/>
          </a:prstGeom>
          <a:noFill/>
          <a:ln>
            <a:noFill/>
          </a:ln>
        </p:spPr>
        <p:txBody>
          <a:bodyPr wrap="none" lIns="0" tIns="0" rIns="0" bIns="0" anchor="t" anchorCtr="0">
            <a:spAutoFit/>
          </a:bodyPr>
          <a:lstStyle/>
          <a:p>
            <a:pPr algn="l"/>
            <a:r>
              <a:rPr lang="zh-CN" sz="1050" dirty="0">
                <a:solidFill>
                  <a:srgbClr val="666666"/>
                </a:solidFill>
                <a:latin typeface="Arial"/>
                <a:ea typeface="Microsoft YaHei"/>
                <a:cs typeface="Arial"/>
              </a:rPr>
              <a:t>方案介绍</a:t>
            </a:r>
          </a:p>
        </p:txBody>
      </p:sp>
      <p:sp>
        <p:nvSpPr>
          <p:cNvPr id="13" name="Rectangle 13"/>
          <p:cNvSpPr/>
          <p:nvPr/>
        </p:nvSpPr>
        <p:spPr>
          <a:xfrm>
            <a:off x="11525250" y="6553200"/>
            <a:ext cx="285750" cy="228600"/>
          </a:xfrm>
          <a:prstGeom prst="rect">
            <a:avLst/>
          </a:prstGeom>
          <a:solidFill>
            <a:srgbClr val="C00000"/>
          </a:solidFill>
          <a:ln>
            <a:noFill/>
          </a:ln>
        </p:spPr>
      </p:sp>
      <p:sp>
        <p:nvSpPr>
          <p:cNvPr id="14" name="TextBox 14"/>
          <p:cNvSpPr txBox="1"/>
          <p:nvPr/>
        </p:nvSpPr>
        <p:spPr>
          <a:xfrm>
            <a:off x="11614360" y="6611302"/>
            <a:ext cx="107530"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Arial"/>
                <a:ea typeface="Microsoft YaHei"/>
                <a:cs typeface="Arial"/>
              </a:rPr>
              <a:t>8</a:t>
            </a:r>
          </a:p>
        </p:txBody>
      </p:sp>
      <p:sp>
        <p:nvSpPr>
          <p:cNvPr id="15" name="Rectangle 15"/>
          <p:cNvSpPr/>
          <p:nvPr/>
        </p:nvSpPr>
        <p:spPr>
          <a:xfrm>
            <a:off x="571500" y="1666875"/>
            <a:ext cx="5286375" cy="2095500"/>
          </a:xfrm>
          <a:prstGeom prst="roundRect">
            <a:avLst>
              <a:gd name="adj" fmla="val 1818"/>
            </a:avLst>
          </a:prstGeom>
          <a:solidFill>
            <a:srgbClr val="FFFFFF"/>
          </a:solidFill>
          <a:ln w="19050">
            <a:solidFill>
              <a:srgbClr val="E7E6E6"/>
            </a:solidFill>
          </a:ln>
        </p:spPr>
      </p:sp>
      <p:sp>
        <p:nvSpPr>
          <p:cNvPr id="16" name="Rectangle 16"/>
          <p:cNvSpPr/>
          <p:nvPr/>
        </p:nvSpPr>
        <p:spPr>
          <a:xfrm>
            <a:off x="571500" y="1666875"/>
            <a:ext cx="381000" cy="381000"/>
          </a:xfrm>
          <a:prstGeom prst="rect">
            <a:avLst/>
          </a:prstGeom>
          <a:solidFill>
            <a:srgbClr val="C00000"/>
          </a:solidFill>
          <a:ln>
            <a:noFill/>
          </a:ln>
        </p:spPr>
      </p:sp>
      <p:sp>
        <p:nvSpPr>
          <p:cNvPr id="17" name="TextBox 17"/>
          <p:cNvSpPr txBox="1"/>
          <p:nvPr/>
        </p:nvSpPr>
        <p:spPr>
          <a:xfrm>
            <a:off x="685193" y="1752600"/>
            <a:ext cx="153614" cy="304800"/>
          </a:xfrm>
          <a:prstGeom prst="rect">
            <a:avLst/>
          </a:prstGeom>
          <a:noFill/>
          <a:ln>
            <a:noFill/>
          </a:ln>
        </p:spPr>
        <p:txBody>
          <a:bodyPr wrap="none" lIns="0" tIns="0" rIns="0" bIns="0" anchor="t" anchorCtr="0">
            <a:spAutoFit/>
          </a:bodyPr>
          <a:lstStyle/>
          <a:p>
            <a:pPr algn="ctr"/>
            <a:r>
              <a:rPr lang="zh-CN" sz="1500" b="1" dirty="0">
                <a:solidFill>
                  <a:srgbClr val="FFFFFF"/>
                </a:solidFill>
                <a:latin typeface="Arial"/>
                <a:ea typeface="Microsoft YaHei"/>
                <a:cs typeface="Arial"/>
              </a:rPr>
              <a:t>1</a:t>
            </a:r>
          </a:p>
        </p:txBody>
      </p:sp>
      <p:sp>
        <p:nvSpPr>
          <p:cNvPr id="18" name="TextBox 18"/>
          <p:cNvSpPr txBox="1"/>
          <p:nvPr/>
        </p:nvSpPr>
        <p:spPr>
          <a:xfrm>
            <a:off x="1122045" y="1764982"/>
            <a:ext cx="966026" cy="335280"/>
          </a:xfrm>
          <a:prstGeom prst="rect">
            <a:avLst/>
          </a:prstGeom>
          <a:noFill/>
          <a:ln>
            <a:noFill/>
          </a:ln>
        </p:spPr>
        <p:txBody>
          <a:bodyPr wrap="none" lIns="0" tIns="0" rIns="0" bIns="0" anchor="t" anchorCtr="0">
            <a:spAutoFit/>
          </a:bodyPr>
          <a:lstStyle/>
          <a:p>
            <a:pPr algn="l"/>
            <a:r>
              <a:rPr lang="zh-CN" sz="1650" b="1" dirty="0">
                <a:solidFill>
                  <a:srgbClr val="C00000"/>
                </a:solidFill>
                <a:latin typeface="Arial"/>
                <a:ea typeface="Microsoft YaHei"/>
                <a:cs typeface="Arial"/>
              </a:rPr>
              <a:t>数据采集</a:t>
            </a:r>
          </a:p>
        </p:txBody>
      </p:sp>
      <p:sp>
        <p:nvSpPr>
          <p:cNvPr id="19" name="TextBox 19"/>
          <p:cNvSpPr txBox="1"/>
          <p:nvPr/>
        </p:nvSpPr>
        <p:spPr>
          <a:xfrm>
            <a:off x="1129665" y="2077402"/>
            <a:ext cx="2827020" cy="213360"/>
          </a:xfrm>
          <a:prstGeom prst="rect">
            <a:avLst/>
          </a:prstGeom>
          <a:noFill/>
          <a:ln>
            <a:noFill/>
          </a:ln>
        </p:spPr>
        <p:txBody>
          <a:bodyPr wrap="none" lIns="0" tIns="0" rIns="0" bIns="0" anchor="t" anchorCtr="0">
            <a:spAutoFit/>
          </a:bodyPr>
          <a:lstStyle/>
          <a:p>
            <a:pPr algn="l"/>
            <a:r>
              <a:rPr lang="zh-CN" sz="1050" dirty="0">
                <a:solidFill>
                  <a:srgbClr val="666666"/>
                </a:solidFill>
                <a:latin typeface="Arial"/>
                <a:ea typeface="Microsoft YaHei"/>
                <a:cs typeface="Arial"/>
              </a:rPr>
              <a:t>CMDB · 告警 · 日志 · 变更 · 工单标准化入库</a:t>
            </a:r>
          </a:p>
        </p:txBody>
      </p:sp>
      <p:sp>
        <p:nvSpPr>
          <p:cNvPr id="20" name="Line 20"/>
          <p:cNvSpPr/>
          <p:nvPr/>
        </p:nvSpPr>
        <p:spPr>
          <a:xfrm>
            <a:off x="762000" y="2333625"/>
            <a:ext cx="4905375" cy="9525"/>
          </a:xfrm>
          <a:custGeom>
            <a:avLst/>
            <a:gdLst/>
            <a:ahLst/>
            <a:cxnLst/>
            <a:rect l="l" t="t" r="r" b="b"/>
            <a:pathLst>
              <a:path w="4905375" h="9525">
                <a:moveTo>
                  <a:pt x="0" y="0"/>
                </a:moveTo>
                <a:lnTo>
                  <a:pt x="4905375" y="0"/>
                </a:lnTo>
              </a:path>
            </a:pathLst>
          </a:custGeom>
          <a:noFill/>
          <a:ln w="9525">
            <a:solidFill>
              <a:srgbClr val="E7E6E6"/>
            </a:solidFill>
          </a:ln>
        </p:spPr>
      </p:sp>
      <p:sp>
        <p:nvSpPr>
          <p:cNvPr id="21" name="Rectangle 21"/>
          <p:cNvSpPr/>
          <p:nvPr/>
        </p:nvSpPr>
        <p:spPr>
          <a:xfrm>
            <a:off x="762000" y="2524125"/>
            <a:ext cx="1524000" cy="381000"/>
          </a:xfrm>
          <a:prstGeom prst="roundRect">
            <a:avLst>
              <a:gd name="adj" fmla="val 7500"/>
            </a:avLst>
          </a:prstGeom>
          <a:solidFill>
            <a:srgbClr val="F2F2F2"/>
          </a:solidFill>
          <a:ln w="9525">
            <a:solidFill>
              <a:srgbClr val="D9D9D9"/>
            </a:solidFill>
          </a:ln>
        </p:spPr>
      </p:sp>
      <p:sp>
        <p:nvSpPr>
          <p:cNvPr id="22" name="TextBox 22"/>
          <p:cNvSpPr txBox="1"/>
          <p:nvPr/>
        </p:nvSpPr>
        <p:spPr>
          <a:xfrm>
            <a:off x="1062609" y="2648902"/>
            <a:ext cx="922782" cy="213360"/>
          </a:xfrm>
          <a:prstGeom prst="rect">
            <a:avLst/>
          </a:prstGeom>
          <a:noFill/>
          <a:ln>
            <a:noFill/>
          </a:ln>
        </p:spPr>
        <p:txBody>
          <a:bodyPr wrap="none" lIns="0" tIns="0" rIns="0" bIns="0" anchor="t" anchorCtr="0">
            <a:spAutoFit/>
          </a:bodyPr>
          <a:lstStyle/>
          <a:p>
            <a:pPr algn="ctr"/>
            <a:r>
              <a:rPr lang="zh-CN" sz="1050" dirty="0">
                <a:solidFill>
                  <a:srgbClr val="333333"/>
                </a:solidFill>
                <a:latin typeface="Arial"/>
                <a:ea typeface="Microsoft YaHei"/>
                <a:cs typeface="Arial"/>
              </a:rPr>
              <a:t>CMDB资源管理</a:t>
            </a:r>
          </a:p>
        </p:txBody>
      </p:sp>
      <p:sp>
        <p:nvSpPr>
          <p:cNvPr id="23" name="Rectangle 23"/>
          <p:cNvSpPr/>
          <p:nvPr/>
        </p:nvSpPr>
        <p:spPr>
          <a:xfrm>
            <a:off x="2428875" y="2524125"/>
            <a:ext cx="1524000" cy="381000"/>
          </a:xfrm>
          <a:prstGeom prst="roundRect">
            <a:avLst>
              <a:gd name="adj" fmla="val 7500"/>
            </a:avLst>
          </a:prstGeom>
          <a:solidFill>
            <a:srgbClr val="F2F2F2"/>
          </a:solidFill>
          <a:ln w="9525">
            <a:solidFill>
              <a:srgbClr val="D9D9D9"/>
            </a:solidFill>
          </a:ln>
        </p:spPr>
      </p:sp>
      <p:sp>
        <p:nvSpPr>
          <p:cNvPr id="24" name="TextBox 24"/>
          <p:cNvSpPr txBox="1"/>
          <p:nvPr/>
        </p:nvSpPr>
        <p:spPr>
          <a:xfrm>
            <a:off x="2897505" y="2648902"/>
            <a:ext cx="586740" cy="213360"/>
          </a:xfrm>
          <a:prstGeom prst="rect">
            <a:avLst/>
          </a:prstGeom>
          <a:noFill/>
          <a:ln>
            <a:noFill/>
          </a:ln>
        </p:spPr>
        <p:txBody>
          <a:bodyPr wrap="none" lIns="0" tIns="0" rIns="0" bIns="0" anchor="t" anchorCtr="0">
            <a:spAutoFit/>
          </a:bodyPr>
          <a:lstStyle/>
          <a:p>
            <a:pPr algn="ctr"/>
            <a:r>
              <a:rPr lang="zh-CN" sz="1050" dirty="0">
                <a:solidFill>
                  <a:srgbClr val="333333"/>
                </a:solidFill>
                <a:latin typeface="Arial"/>
                <a:ea typeface="Microsoft YaHei"/>
                <a:cs typeface="Arial"/>
              </a:rPr>
              <a:t>告警接入</a:t>
            </a:r>
          </a:p>
        </p:txBody>
      </p:sp>
      <p:sp>
        <p:nvSpPr>
          <p:cNvPr id="25" name="Rectangle 25"/>
          <p:cNvSpPr/>
          <p:nvPr/>
        </p:nvSpPr>
        <p:spPr>
          <a:xfrm>
            <a:off x="4095750" y="2524125"/>
            <a:ext cx="1571625" cy="381000"/>
          </a:xfrm>
          <a:prstGeom prst="roundRect">
            <a:avLst>
              <a:gd name="adj" fmla="val 7500"/>
            </a:avLst>
          </a:prstGeom>
          <a:solidFill>
            <a:srgbClr val="F2F2F2"/>
          </a:solidFill>
          <a:ln w="9525">
            <a:solidFill>
              <a:srgbClr val="D9D9D9"/>
            </a:solidFill>
          </a:ln>
        </p:spPr>
      </p:sp>
      <p:sp>
        <p:nvSpPr>
          <p:cNvPr id="26" name="TextBox 26"/>
          <p:cNvSpPr txBox="1"/>
          <p:nvPr/>
        </p:nvSpPr>
        <p:spPr>
          <a:xfrm>
            <a:off x="4583430" y="2648902"/>
            <a:ext cx="586740" cy="213360"/>
          </a:xfrm>
          <a:prstGeom prst="rect">
            <a:avLst/>
          </a:prstGeom>
          <a:noFill/>
          <a:ln>
            <a:noFill/>
          </a:ln>
        </p:spPr>
        <p:txBody>
          <a:bodyPr wrap="none" lIns="0" tIns="0" rIns="0" bIns="0" anchor="t" anchorCtr="0">
            <a:spAutoFit/>
          </a:bodyPr>
          <a:lstStyle/>
          <a:p>
            <a:pPr algn="ctr"/>
            <a:r>
              <a:rPr lang="zh-CN" sz="1050" dirty="0">
                <a:solidFill>
                  <a:srgbClr val="333333"/>
                </a:solidFill>
                <a:latin typeface="Arial"/>
                <a:ea typeface="Microsoft YaHei"/>
                <a:cs typeface="Arial"/>
              </a:rPr>
              <a:t>日志采集</a:t>
            </a:r>
          </a:p>
        </p:txBody>
      </p:sp>
      <p:sp>
        <p:nvSpPr>
          <p:cNvPr id="27" name="Rectangle 27"/>
          <p:cNvSpPr/>
          <p:nvPr/>
        </p:nvSpPr>
        <p:spPr>
          <a:xfrm>
            <a:off x="762000" y="3048000"/>
            <a:ext cx="1524000" cy="381000"/>
          </a:xfrm>
          <a:prstGeom prst="roundRect">
            <a:avLst>
              <a:gd name="adj" fmla="val 7500"/>
            </a:avLst>
          </a:prstGeom>
          <a:solidFill>
            <a:srgbClr val="F2F2F2"/>
          </a:solidFill>
          <a:ln w="9525">
            <a:solidFill>
              <a:srgbClr val="D9D9D9"/>
            </a:solidFill>
          </a:ln>
        </p:spPr>
      </p:sp>
      <p:sp>
        <p:nvSpPr>
          <p:cNvPr id="28" name="TextBox 28"/>
          <p:cNvSpPr txBox="1"/>
          <p:nvPr/>
        </p:nvSpPr>
        <p:spPr>
          <a:xfrm>
            <a:off x="1230630" y="3172778"/>
            <a:ext cx="586740" cy="213360"/>
          </a:xfrm>
          <a:prstGeom prst="rect">
            <a:avLst/>
          </a:prstGeom>
          <a:noFill/>
          <a:ln>
            <a:noFill/>
          </a:ln>
        </p:spPr>
        <p:txBody>
          <a:bodyPr wrap="none" lIns="0" tIns="0" rIns="0" bIns="0" anchor="t" anchorCtr="0">
            <a:spAutoFit/>
          </a:bodyPr>
          <a:lstStyle/>
          <a:p>
            <a:pPr algn="ctr"/>
            <a:r>
              <a:rPr lang="zh-CN" sz="1050" dirty="0">
                <a:solidFill>
                  <a:srgbClr val="333333"/>
                </a:solidFill>
                <a:latin typeface="Arial"/>
                <a:ea typeface="Microsoft YaHei"/>
                <a:cs typeface="Arial"/>
              </a:rPr>
              <a:t>变更记录</a:t>
            </a:r>
          </a:p>
        </p:txBody>
      </p:sp>
      <p:sp>
        <p:nvSpPr>
          <p:cNvPr id="29" name="Rectangle 29"/>
          <p:cNvSpPr/>
          <p:nvPr/>
        </p:nvSpPr>
        <p:spPr>
          <a:xfrm>
            <a:off x="2428875" y="3048000"/>
            <a:ext cx="1524000" cy="381000"/>
          </a:xfrm>
          <a:prstGeom prst="roundRect">
            <a:avLst>
              <a:gd name="adj" fmla="val 7500"/>
            </a:avLst>
          </a:prstGeom>
          <a:solidFill>
            <a:srgbClr val="F2F2F2"/>
          </a:solidFill>
          <a:ln w="9525">
            <a:solidFill>
              <a:srgbClr val="D9D9D9"/>
            </a:solidFill>
          </a:ln>
        </p:spPr>
      </p:sp>
      <p:sp>
        <p:nvSpPr>
          <p:cNvPr id="30" name="TextBox 30"/>
          <p:cNvSpPr txBox="1"/>
          <p:nvPr/>
        </p:nvSpPr>
        <p:spPr>
          <a:xfrm>
            <a:off x="2757488" y="3172778"/>
            <a:ext cx="866775" cy="213360"/>
          </a:xfrm>
          <a:prstGeom prst="rect">
            <a:avLst/>
          </a:prstGeom>
          <a:noFill/>
          <a:ln>
            <a:noFill/>
          </a:ln>
        </p:spPr>
        <p:txBody>
          <a:bodyPr wrap="none" lIns="0" tIns="0" rIns="0" bIns="0" anchor="t" anchorCtr="0">
            <a:spAutoFit/>
          </a:bodyPr>
          <a:lstStyle/>
          <a:p>
            <a:pPr algn="ctr"/>
            <a:r>
              <a:rPr lang="zh-CN" sz="1050" dirty="0">
                <a:solidFill>
                  <a:srgbClr val="333333"/>
                </a:solidFill>
                <a:latin typeface="Arial"/>
                <a:ea typeface="Microsoft YaHei"/>
                <a:cs typeface="Arial"/>
              </a:rPr>
              <a:t>工单系统对接</a:t>
            </a:r>
          </a:p>
        </p:txBody>
      </p:sp>
      <p:sp>
        <p:nvSpPr>
          <p:cNvPr id="31" name="Rectangle 31"/>
          <p:cNvSpPr/>
          <p:nvPr/>
        </p:nvSpPr>
        <p:spPr>
          <a:xfrm>
            <a:off x="6334125" y="1666875"/>
            <a:ext cx="5286375" cy="2095500"/>
          </a:xfrm>
          <a:prstGeom prst="roundRect">
            <a:avLst>
              <a:gd name="adj" fmla="val 1818"/>
            </a:avLst>
          </a:prstGeom>
          <a:solidFill>
            <a:srgbClr val="FFFFFF"/>
          </a:solidFill>
          <a:ln w="19050">
            <a:solidFill>
              <a:srgbClr val="E7E6E6"/>
            </a:solidFill>
          </a:ln>
        </p:spPr>
      </p:sp>
      <p:sp>
        <p:nvSpPr>
          <p:cNvPr id="32" name="Rectangle 32"/>
          <p:cNvSpPr/>
          <p:nvPr/>
        </p:nvSpPr>
        <p:spPr>
          <a:xfrm>
            <a:off x="6334125" y="1666875"/>
            <a:ext cx="381000" cy="381000"/>
          </a:xfrm>
          <a:prstGeom prst="rect">
            <a:avLst/>
          </a:prstGeom>
          <a:solidFill>
            <a:srgbClr val="C00000"/>
          </a:solidFill>
          <a:ln>
            <a:noFill/>
          </a:ln>
        </p:spPr>
      </p:sp>
      <p:sp>
        <p:nvSpPr>
          <p:cNvPr id="33" name="TextBox 33"/>
          <p:cNvSpPr txBox="1"/>
          <p:nvPr/>
        </p:nvSpPr>
        <p:spPr>
          <a:xfrm>
            <a:off x="6447818" y="1752600"/>
            <a:ext cx="153614" cy="304800"/>
          </a:xfrm>
          <a:prstGeom prst="rect">
            <a:avLst/>
          </a:prstGeom>
          <a:noFill/>
          <a:ln>
            <a:noFill/>
          </a:ln>
        </p:spPr>
        <p:txBody>
          <a:bodyPr wrap="none" lIns="0" tIns="0" rIns="0" bIns="0" anchor="t" anchorCtr="0">
            <a:spAutoFit/>
          </a:bodyPr>
          <a:lstStyle/>
          <a:p>
            <a:pPr algn="ctr"/>
            <a:r>
              <a:rPr lang="zh-CN" sz="1500" b="1" dirty="0">
                <a:solidFill>
                  <a:srgbClr val="FFFFFF"/>
                </a:solidFill>
                <a:latin typeface="Arial"/>
                <a:ea typeface="Microsoft YaHei"/>
                <a:cs typeface="Arial"/>
              </a:rPr>
              <a:t>2</a:t>
            </a:r>
          </a:p>
        </p:txBody>
      </p:sp>
      <p:sp>
        <p:nvSpPr>
          <p:cNvPr id="34" name="TextBox 34"/>
          <p:cNvSpPr txBox="1"/>
          <p:nvPr/>
        </p:nvSpPr>
        <p:spPr>
          <a:xfrm>
            <a:off x="6837045" y="1764982"/>
            <a:ext cx="734997" cy="335280"/>
          </a:xfrm>
          <a:prstGeom prst="rect">
            <a:avLst/>
          </a:prstGeom>
          <a:noFill/>
          <a:ln>
            <a:noFill/>
          </a:ln>
        </p:spPr>
        <p:txBody>
          <a:bodyPr wrap="none" lIns="0" tIns="0" rIns="0" bIns="0" anchor="t" anchorCtr="0">
            <a:spAutoFit/>
          </a:bodyPr>
          <a:lstStyle/>
          <a:p>
            <a:pPr algn="l"/>
            <a:r>
              <a:rPr lang="zh-CN" sz="1650" b="1" dirty="0">
                <a:solidFill>
                  <a:srgbClr val="C00000"/>
                </a:solidFill>
                <a:latin typeface="Arial"/>
                <a:ea typeface="Microsoft YaHei"/>
                <a:cs typeface="Arial"/>
              </a:rPr>
              <a:t>知识库</a:t>
            </a:r>
          </a:p>
        </p:txBody>
      </p:sp>
      <p:sp>
        <p:nvSpPr>
          <p:cNvPr id="35" name="TextBox 35"/>
          <p:cNvSpPr txBox="1"/>
          <p:nvPr/>
        </p:nvSpPr>
        <p:spPr>
          <a:xfrm>
            <a:off x="6844665" y="2077402"/>
            <a:ext cx="2785015" cy="213360"/>
          </a:xfrm>
          <a:prstGeom prst="rect">
            <a:avLst/>
          </a:prstGeom>
          <a:noFill/>
          <a:ln>
            <a:noFill/>
          </a:ln>
        </p:spPr>
        <p:txBody>
          <a:bodyPr wrap="none" lIns="0" tIns="0" rIns="0" bIns="0" anchor="t" anchorCtr="0">
            <a:spAutoFit/>
          </a:bodyPr>
          <a:lstStyle/>
          <a:p>
            <a:pPr algn="l"/>
            <a:r>
              <a:rPr lang="zh-CN" sz="1050" dirty="0">
                <a:solidFill>
                  <a:srgbClr val="666666"/>
                </a:solidFill>
                <a:latin typeface="Arial"/>
                <a:ea typeface="Microsoft YaHei"/>
                <a:cs typeface="Arial"/>
              </a:rPr>
              <a:t>文档/案例库 + 向量检索，支持相似案例召回</a:t>
            </a:r>
          </a:p>
        </p:txBody>
      </p:sp>
      <p:sp>
        <p:nvSpPr>
          <p:cNvPr id="36" name="Line 36"/>
          <p:cNvSpPr/>
          <p:nvPr/>
        </p:nvSpPr>
        <p:spPr>
          <a:xfrm>
            <a:off x="6524625" y="2333625"/>
            <a:ext cx="4905375" cy="9525"/>
          </a:xfrm>
          <a:custGeom>
            <a:avLst/>
            <a:gdLst/>
            <a:ahLst/>
            <a:cxnLst/>
            <a:rect l="l" t="t" r="r" b="b"/>
            <a:pathLst>
              <a:path w="4905375" h="9525">
                <a:moveTo>
                  <a:pt x="0" y="0"/>
                </a:moveTo>
                <a:lnTo>
                  <a:pt x="4905375" y="0"/>
                </a:lnTo>
              </a:path>
            </a:pathLst>
          </a:custGeom>
          <a:noFill/>
          <a:ln w="9525">
            <a:solidFill>
              <a:srgbClr val="E7E6E6"/>
            </a:solidFill>
          </a:ln>
        </p:spPr>
      </p:sp>
      <p:sp>
        <p:nvSpPr>
          <p:cNvPr id="37" name="Rectangle 37"/>
          <p:cNvSpPr/>
          <p:nvPr/>
        </p:nvSpPr>
        <p:spPr>
          <a:xfrm>
            <a:off x="6524625" y="2524125"/>
            <a:ext cx="1524000" cy="381000"/>
          </a:xfrm>
          <a:prstGeom prst="roundRect">
            <a:avLst>
              <a:gd name="adj" fmla="val 7500"/>
            </a:avLst>
          </a:prstGeom>
          <a:solidFill>
            <a:srgbClr val="F2F2F2"/>
          </a:solidFill>
          <a:ln w="9525">
            <a:solidFill>
              <a:srgbClr val="D9D9D9"/>
            </a:solidFill>
          </a:ln>
        </p:spPr>
      </p:sp>
      <p:sp>
        <p:nvSpPr>
          <p:cNvPr id="38" name="TextBox 38"/>
          <p:cNvSpPr txBox="1"/>
          <p:nvPr/>
        </p:nvSpPr>
        <p:spPr>
          <a:xfrm>
            <a:off x="6923246" y="2648902"/>
            <a:ext cx="726758" cy="213360"/>
          </a:xfrm>
          <a:prstGeom prst="rect">
            <a:avLst/>
          </a:prstGeom>
          <a:noFill/>
          <a:ln>
            <a:noFill/>
          </a:ln>
        </p:spPr>
        <p:txBody>
          <a:bodyPr wrap="none" lIns="0" tIns="0" rIns="0" bIns="0" anchor="t" anchorCtr="0">
            <a:spAutoFit/>
          </a:bodyPr>
          <a:lstStyle/>
          <a:p>
            <a:pPr algn="ctr"/>
            <a:r>
              <a:rPr lang="zh-CN" sz="1050" dirty="0">
                <a:solidFill>
                  <a:srgbClr val="333333"/>
                </a:solidFill>
                <a:latin typeface="Arial"/>
                <a:ea typeface="Microsoft YaHei"/>
                <a:cs typeface="Arial"/>
              </a:rPr>
              <a:t>文档案例库</a:t>
            </a:r>
          </a:p>
        </p:txBody>
      </p:sp>
      <p:sp>
        <p:nvSpPr>
          <p:cNvPr id="39" name="Rectangle 39"/>
          <p:cNvSpPr/>
          <p:nvPr/>
        </p:nvSpPr>
        <p:spPr>
          <a:xfrm>
            <a:off x="8191500" y="2524125"/>
            <a:ext cx="1524000" cy="381000"/>
          </a:xfrm>
          <a:prstGeom prst="roundRect">
            <a:avLst>
              <a:gd name="adj" fmla="val 7500"/>
            </a:avLst>
          </a:prstGeom>
          <a:solidFill>
            <a:srgbClr val="F2F2F2"/>
          </a:solidFill>
          <a:ln w="9525">
            <a:solidFill>
              <a:srgbClr val="D9D9D9"/>
            </a:solidFill>
          </a:ln>
        </p:spPr>
      </p:sp>
      <p:sp>
        <p:nvSpPr>
          <p:cNvPr id="40" name="TextBox 40"/>
          <p:cNvSpPr txBox="1"/>
          <p:nvPr/>
        </p:nvSpPr>
        <p:spPr>
          <a:xfrm>
            <a:off x="8660130" y="2648902"/>
            <a:ext cx="586740" cy="213360"/>
          </a:xfrm>
          <a:prstGeom prst="rect">
            <a:avLst/>
          </a:prstGeom>
          <a:noFill/>
          <a:ln>
            <a:noFill/>
          </a:ln>
        </p:spPr>
        <p:txBody>
          <a:bodyPr wrap="none" lIns="0" tIns="0" rIns="0" bIns="0" anchor="t" anchorCtr="0">
            <a:spAutoFit/>
          </a:bodyPr>
          <a:lstStyle/>
          <a:p>
            <a:pPr algn="ctr"/>
            <a:r>
              <a:rPr lang="zh-CN" sz="1050" dirty="0">
                <a:solidFill>
                  <a:srgbClr val="333333"/>
                </a:solidFill>
                <a:latin typeface="Arial"/>
                <a:ea typeface="Microsoft YaHei"/>
                <a:cs typeface="Arial"/>
              </a:rPr>
              <a:t>向量检索</a:t>
            </a:r>
          </a:p>
        </p:txBody>
      </p:sp>
      <p:sp>
        <p:nvSpPr>
          <p:cNvPr id="41" name="Rectangle 41"/>
          <p:cNvSpPr/>
          <p:nvPr/>
        </p:nvSpPr>
        <p:spPr>
          <a:xfrm>
            <a:off x="9858375" y="2524125"/>
            <a:ext cx="1571625" cy="381000"/>
          </a:xfrm>
          <a:prstGeom prst="roundRect">
            <a:avLst>
              <a:gd name="adj" fmla="val 7500"/>
            </a:avLst>
          </a:prstGeom>
          <a:solidFill>
            <a:srgbClr val="F2F2F2"/>
          </a:solidFill>
          <a:ln w="9525">
            <a:solidFill>
              <a:srgbClr val="D9D9D9"/>
            </a:solidFill>
          </a:ln>
        </p:spPr>
      </p:sp>
      <p:sp>
        <p:nvSpPr>
          <p:cNvPr id="42" name="TextBox 42"/>
          <p:cNvSpPr txBox="1"/>
          <p:nvPr/>
        </p:nvSpPr>
        <p:spPr>
          <a:xfrm>
            <a:off x="10206038" y="2648902"/>
            <a:ext cx="866775" cy="213360"/>
          </a:xfrm>
          <a:prstGeom prst="rect">
            <a:avLst/>
          </a:prstGeom>
          <a:noFill/>
          <a:ln>
            <a:noFill/>
          </a:ln>
        </p:spPr>
        <p:txBody>
          <a:bodyPr wrap="none" lIns="0" tIns="0" rIns="0" bIns="0" anchor="t" anchorCtr="0">
            <a:spAutoFit/>
          </a:bodyPr>
          <a:lstStyle/>
          <a:p>
            <a:pPr algn="ctr"/>
            <a:r>
              <a:rPr lang="zh-CN" sz="1050" dirty="0">
                <a:solidFill>
                  <a:srgbClr val="333333"/>
                </a:solidFill>
                <a:latin typeface="Arial"/>
                <a:ea typeface="Microsoft YaHei"/>
                <a:cs typeface="Arial"/>
              </a:rPr>
              <a:t>相似案例召回</a:t>
            </a:r>
          </a:p>
        </p:txBody>
      </p:sp>
      <p:sp>
        <p:nvSpPr>
          <p:cNvPr id="43" name="Rectangle 43"/>
          <p:cNvSpPr/>
          <p:nvPr/>
        </p:nvSpPr>
        <p:spPr>
          <a:xfrm>
            <a:off x="6524625" y="3048000"/>
            <a:ext cx="1524000" cy="381000"/>
          </a:xfrm>
          <a:prstGeom prst="roundRect">
            <a:avLst>
              <a:gd name="adj" fmla="val 7500"/>
            </a:avLst>
          </a:prstGeom>
          <a:solidFill>
            <a:srgbClr val="F2F2F2"/>
          </a:solidFill>
          <a:ln w="9525">
            <a:solidFill>
              <a:srgbClr val="D9D9D9"/>
            </a:solidFill>
          </a:ln>
        </p:spPr>
      </p:sp>
      <p:sp>
        <p:nvSpPr>
          <p:cNvPr id="44" name="TextBox 44"/>
          <p:cNvSpPr txBox="1"/>
          <p:nvPr/>
        </p:nvSpPr>
        <p:spPr>
          <a:xfrm>
            <a:off x="6853238" y="3172778"/>
            <a:ext cx="866775" cy="213360"/>
          </a:xfrm>
          <a:prstGeom prst="rect">
            <a:avLst/>
          </a:prstGeom>
          <a:noFill/>
          <a:ln>
            <a:noFill/>
          </a:ln>
        </p:spPr>
        <p:txBody>
          <a:bodyPr wrap="none" lIns="0" tIns="0" rIns="0" bIns="0" anchor="t" anchorCtr="0">
            <a:spAutoFit/>
          </a:bodyPr>
          <a:lstStyle/>
          <a:p>
            <a:pPr algn="ctr"/>
            <a:r>
              <a:rPr lang="zh-CN" sz="1050" dirty="0">
                <a:solidFill>
                  <a:srgbClr val="333333"/>
                </a:solidFill>
                <a:latin typeface="Arial"/>
                <a:ea typeface="Microsoft YaHei"/>
                <a:cs typeface="Arial"/>
              </a:rPr>
              <a:t>知识蒸馏入库</a:t>
            </a:r>
          </a:p>
        </p:txBody>
      </p:sp>
      <p:sp>
        <p:nvSpPr>
          <p:cNvPr id="45" name="Rectangle 45"/>
          <p:cNvSpPr/>
          <p:nvPr/>
        </p:nvSpPr>
        <p:spPr>
          <a:xfrm>
            <a:off x="8191500" y="3048000"/>
            <a:ext cx="1524000" cy="381000"/>
          </a:xfrm>
          <a:prstGeom prst="roundRect">
            <a:avLst>
              <a:gd name="adj" fmla="val 7500"/>
            </a:avLst>
          </a:prstGeom>
          <a:solidFill>
            <a:srgbClr val="F2F2F2"/>
          </a:solidFill>
          <a:ln w="9525">
            <a:solidFill>
              <a:srgbClr val="D9D9D9"/>
            </a:solidFill>
          </a:ln>
        </p:spPr>
      </p:sp>
      <p:sp>
        <p:nvSpPr>
          <p:cNvPr id="46" name="TextBox 46"/>
          <p:cNvSpPr txBox="1"/>
          <p:nvPr/>
        </p:nvSpPr>
        <p:spPr>
          <a:xfrm>
            <a:off x="8660130" y="3172778"/>
            <a:ext cx="586740" cy="213360"/>
          </a:xfrm>
          <a:prstGeom prst="rect">
            <a:avLst/>
          </a:prstGeom>
          <a:noFill/>
          <a:ln>
            <a:noFill/>
          </a:ln>
        </p:spPr>
        <p:txBody>
          <a:bodyPr wrap="none" lIns="0" tIns="0" rIns="0" bIns="0" anchor="t" anchorCtr="0">
            <a:spAutoFit/>
          </a:bodyPr>
          <a:lstStyle/>
          <a:p>
            <a:pPr algn="ctr"/>
            <a:r>
              <a:rPr lang="zh-CN" sz="1050" dirty="0">
                <a:solidFill>
                  <a:srgbClr val="333333"/>
                </a:solidFill>
                <a:latin typeface="Arial"/>
                <a:ea typeface="Microsoft YaHei"/>
                <a:cs typeface="Arial"/>
              </a:rPr>
              <a:t>语义去重</a:t>
            </a:r>
          </a:p>
        </p:txBody>
      </p:sp>
      <p:sp>
        <p:nvSpPr>
          <p:cNvPr id="47" name="Rectangle 47"/>
          <p:cNvSpPr/>
          <p:nvPr/>
        </p:nvSpPr>
        <p:spPr>
          <a:xfrm>
            <a:off x="571500" y="4048125"/>
            <a:ext cx="5286375" cy="2095500"/>
          </a:xfrm>
          <a:prstGeom prst="roundRect">
            <a:avLst>
              <a:gd name="adj" fmla="val 1818"/>
            </a:avLst>
          </a:prstGeom>
          <a:solidFill>
            <a:srgbClr val="FFFFFF"/>
          </a:solidFill>
          <a:ln w="19050">
            <a:solidFill>
              <a:srgbClr val="E7E6E6"/>
            </a:solidFill>
          </a:ln>
        </p:spPr>
      </p:sp>
      <p:sp>
        <p:nvSpPr>
          <p:cNvPr id="48" name="Rectangle 48"/>
          <p:cNvSpPr/>
          <p:nvPr/>
        </p:nvSpPr>
        <p:spPr>
          <a:xfrm>
            <a:off x="571500" y="4048125"/>
            <a:ext cx="381000" cy="381000"/>
          </a:xfrm>
          <a:prstGeom prst="rect">
            <a:avLst/>
          </a:prstGeom>
          <a:solidFill>
            <a:srgbClr val="2E75B6"/>
          </a:solidFill>
          <a:ln>
            <a:noFill/>
          </a:ln>
        </p:spPr>
      </p:sp>
      <p:sp>
        <p:nvSpPr>
          <p:cNvPr id="49" name="TextBox 49"/>
          <p:cNvSpPr txBox="1"/>
          <p:nvPr/>
        </p:nvSpPr>
        <p:spPr>
          <a:xfrm>
            <a:off x="685193" y="4133850"/>
            <a:ext cx="153614" cy="304800"/>
          </a:xfrm>
          <a:prstGeom prst="rect">
            <a:avLst/>
          </a:prstGeom>
          <a:noFill/>
          <a:ln>
            <a:noFill/>
          </a:ln>
        </p:spPr>
        <p:txBody>
          <a:bodyPr wrap="none" lIns="0" tIns="0" rIns="0" bIns="0" anchor="t" anchorCtr="0">
            <a:spAutoFit/>
          </a:bodyPr>
          <a:lstStyle/>
          <a:p>
            <a:pPr algn="ctr"/>
            <a:r>
              <a:rPr lang="zh-CN" sz="1500" b="1" dirty="0">
                <a:solidFill>
                  <a:srgbClr val="FFFFFF"/>
                </a:solidFill>
                <a:latin typeface="Arial"/>
                <a:ea typeface="Microsoft YaHei"/>
                <a:cs typeface="Arial"/>
              </a:rPr>
              <a:t>3</a:t>
            </a:r>
          </a:p>
        </p:txBody>
      </p:sp>
      <p:sp>
        <p:nvSpPr>
          <p:cNvPr id="50" name="TextBox 50"/>
          <p:cNvSpPr txBox="1"/>
          <p:nvPr/>
        </p:nvSpPr>
        <p:spPr>
          <a:xfrm>
            <a:off x="1122045" y="4146232"/>
            <a:ext cx="966026" cy="335280"/>
          </a:xfrm>
          <a:prstGeom prst="rect">
            <a:avLst/>
          </a:prstGeom>
          <a:noFill/>
          <a:ln>
            <a:noFill/>
          </a:ln>
        </p:spPr>
        <p:txBody>
          <a:bodyPr wrap="none" lIns="0" tIns="0" rIns="0" bIns="0" anchor="t" anchorCtr="0">
            <a:spAutoFit/>
          </a:bodyPr>
          <a:lstStyle/>
          <a:p>
            <a:pPr algn="l"/>
            <a:r>
              <a:rPr lang="zh-CN" sz="1650" b="1" dirty="0">
                <a:solidFill>
                  <a:srgbClr val="2E75B6"/>
                </a:solidFill>
                <a:latin typeface="Arial"/>
                <a:ea typeface="Microsoft YaHei"/>
                <a:cs typeface="Arial"/>
              </a:rPr>
              <a:t>事故管理</a:t>
            </a:r>
          </a:p>
        </p:txBody>
      </p:sp>
      <p:sp>
        <p:nvSpPr>
          <p:cNvPr id="51" name="TextBox 51"/>
          <p:cNvSpPr txBox="1"/>
          <p:nvPr/>
        </p:nvSpPr>
        <p:spPr>
          <a:xfrm>
            <a:off x="1129665" y="4458652"/>
            <a:ext cx="2602992" cy="213360"/>
          </a:xfrm>
          <a:prstGeom prst="rect">
            <a:avLst/>
          </a:prstGeom>
          <a:noFill/>
          <a:ln>
            <a:noFill/>
          </a:ln>
        </p:spPr>
        <p:txBody>
          <a:bodyPr wrap="none" lIns="0" tIns="0" rIns="0" bIns="0" anchor="t" anchorCtr="0">
            <a:spAutoFit/>
          </a:bodyPr>
          <a:lstStyle/>
          <a:p>
            <a:pPr algn="l"/>
            <a:r>
              <a:rPr lang="zh-CN" sz="1050" dirty="0">
                <a:solidFill>
                  <a:srgbClr val="666666"/>
                </a:solidFill>
                <a:latin typeface="Arial"/>
                <a:ea typeface="Microsoft YaHei"/>
                <a:cs typeface="Arial"/>
              </a:rPr>
              <a:t>看板 · 事件流 · 状态机 · Incident Graph</a:t>
            </a:r>
          </a:p>
        </p:txBody>
      </p:sp>
      <p:sp>
        <p:nvSpPr>
          <p:cNvPr id="52" name="Line 52"/>
          <p:cNvSpPr/>
          <p:nvPr/>
        </p:nvSpPr>
        <p:spPr>
          <a:xfrm>
            <a:off x="762000" y="4714875"/>
            <a:ext cx="4905375" cy="9525"/>
          </a:xfrm>
          <a:custGeom>
            <a:avLst/>
            <a:gdLst/>
            <a:ahLst/>
            <a:cxnLst/>
            <a:rect l="l" t="t" r="r" b="b"/>
            <a:pathLst>
              <a:path w="4905375" h="9525">
                <a:moveTo>
                  <a:pt x="0" y="0"/>
                </a:moveTo>
                <a:lnTo>
                  <a:pt x="4905375" y="0"/>
                </a:lnTo>
              </a:path>
            </a:pathLst>
          </a:custGeom>
          <a:noFill/>
          <a:ln w="9525">
            <a:solidFill>
              <a:srgbClr val="E7E6E6"/>
            </a:solidFill>
          </a:ln>
        </p:spPr>
      </p:sp>
      <p:sp>
        <p:nvSpPr>
          <p:cNvPr id="53" name="Rectangle 53"/>
          <p:cNvSpPr/>
          <p:nvPr/>
        </p:nvSpPr>
        <p:spPr>
          <a:xfrm>
            <a:off x="762000" y="4905375"/>
            <a:ext cx="1143000" cy="381000"/>
          </a:xfrm>
          <a:prstGeom prst="roundRect">
            <a:avLst>
              <a:gd name="adj" fmla="val 7500"/>
            </a:avLst>
          </a:prstGeom>
          <a:solidFill>
            <a:srgbClr val="F2F2F2"/>
          </a:solidFill>
          <a:ln w="9525">
            <a:solidFill>
              <a:srgbClr val="D9D9D9"/>
            </a:solidFill>
          </a:ln>
        </p:spPr>
      </p:sp>
      <p:sp>
        <p:nvSpPr>
          <p:cNvPr id="54" name="TextBox 54"/>
          <p:cNvSpPr txBox="1"/>
          <p:nvPr/>
        </p:nvSpPr>
        <p:spPr>
          <a:xfrm>
            <a:off x="1040130" y="5030152"/>
            <a:ext cx="586740" cy="213360"/>
          </a:xfrm>
          <a:prstGeom prst="rect">
            <a:avLst/>
          </a:prstGeom>
          <a:noFill/>
          <a:ln>
            <a:noFill/>
          </a:ln>
        </p:spPr>
        <p:txBody>
          <a:bodyPr wrap="none" lIns="0" tIns="0" rIns="0" bIns="0" anchor="t" anchorCtr="0">
            <a:spAutoFit/>
          </a:bodyPr>
          <a:lstStyle/>
          <a:p>
            <a:pPr algn="ctr"/>
            <a:r>
              <a:rPr lang="zh-CN" sz="1050" dirty="0">
                <a:solidFill>
                  <a:srgbClr val="333333"/>
                </a:solidFill>
                <a:latin typeface="Arial"/>
                <a:ea typeface="Microsoft YaHei"/>
                <a:cs typeface="Arial"/>
              </a:rPr>
              <a:t>事故看板</a:t>
            </a:r>
          </a:p>
        </p:txBody>
      </p:sp>
      <p:sp>
        <p:nvSpPr>
          <p:cNvPr id="55" name="Rectangle 55"/>
          <p:cNvSpPr/>
          <p:nvPr/>
        </p:nvSpPr>
        <p:spPr>
          <a:xfrm>
            <a:off x="2047875" y="4905375"/>
            <a:ext cx="1143000" cy="381000"/>
          </a:xfrm>
          <a:prstGeom prst="roundRect">
            <a:avLst>
              <a:gd name="adj" fmla="val 7500"/>
            </a:avLst>
          </a:prstGeom>
          <a:solidFill>
            <a:srgbClr val="F2F2F2"/>
          </a:solidFill>
          <a:ln w="9525">
            <a:solidFill>
              <a:srgbClr val="D9D9D9"/>
            </a:solidFill>
          </a:ln>
        </p:spPr>
      </p:sp>
      <p:sp>
        <p:nvSpPr>
          <p:cNvPr id="56" name="TextBox 56"/>
          <p:cNvSpPr txBox="1"/>
          <p:nvPr/>
        </p:nvSpPr>
        <p:spPr>
          <a:xfrm>
            <a:off x="2396014" y="5030152"/>
            <a:ext cx="446722" cy="213360"/>
          </a:xfrm>
          <a:prstGeom prst="rect">
            <a:avLst/>
          </a:prstGeom>
          <a:noFill/>
          <a:ln>
            <a:noFill/>
          </a:ln>
        </p:spPr>
        <p:txBody>
          <a:bodyPr wrap="none" lIns="0" tIns="0" rIns="0" bIns="0" anchor="t" anchorCtr="0">
            <a:spAutoFit/>
          </a:bodyPr>
          <a:lstStyle/>
          <a:p>
            <a:pPr algn="ctr"/>
            <a:r>
              <a:rPr lang="zh-CN" sz="1050" dirty="0">
                <a:solidFill>
                  <a:srgbClr val="333333"/>
                </a:solidFill>
                <a:latin typeface="Arial"/>
                <a:ea typeface="Microsoft YaHei"/>
                <a:cs typeface="Arial"/>
              </a:rPr>
              <a:t>事件流</a:t>
            </a:r>
          </a:p>
        </p:txBody>
      </p:sp>
      <p:sp>
        <p:nvSpPr>
          <p:cNvPr id="57" name="Rectangle 57"/>
          <p:cNvSpPr/>
          <p:nvPr/>
        </p:nvSpPr>
        <p:spPr>
          <a:xfrm>
            <a:off x="3333750" y="4905375"/>
            <a:ext cx="1143000" cy="381000"/>
          </a:xfrm>
          <a:prstGeom prst="roundRect">
            <a:avLst>
              <a:gd name="adj" fmla="val 7500"/>
            </a:avLst>
          </a:prstGeom>
          <a:solidFill>
            <a:srgbClr val="F2F2F2"/>
          </a:solidFill>
          <a:ln w="9525">
            <a:solidFill>
              <a:srgbClr val="D9D9D9"/>
            </a:solidFill>
          </a:ln>
        </p:spPr>
      </p:sp>
      <p:sp>
        <p:nvSpPr>
          <p:cNvPr id="58" name="TextBox 58"/>
          <p:cNvSpPr txBox="1"/>
          <p:nvPr/>
        </p:nvSpPr>
        <p:spPr>
          <a:xfrm>
            <a:off x="3681889" y="5030152"/>
            <a:ext cx="446722" cy="213360"/>
          </a:xfrm>
          <a:prstGeom prst="rect">
            <a:avLst/>
          </a:prstGeom>
          <a:noFill/>
          <a:ln>
            <a:noFill/>
          </a:ln>
        </p:spPr>
        <p:txBody>
          <a:bodyPr wrap="none" lIns="0" tIns="0" rIns="0" bIns="0" anchor="t" anchorCtr="0">
            <a:spAutoFit/>
          </a:bodyPr>
          <a:lstStyle/>
          <a:p>
            <a:pPr algn="ctr"/>
            <a:r>
              <a:rPr lang="zh-CN" sz="1050" dirty="0">
                <a:solidFill>
                  <a:srgbClr val="333333"/>
                </a:solidFill>
                <a:latin typeface="Arial"/>
                <a:ea typeface="Microsoft YaHei"/>
                <a:cs typeface="Arial"/>
              </a:rPr>
              <a:t>状态机</a:t>
            </a:r>
          </a:p>
        </p:txBody>
      </p:sp>
      <p:sp>
        <p:nvSpPr>
          <p:cNvPr id="59" name="Rectangle 59"/>
          <p:cNvSpPr/>
          <p:nvPr/>
        </p:nvSpPr>
        <p:spPr>
          <a:xfrm>
            <a:off x="4619625" y="4905375"/>
            <a:ext cx="1047750" cy="381000"/>
          </a:xfrm>
          <a:prstGeom prst="roundRect">
            <a:avLst>
              <a:gd name="adj" fmla="val 7500"/>
            </a:avLst>
          </a:prstGeom>
          <a:solidFill>
            <a:srgbClr val="F2F2F2"/>
          </a:solidFill>
          <a:ln w="9525">
            <a:solidFill>
              <a:srgbClr val="D9D9D9"/>
            </a:solidFill>
          </a:ln>
        </p:spPr>
      </p:sp>
      <p:sp>
        <p:nvSpPr>
          <p:cNvPr id="60" name="TextBox 60"/>
          <p:cNvSpPr txBox="1"/>
          <p:nvPr/>
        </p:nvSpPr>
        <p:spPr>
          <a:xfrm>
            <a:off x="4643604" y="5030152"/>
            <a:ext cx="999792" cy="213360"/>
          </a:xfrm>
          <a:prstGeom prst="rect">
            <a:avLst/>
          </a:prstGeom>
          <a:noFill/>
          <a:ln>
            <a:noFill/>
          </a:ln>
        </p:spPr>
        <p:txBody>
          <a:bodyPr wrap="none" lIns="0" tIns="0" rIns="0" bIns="0" anchor="t" anchorCtr="0">
            <a:spAutoFit/>
          </a:bodyPr>
          <a:lstStyle/>
          <a:p>
            <a:pPr algn="ctr"/>
            <a:r>
              <a:rPr lang="zh-CN" sz="1050" dirty="0">
                <a:solidFill>
                  <a:srgbClr val="333333"/>
                </a:solidFill>
                <a:latin typeface="Arial"/>
                <a:ea typeface="Microsoft YaHei"/>
                <a:cs typeface="Arial"/>
              </a:rPr>
              <a:t>Incident Graph</a:t>
            </a:r>
          </a:p>
        </p:txBody>
      </p:sp>
      <p:sp>
        <p:nvSpPr>
          <p:cNvPr id="61" name="Rectangle 61"/>
          <p:cNvSpPr/>
          <p:nvPr/>
        </p:nvSpPr>
        <p:spPr>
          <a:xfrm>
            <a:off x="6334125" y="4048125"/>
            <a:ext cx="5286375" cy="2095500"/>
          </a:xfrm>
          <a:prstGeom prst="roundRect">
            <a:avLst>
              <a:gd name="adj" fmla="val 1818"/>
            </a:avLst>
          </a:prstGeom>
          <a:solidFill>
            <a:srgbClr val="FFFFFF"/>
          </a:solidFill>
          <a:ln w="19050">
            <a:solidFill>
              <a:srgbClr val="E7E6E6"/>
            </a:solidFill>
          </a:ln>
        </p:spPr>
      </p:sp>
      <p:sp>
        <p:nvSpPr>
          <p:cNvPr id="62" name="Rectangle 62"/>
          <p:cNvSpPr/>
          <p:nvPr/>
        </p:nvSpPr>
        <p:spPr>
          <a:xfrm>
            <a:off x="6334125" y="4048125"/>
            <a:ext cx="381000" cy="381000"/>
          </a:xfrm>
          <a:prstGeom prst="rect">
            <a:avLst/>
          </a:prstGeom>
          <a:solidFill>
            <a:srgbClr val="2E75B6"/>
          </a:solidFill>
          <a:ln>
            <a:noFill/>
          </a:ln>
        </p:spPr>
      </p:sp>
      <p:sp>
        <p:nvSpPr>
          <p:cNvPr id="63" name="TextBox 63"/>
          <p:cNvSpPr txBox="1"/>
          <p:nvPr/>
        </p:nvSpPr>
        <p:spPr>
          <a:xfrm>
            <a:off x="6447818" y="4133850"/>
            <a:ext cx="153614" cy="304800"/>
          </a:xfrm>
          <a:prstGeom prst="rect">
            <a:avLst/>
          </a:prstGeom>
          <a:noFill/>
          <a:ln>
            <a:noFill/>
          </a:ln>
        </p:spPr>
        <p:txBody>
          <a:bodyPr wrap="none" lIns="0" tIns="0" rIns="0" bIns="0" anchor="t" anchorCtr="0">
            <a:spAutoFit/>
          </a:bodyPr>
          <a:lstStyle/>
          <a:p>
            <a:pPr algn="ctr"/>
            <a:r>
              <a:rPr lang="zh-CN" sz="1500" b="1" dirty="0">
                <a:solidFill>
                  <a:srgbClr val="FFFFFF"/>
                </a:solidFill>
                <a:latin typeface="Arial"/>
                <a:ea typeface="Microsoft YaHei"/>
                <a:cs typeface="Arial"/>
              </a:rPr>
              <a:t>4</a:t>
            </a:r>
          </a:p>
        </p:txBody>
      </p:sp>
      <p:sp>
        <p:nvSpPr>
          <p:cNvPr id="64" name="TextBox 64"/>
          <p:cNvSpPr txBox="1"/>
          <p:nvPr/>
        </p:nvSpPr>
        <p:spPr>
          <a:xfrm>
            <a:off x="6837045" y="4146232"/>
            <a:ext cx="734997" cy="335280"/>
          </a:xfrm>
          <a:prstGeom prst="rect">
            <a:avLst/>
          </a:prstGeom>
          <a:noFill/>
          <a:ln>
            <a:noFill/>
          </a:ln>
        </p:spPr>
        <p:txBody>
          <a:bodyPr wrap="none" lIns="0" tIns="0" rIns="0" bIns="0" anchor="t" anchorCtr="0">
            <a:spAutoFit/>
          </a:bodyPr>
          <a:lstStyle/>
          <a:p>
            <a:pPr algn="l"/>
            <a:r>
              <a:rPr lang="zh-CN" sz="1650" b="1" dirty="0">
                <a:solidFill>
                  <a:srgbClr val="2E75B6"/>
                </a:solidFill>
                <a:latin typeface="Arial"/>
                <a:ea typeface="Microsoft YaHei"/>
                <a:cs typeface="Arial"/>
              </a:rPr>
              <a:t>执行层</a:t>
            </a:r>
          </a:p>
        </p:txBody>
      </p:sp>
      <p:sp>
        <p:nvSpPr>
          <p:cNvPr id="65" name="TextBox 65"/>
          <p:cNvSpPr txBox="1"/>
          <p:nvPr/>
        </p:nvSpPr>
        <p:spPr>
          <a:xfrm>
            <a:off x="6844665" y="4458652"/>
            <a:ext cx="2098929" cy="213360"/>
          </a:xfrm>
          <a:prstGeom prst="rect">
            <a:avLst/>
          </a:prstGeom>
          <a:noFill/>
          <a:ln>
            <a:noFill/>
          </a:ln>
        </p:spPr>
        <p:txBody>
          <a:bodyPr wrap="none" lIns="0" tIns="0" rIns="0" bIns="0" anchor="t" anchorCtr="0">
            <a:spAutoFit/>
          </a:bodyPr>
          <a:lstStyle/>
          <a:p>
            <a:pPr algn="l"/>
            <a:r>
              <a:rPr lang="zh-CN" sz="1050" dirty="0">
                <a:solidFill>
                  <a:srgbClr val="666666"/>
                </a:solidFill>
                <a:latin typeface="Arial"/>
                <a:ea typeface="Microsoft YaHei"/>
                <a:cs typeface="Arial"/>
              </a:rPr>
              <a:t>Action 执行 · 审计 · 回滚 · 通知</a:t>
            </a:r>
          </a:p>
        </p:txBody>
      </p:sp>
      <p:sp>
        <p:nvSpPr>
          <p:cNvPr id="66" name="Line 66"/>
          <p:cNvSpPr/>
          <p:nvPr/>
        </p:nvSpPr>
        <p:spPr>
          <a:xfrm>
            <a:off x="6524625" y="4714875"/>
            <a:ext cx="4905375" cy="9525"/>
          </a:xfrm>
          <a:custGeom>
            <a:avLst/>
            <a:gdLst/>
            <a:ahLst/>
            <a:cxnLst/>
            <a:rect l="l" t="t" r="r" b="b"/>
            <a:pathLst>
              <a:path w="4905375" h="9525">
                <a:moveTo>
                  <a:pt x="0" y="0"/>
                </a:moveTo>
                <a:lnTo>
                  <a:pt x="4905375" y="0"/>
                </a:lnTo>
              </a:path>
            </a:pathLst>
          </a:custGeom>
          <a:noFill/>
          <a:ln w="9525">
            <a:solidFill>
              <a:srgbClr val="E7E6E6"/>
            </a:solidFill>
          </a:ln>
        </p:spPr>
      </p:sp>
      <p:sp>
        <p:nvSpPr>
          <p:cNvPr id="67" name="Rectangle 67"/>
          <p:cNvSpPr/>
          <p:nvPr/>
        </p:nvSpPr>
        <p:spPr>
          <a:xfrm>
            <a:off x="6524625" y="4905375"/>
            <a:ext cx="1143000" cy="381000"/>
          </a:xfrm>
          <a:prstGeom prst="roundRect">
            <a:avLst>
              <a:gd name="adj" fmla="val 7500"/>
            </a:avLst>
          </a:prstGeom>
          <a:solidFill>
            <a:srgbClr val="F2F2F2"/>
          </a:solidFill>
          <a:ln w="9525">
            <a:solidFill>
              <a:srgbClr val="D9D9D9"/>
            </a:solidFill>
          </a:ln>
        </p:spPr>
      </p:sp>
      <p:sp>
        <p:nvSpPr>
          <p:cNvPr id="68" name="TextBox 68"/>
          <p:cNvSpPr txBox="1"/>
          <p:nvPr/>
        </p:nvSpPr>
        <p:spPr>
          <a:xfrm>
            <a:off x="6729246" y="5030152"/>
            <a:ext cx="733758" cy="213360"/>
          </a:xfrm>
          <a:prstGeom prst="rect">
            <a:avLst/>
          </a:prstGeom>
          <a:noFill/>
          <a:ln>
            <a:noFill/>
          </a:ln>
        </p:spPr>
        <p:txBody>
          <a:bodyPr wrap="none" lIns="0" tIns="0" rIns="0" bIns="0" anchor="t" anchorCtr="0">
            <a:spAutoFit/>
          </a:bodyPr>
          <a:lstStyle/>
          <a:p>
            <a:pPr algn="ctr"/>
            <a:r>
              <a:rPr lang="zh-CN" sz="1050" dirty="0">
                <a:solidFill>
                  <a:srgbClr val="333333"/>
                </a:solidFill>
                <a:latin typeface="Arial"/>
                <a:ea typeface="Microsoft YaHei"/>
                <a:cs typeface="Arial"/>
              </a:rPr>
              <a:t>Action执行</a:t>
            </a:r>
          </a:p>
        </p:txBody>
      </p:sp>
      <p:sp>
        <p:nvSpPr>
          <p:cNvPr id="69" name="Rectangle 69"/>
          <p:cNvSpPr/>
          <p:nvPr/>
        </p:nvSpPr>
        <p:spPr>
          <a:xfrm>
            <a:off x="7810500" y="4905375"/>
            <a:ext cx="1143000" cy="381000"/>
          </a:xfrm>
          <a:prstGeom prst="roundRect">
            <a:avLst>
              <a:gd name="adj" fmla="val 7500"/>
            </a:avLst>
          </a:prstGeom>
          <a:solidFill>
            <a:srgbClr val="F2F2F2"/>
          </a:solidFill>
          <a:ln w="9525">
            <a:solidFill>
              <a:srgbClr val="D9D9D9"/>
            </a:solidFill>
          </a:ln>
        </p:spPr>
      </p:sp>
      <p:sp>
        <p:nvSpPr>
          <p:cNvPr id="70" name="TextBox 70"/>
          <p:cNvSpPr txBox="1"/>
          <p:nvPr/>
        </p:nvSpPr>
        <p:spPr>
          <a:xfrm>
            <a:off x="8088630" y="5030152"/>
            <a:ext cx="586740" cy="213360"/>
          </a:xfrm>
          <a:prstGeom prst="rect">
            <a:avLst/>
          </a:prstGeom>
          <a:noFill/>
          <a:ln>
            <a:noFill/>
          </a:ln>
        </p:spPr>
        <p:txBody>
          <a:bodyPr wrap="none" lIns="0" tIns="0" rIns="0" bIns="0" anchor="t" anchorCtr="0">
            <a:spAutoFit/>
          </a:bodyPr>
          <a:lstStyle/>
          <a:p>
            <a:pPr algn="ctr"/>
            <a:r>
              <a:rPr lang="zh-CN" sz="1050" dirty="0">
                <a:solidFill>
                  <a:srgbClr val="333333"/>
                </a:solidFill>
                <a:latin typeface="Arial"/>
                <a:ea typeface="Microsoft YaHei"/>
                <a:cs typeface="Arial"/>
              </a:rPr>
              <a:t>审计日志</a:t>
            </a:r>
          </a:p>
        </p:txBody>
      </p:sp>
      <p:sp>
        <p:nvSpPr>
          <p:cNvPr id="71" name="Rectangle 71"/>
          <p:cNvSpPr/>
          <p:nvPr/>
        </p:nvSpPr>
        <p:spPr>
          <a:xfrm>
            <a:off x="9096375" y="4905375"/>
            <a:ext cx="1143000" cy="381000"/>
          </a:xfrm>
          <a:prstGeom prst="roundRect">
            <a:avLst>
              <a:gd name="adj" fmla="val 7500"/>
            </a:avLst>
          </a:prstGeom>
          <a:solidFill>
            <a:srgbClr val="F2F2F2"/>
          </a:solidFill>
          <a:ln w="9525">
            <a:solidFill>
              <a:srgbClr val="D9D9D9"/>
            </a:solidFill>
          </a:ln>
        </p:spPr>
      </p:sp>
      <p:sp>
        <p:nvSpPr>
          <p:cNvPr id="72" name="TextBox 72"/>
          <p:cNvSpPr txBox="1"/>
          <p:nvPr/>
        </p:nvSpPr>
        <p:spPr>
          <a:xfrm>
            <a:off x="9374505" y="5030152"/>
            <a:ext cx="586740" cy="213360"/>
          </a:xfrm>
          <a:prstGeom prst="rect">
            <a:avLst/>
          </a:prstGeom>
          <a:noFill/>
          <a:ln>
            <a:noFill/>
          </a:ln>
        </p:spPr>
        <p:txBody>
          <a:bodyPr wrap="none" lIns="0" tIns="0" rIns="0" bIns="0" anchor="t" anchorCtr="0">
            <a:spAutoFit/>
          </a:bodyPr>
          <a:lstStyle/>
          <a:p>
            <a:pPr algn="ctr"/>
            <a:r>
              <a:rPr lang="zh-CN" sz="1050" dirty="0">
                <a:solidFill>
                  <a:srgbClr val="333333"/>
                </a:solidFill>
                <a:latin typeface="Arial"/>
                <a:ea typeface="Microsoft YaHei"/>
                <a:cs typeface="Arial"/>
              </a:rPr>
              <a:t>回滚机制</a:t>
            </a:r>
          </a:p>
        </p:txBody>
      </p:sp>
      <p:sp>
        <p:nvSpPr>
          <p:cNvPr id="73" name="Rectangle 73"/>
          <p:cNvSpPr/>
          <p:nvPr/>
        </p:nvSpPr>
        <p:spPr>
          <a:xfrm>
            <a:off x="10382250" y="4905375"/>
            <a:ext cx="1047750" cy="381000"/>
          </a:xfrm>
          <a:prstGeom prst="roundRect">
            <a:avLst>
              <a:gd name="adj" fmla="val 7500"/>
            </a:avLst>
          </a:prstGeom>
          <a:solidFill>
            <a:srgbClr val="F2F2F2"/>
          </a:solidFill>
          <a:ln w="9525">
            <a:solidFill>
              <a:srgbClr val="D9D9D9"/>
            </a:solidFill>
          </a:ln>
        </p:spPr>
      </p:sp>
      <p:sp>
        <p:nvSpPr>
          <p:cNvPr id="74" name="TextBox 74"/>
          <p:cNvSpPr txBox="1"/>
          <p:nvPr/>
        </p:nvSpPr>
        <p:spPr>
          <a:xfrm>
            <a:off x="10612755" y="5030152"/>
            <a:ext cx="586740" cy="213360"/>
          </a:xfrm>
          <a:prstGeom prst="rect">
            <a:avLst/>
          </a:prstGeom>
          <a:noFill/>
          <a:ln>
            <a:noFill/>
          </a:ln>
        </p:spPr>
        <p:txBody>
          <a:bodyPr wrap="none" lIns="0" tIns="0" rIns="0" bIns="0" anchor="t" anchorCtr="0">
            <a:spAutoFit/>
          </a:bodyPr>
          <a:lstStyle/>
          <a:p>
            <a:pPr algn="ctr"/>
            <a:r>
              <a:rPr lang="zh-CN" sz="1050" dirty="0">
                <a:solidFill>
                  <a:srgbClr val="333333"/>
                </a:solidFill>
                <a:latin typeface="Arial"/>
                <a:ea typeface="Microsoft YaHei"/>
                <a:cs typeface="Arial"/>
              </a:rPr>
              <a:t>通知推送</a:t>
            </a:r>
          </a:p>
        </p:txBody>
      </p:sp>
    </p:spTree>
  </p:cSld>
  <p:clrMapOvr>
    <a:masterClrMapping/>
  </p:clrMapOvr>
  <p:transition xmlns:p14="http://schemas.microsoft.com/office/powerpoint/2010/main" p14:dur="400">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38100"/>
          </a:xfrm>
          <a:prstGeom prst="rect">
            <a:avLst/>
          </a:prstGeom>
          <a:solidFill>
            <a:srgbClr val="C00000"/>
          </a:solidFill>
          <a:ln>
            <a:noFill/>
          </a:ln>
        </p:spPr>
      </p:sp>
      <p:sp>
        <p:nvSpPr>
          <p:cNvPr id="4" name="Rectangle 4"/>
          <p:cNvSpPr/>
          <p:nvPr/>
        </p:nvSpPr>
        <p:spPr>
          <a:xfrm>
            <a:off x="0" y="38100"/>
            <a:ext cx="12192000" cy="723900"/>
          </a:xfrm>
          <a:prstGeom prst="rect">
            <a:avLst/>
          </a:prstGeom>
          <a:solidFill>
            <a:srgbClr val="FFFFFF"/>
          </a:solidFill>
          <a:ln>
            <a:noFill/>
          </a:ln>
        </p:spPr>
      </p:sp>
      <p:sp>
        <p:nvSpPr>
          <p:cNvPr id="5" name="Line 5"/>
          <p:cNvSpPr/>
          <p:nvPr/>
        </p:nvSpPr>
        <p:spPr>
          <a:xfrm>
            <a:off x="0" y="762000"/>
            <a:ext cx="12192000" cy="9525"/>
          </a:xfrm>
          <a:custGeom>
            <a:avLst/>
            <a:gdLst/>
            <a:ahLst/>
            <a:cxnLst/>
            <a:rect l="l" t="t" r="r" b="b"/>
            <a:pathLst>
              <a:path w="12192000" h="9525">
                <a:moveTo>
                  <a:pt x="0" y="0"/>
                </a:moveTo>
                <a:lnTo>
                  <a:pt x="12192000" y="0"/>
                </a:lnTo>
              </a:path>
            </a:pathLst>
          </a:custGeom>
          <a:noFill/>
          <a:ln w="9525">
            <a:solidFill>
              <a:srgbClr val="E7E6E6"/>
            </a:solidFill>
          </a:ln>
        </p:spPr>
      </p:sp>
      <p:sp>
        <p:nvSpPr>
          <p:cNvPr id="6" name="Rectangle 6"/>
          <p:cNvSpPr/>
          <p:nvPr/>
        </p:nvSpPr>
        <p:spPr>
          <a:xfrm>
            <a:off x="476250" y="190500"/>
            <a:ext cx="76200" cy="381000"/>
          </a:xfrm>
          <a:prstGeom prst="rect">
            <a:avLst/>
          </a:prstGeom>
          <a:solidFill>
            <a:srgbClr val="C00000"/>
          </a:solidFill>
          <a:ln>
            <a:noFill/>
          </a:ln>
        </p:spPr>
      </p:sp>
      <p:sp>
        <p:nvSpPr>
          <p:cNvPr id="7" name="TextBox 7"/>
          <p:cNvSpPr txBox="1"/>
          <p:nvPr/>
        </p:nvSpPr>
        <p:spPr>
          <a:xfrm>
            <a:off x="655320" y="236220"/>
            <a:ext cx="3085338" cy="487680"/>
          </a:xfrm>
          <a:prstGeom prst="rect">
            <a:avLst/>
          </a:prstGeom>
          <a:noFill/>
          <a:ln>
            <a:noFill/>
          </a:ln>
        </p:spPr>
        <p:txBody>
          <a:bodyPr wrap="none" lIns="0" tIns="0" rIns="0" bIns="0" anchor="t" anchorCtr="0">
            <a:spAutoFit/>
          </a:bodyPr>
          <a:lstStyle/>
          <a:p>
            <a:pPr algn="l"/>
            <a:r>
              <a:rPr lang="zh-CN" sz="2400" b="1" dirty="0">
                <a:solidFill>
                  <a:srgbClr val="000000"/>
                </a:solidFill>
                <a:latin typeface="Arial"/>
                <a:ea typeface="Microsoft YaHei"/>
                <a:cs typeface="Arial"/>
              </a:rPr>
              <a:t>大模型认知能力矩阵</a:t>
            </a:r>
          </a:p>
        </p:txBody>
      </p:sp>
      <p:sp>
        <p:nvSpPr>
          <p:cNvPr id="8" name="Rectangle 8"/>
          <p:cNvSpPr/>
          <p:nvPr/>
        </p:nvSpPr>
        <p:spPr>
          <a:xfrm>
            <a:off x="476250" y="904875"/>
            <a:ext cx="11239500" cy="476250"/>
          </a:xfrm>
          <a:prstGeom prst="rect">
            <a:avLst/>
          </a:prstGeom>
          <a:solidFill>
            <a:srgbClr val="F2F2F2"/>
          </a:solidFill>
          <a:ln>
            <a:noFill/>
          </a:ln>
        </p:spPr>
      </p:sp>
      <p:sp>
        <p:nvSpPr>
          <p:cNvPr id="9" name="TextBox 9"/>
          <p:cNvSpPr txBox="1"/>
          <p:nvPr/>
        </p:nvSpPr>
        <p:spPr>
          <a:xfrm>
            <a:off x="4448556" y="1061085"/>
            <a:ext cx="3294888" cy="243840"/>
          </a:xfrm>
          <a:prstGeom prst="rect">
            <a:avLst/>
          </a:prstGeom>
          <a:noFill/>
          <a:ln>
            <a:noFill/>
          </a:ln>
        </p:spPr>
        <p:txBody>
          <a:bodyPr wrap="none" lIns="0" tIns="0" rIns="0" bIns="0" anchor="t" anchorCtr="0">
            <a:spAutoFit/>
          </a:bodyPr>
          <a:lstStyle/>
          <a:p>
            <a:pPr algn="ctr"/>
            <a:r>
              <a:rPr lang="zh-CN" sz="1200" dirty="0">
                <a:solidFill>
                  <a:srgbClr val="333333"/>
                </a:solidFill>
                <a:latin typeface="Arial"/>
                <a:ea typeface="Microsoft YaHei"/>
                <a:cs typeface="Arial"/>
              </a:rPr>
              <a:t>8大AI认知能力填补传统运维平台的智能化缺口</a:t>
            </a:r>
          </a:p>
        </p:txBody>
      </p:sp>
      <p:sp>
        <p:nvSpPr>
          <p:cNvPr id="10" name="Rectangle 10"/>
          <p:cNvSpPr/>
          <p:nvPr/>
        </p:nvSpPr>
        <p:spPr>
          <a:xfrm>
            <a:off x="0" y="6477000"/>
            <a:ext cx="12192000" cy="381000"/>
          </a:xfrm>
          <a:prstGeom prst="rect">
            <a:avLst/>
          </a:prstGeom>
          <a:solidFill>
            <a:srgbClr val="F2F2F2"/>
          </a:solidFill>
          <a:ln>
            <a:noFill/>
          </a:ln>
        </p:spPr>
      </p:sp>
      <p:sp>
        <p:nvSpPr>
          <p:cNvPr id="11" name="Rectangle 11"/>
          <p:cNvSpPr/>
          <p:nvPr/>
        </p:nvSpPr>
        <p:spPr>
          <a:xfrm>
            <a:off x="0" y="6477000"/>
            <a:ext cx="38100" cy="381000"/>
          </a:xfrm>
          <a:prstGeom prst="rect">
            <a:avLst/>
          </a:prstGeom>
          <a:solidFill>
            <a:srgbClr val="C00000"/>
          </a:solidFill>
          <a:ln>
            <a:noFill/>
          </a:ln>
        </p:spPr>
      </p:sp>
      <p:sp>
        <p:nvSpPr>
          <p:cNvPr id="12" name="TextBox 12"/>
          <p:cNvSpPr txBox="1"/>
          <p:nvPr/>
        </p:nvSpPr>
        <p:spPr>
          <a:xfrm>
            <a:off x="558165" y="6611302"/>
            <a:ext cx="586740" cy="213360"/>
          </a:xfrm>
          <a:prstGeom prst="rect">
            <a:avLst/>
          </a:prstGeom>
          <a:noFill/>
          <a:ln>
            <a:noFill/>
          </a:ln>
        </p:spPr>
        <p:txBody>
          <a:bodyPr wrap="none" lIns="0" tIns="0" rIns="0" bIns="0" anchor="t" anchorCtr="0">
            <a:spAutoFit/>
          </a:bodyPr>
          <a:lstStyle/>
          <a:p>
            <a:pPr algn="l"/>
            <a:r>
              <a:rPr lang="zh-CN" sz="1050" dirty="0">
                <a:solidFill>
                  <a:srgbClr val="666666"/>
                </a:solidFill>
                <a:latin typeface="Arial"/>
                <a:ea typeface="Microsoft YaHei"/>
                <a:cs typeface="Arial"/>
              </a:rPr>
              <a:t>方案介绍</a:t>
            </a:r>
          </a:p>
        </p:txBody>
      </p:sp>
      <p:sp>
        <p:nvSpPr>
          <p:cNvPr id="13" name="Rectangle 13"/>
          <p:cNvSpPr/>
          <p:nvPr/>
        </p:nvSpPr>
        <p:spPr>
          <a:xfrm>
            <a:off x="11525250" y="6553200"/>
            <a:ext cx="285750" cy="228600"/>
          </a:xfrm>
          <a:prstGeom prst="rect">
            <a:avLst/>
          </a:prstGeom>
          <a:solidFill>
            <a:srgbClr val="C00000"/>
          </a:solidFill>
          <a:ln>
            <a:noFill/>
          </a:ln>
        </p:spPr>
      </p:sp>
      <p:sp>
        <p:nvSpPr>
          <p:cNvPr id="14" name="TextBox 14"/>
          <p:cNvSpPr txBox="1"/>
          <p:nvPr/>
        </p:nvSpPr>
        <p:spPr>
          <a:xfrm>
            <a:off x="11614360" y="6611302"/>
            <a:ext cx="107530"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Arial"/>
                <a:ea typeface="Microsoft YaHei"/>
                <a:cs typeface="Arial"/>
              </a:rPr>
              <a:t>9</a:t>
            </a:r>
          </a:p>
        </p:txBody>
      </p:sp>
      <p:sp>
        <p:nvSpPr>
          <p:cNvPr id="15" name="Rectangle 15"/>
          <p:cNvSpPr/>
          <p:nvPr/>
        </p:nvSpPr>
        <p:spPr>
          <a:xfrm>
            <a:off x="571500" y="1619250"/>
            <a:ext cx="2619375" cy="1000125"/>
          </a:xfrm>
          <a:prstGeom prst="roundRect">
            <a:avLst>
              <a:gd name="adj" fmla="val 3810"/>
            </a:avLst>
          </a:prstGeom>
          <a:solidFill>
            <a:srgbClr val="FFFFFF"/>
          </a:solidFill>
          <a:ln w="19050">
            <a:solidFill>
              <a:srgbClr val="E7E6E6"/>
            </a:solidFill>
          </a:ln>
        </p:spPr>
      </p:sp>
      <p:sp>
        <p:nvSpPr>
          <p:cNvPr id="16" name="Rectangle 16"/>
          <p:cNvSpPr/>
          <p:nvPr/>
        </p:nvSpPr>
        <p:spPr>
          <a:xfrm>
            <a:off x="571500" y="1619250"/>
            <a:ext cx="285750" cy="285750"/>
          </a:xfrm>
          <a:prstGeom prst="rect">
            <a:avLst/>
          </a:prstGeom>
          <a:solidFill>
            <a:srgbClr val="C00000"/>
          </a:solidFill>
          <a:ln>
            <a:noFill/>
          </a:ln>
        </p:spPr>
      </p:sp>
      <p:sp>
        <p:nvSpPr>
          <p:cNvPr id="17" name="TextBox 17"/>
          <p:cNvSpPr txBox="1"/>
          <p:nvPr/>
        </p:nvSpPr>
        <p:spPr>
          <a:xfrm>
            <a:off x="652929" y="1699260"/>
            <a:ext cx="122892" cy="243840"/>
          </a:xfrm>
          <a:prstGeom prst="rect">
            <a:avLst/>
          </a:prstGeom>
          <a:noFill/>
          <a:ln>
            <a:noFill/>
          </a:ln>
        </p:spPr>
        <p:txBody>
          <a:bodyPr wrap="none" lIns="0" tIns="0" rIns="0" bIns="0" anchor="t" anchorCtr="0">
            <a:spAutoFit/>
          </a:bodyPr>
          <a:lstStyle/>
          <a:p>
            <a:pPr algn="ctr"/>
            <a:r>
              <a:rPr lang="zh-CN" sz="1200" b="1" dirty="0">
                <a:solidFill>
                  <a:srgbClr val="FFFFFF"/>
                </a:solidFill>
                <a:latin typeface="Arial"/>
                <a:ea typeface="Microsoft YaHei"/>
                <a:cs typeface="Arial"/>
              </a:rPr>
              <a:t>1</a:t>
            </a:r>
          </a:p>
        </p:txBody>
      </p:sp>
      <p:sp>
        <p:nvSpPr>
          <p:cNvPr id="18" name="TextBox 18"/>
          <p:cNvSpPr txBox="1"/>
          <p:nvPr/>
        </p:nvSpPr>
        <p:spPr>
          <a:xfrm>
            <a:off x="984885" y="1708785"/>
            <a:ext cx="1702289" cy="243840"/>
          </a:xfrm>
          <a:prstGeom prst="rect">
            <a:avLst/>
          </a:prstGeom>
          <a:noFill/>
          <a:ln>
            <a:noFill/>
          </a:ln>
        </p:spPr>
        <p:txBody>
          <a:bodyPr wrap="none" lIns="0" tIns="0" rIns="0" bIns="0" anchor="t" anchorCtr="0">
            <a:spAutoFit/>
          </a:bodyPr>
          <a:lstStyle/>
          <a:p>
            <a:pPr algn="l"/>
            <a:r>
              <a:rPr lang="zh-CN" sz="1200" b="1" dirty="0">
                <a:solidFill>
                  <a:srgbClr val="C00000"/>
                </a:solidFill>
                <a:latin typeface="Arial"/>
                <a:ea typeface="Microsoft YaHei"/>
                <a:cs typeface="Arial"/>
              </a:rPr>
              <a:t>Root Cause Reasoner</a:t>
            </a:r>
          </a:p>
        </p:txBody>
      </p:sp>
      <p:sp>
        <p:nvSpPr>
          <p:cNvPr id="19" name="TextBox 19"/>
          <p:cNvSpPr txBox="1"/>
          <p:nvPr/>
        </p:nvSpPr>
        <p:spPr>
          <a:xfrm>
            <a:off x="701992" y="1990249"/>
            <a:ext cx="804862" cy="198120"/>
          </a:xfrm>
          <a:prstGeom prst="rect">
            <a:avLst/>
          </a:prstGeom>
          <a:noFill/>
          <a:ln>
            <a:noFill/>
          </a:ln>
        </p:spPr>
        <p:txBody>
          <a:bodyPr wrap="none" lIns="0" tIns="0" rIns="0" bIns="0" anchor="t" anchorCtr="0">
            <a:spAutoFit/>
          </a:bodyPr>
          <a:lstStyle/>
          <a:p>
            <a:pPr algn="l"/>
            <a:r>
              <a:rPr lang="zh-CN" sz="975" dirty="0">
                <a:solidFill>
                  <a:srgbClr val="333333"/>
                </a:solidFill>
                <a:latin typeface="Arial"/>
                <a:ea typeface="Microsoft YaHei"/>
                <a:cs typeface="Arial"/>
              </a:rPr>
              <a:t>多步因果推理</a:t>
            </a:r>
          </a:p>
        </p:txBody>
      </p:sp>
      <p:sp>
        <p:nvSpPr>
          <p:cNvPr id="20" name="TextBox 20"/>
          <p:cNvSpPr txBox="1"/>
          <p:nvPr/>
        </p:nvSpPr>
        <p:spPr>
          <a:xfrm>
            <a:off x="701992" y="2209324"/>
            <a:ext cx="934879" cy="198120"/>
          </a:xfrm>
          <a:prstGeom prst="rect">
            <a:avLst/>
          </a:prstGeom>
          <a:noFill/>
          <a:ln>
            <a:noFill/>
          </a:ln>
        </p:spPr>
        <p:txBody>
          <a:bodyPr wrap="none" lIns="0" tIns="0" rIns="0" bIns="0" anchor="t" anchorCtr="0">
            <a:spAutoFit/>
          </a:bodyPr>
          <a:lstStyle/>
          <a:p>
            <a:pPr algn="l"/>
            <a:r>
              <a:rPr lang="zh-CN" sz="975" dirty="0">
                <a:solidFill>
                  <a:srgbClr val="666666"/>
                </a:solidFill>
                <a:latin typeface="Arial"/>
                <a:ea typeface="Microsoft YaHei"/>
                <a:cs typeface="Arial"/>
              </a:rPr>
              <a:t>从现象推导根因</a:t>
            </a:r>
          </a:p>
        </p:txBody>
      </p:sp>
      <p:sp>
        <p:nvSpPr>
          <p:cNvPr id="21" name="TextBox 21"/>
          <p:cNvSpPr txBox="1"/>
          <p:nvPr/>
        </p:nvSpPr>
        <p:spPr>
          <a:xfrm>
            <a:off x="702945" y="2436495"/>
            <a:ext cx="1259014" cy="182880"/>
          </a:xfrm>
          <a:prstGeom prst="rect">
            <a:avLst/>
          </a:prstGeom>
          <a:noFill/>
          <a:ln>
            <a:noFill/>
          </a:ln>
        </p:spPr>
        <p:txBody>
          <a:bodyPr wrap="none" lIns="0" tIns="0" rIns="0" bIns="0" anchor="t" anchorCtr="0">
            <a:spAutoFit/>
          </a:bodyPr>
          <a:lstStyle/>
          <a:p>
            <a:pPr algn="l"/>
            <a:r>
              <a:rPr lang="zh-CN" sz="900" dirty="0">
                <a:solidFill>
                  <a:srgbClr val="999999"/>
                </a:solidFill>
                <a:latin typeface="Arial"/>
                <a:ea typeface="Microsoft YaHei"/>
                <a:cs typeface="Arial"/>
              </a:rPr>
              <a:t>推理链 · 依据链 · 排序</a:t>
            </a:r>
          </a:p>
        </p:txBody>
      </p:sp>
      <p:sp>
        <p:nvSpPr>
          <p:cNvPr id="22" name="Rectangle 22"/>
          <p:cNvSpPr/>
          <p:nvPr/>
        </p:nvSpPr>
        <p:spPr>
          <a:xfrm>
            <a:off x="3476625" y="1619250"/>
            <a:ext cx="2619375" cy="1000125"/>
          </a:xfrm>
          <a:prstGeom prst="roundRect">
            <a:avLst>
              <a:gd name="adj" fmla="val 3810"/>
            </a:avLst>
          </a:prstGeom>
          <a:solidFill>
            <a:srgbClr val="FFFFFF"/>
          </a:solidFill>
          <a:ln w="19050">
            <a:solidFill>
              <a:srgbClr val="E7E6E6"/>
            </a:solidFill>
          </a:ln>
        </p:spPr>
      </p:sp>
      <p:sp>
        <p:nvSpPr>
          <p:cNvPr id="23" name="Rectangle 23"/>
          <p:cNvSpPr/>
          <p:nvPr/>
        </p:nvSpPr>
        <p:spPr>
          <a:xfrm>
            <a:off x="3476625" y="1619250"/>
            <a:ext cx="285750" cy="285750"/>
          </a:xfrm>
          <a:prstGeom prst="rect">
            <a:avLst/>
          </a:prstGeom>
          <a:solidFill>
            <a:srgbClr val="C00000"/>
          </a:solidFill>
          <a:ln>
            <a:noFill/>
          </a:ln>
        </p:spPr>
      </p:sp>
      <p:sp>
        <p:nvSpPr>
          <p:cNvPr id="24" name="TextBox 24"/>
          <p:cNvSpPr txBox="1"/>
          <p:nvPr/>
        </p:nvSpPr>
        <p:spPr>
          <a:xfrm>
            <a:off x="3558054" y="1699260"/>
            <a:ext cx="122892" cy="243840"/>
          </a:xfrm>
          <a:prstGeom prst="rect">
            <a:avLst/>
          </a:prstGeom>
          <a:noFill/>
          <a:ln>
            <a:noFill/>
          </a:ln>
        </p:spPr>
        <p:txBody>
          <a:bodyPr wrap="none" lIns="0" tIns="0" rIns="0" bIns="0" anchor="t" anchorCtr="0">
            <a:spAutoFit/>
          </a:bodyPr>
          <a:lstStyle/>
          <a:p>
            <a:pPr algn="ctr"/>
            <a:r>
              <a:rPr lang="zh-CN" sz="1200" b="1" dirty="0">
                <a:solidFill>
                  <a:srgbClr val="FFFFFF"/>
                </a:solidFill>
                <a:latin typeface="Arial"/>
                <a:ea typeface="Microsoft YaHei"/>
                <a:cs typeface="Arial"/>
              </a:rPr>
              <a:t>2</a:t>
            </a:r>
          </a:p>
        </p:txBody>
      </p:sp>
      <p:sp>
        <p:nvSpPr>
          <p:cNvPr id="25" name="TextBox 25"/>
          <p:cNvSpPr txBox="1"/>
          <p:nvPr/>
        </p:nvSpPr>
        <p:spPr>
          <a:xfrm>
            <a:off x="3890010" y="1708785"/>
            <a:ext cx="1055408" cy="243840"/>
          </a:xfrm>
          <a:prstGeom prst="rect">
            <a:avLst/>
          </a:prstGeom>
          <a:noFill/>
          <a:ln>
            <a:noFill/>
          </a:ln>
        </p:spPr>
        <p:txBody>
          <a:bodyPr wrap="none" lIns="0" tIns="0" rIns="0" bIns="0" anchor="t" anchorCtr="0">
            <a:spAutoFit/>
          </a:bodyPr>
          <a:lstStyle/>
          <a:p>
            <a:pPr algn="l"/>
            <a:r>
              <a:rPr lang="zh-CN" sz="1200" b="1" dirty="0">
                <a:solidFill>
                  <a:srgbClr val="C00000"/>
                </a:solidFill>
                <a:latin typeface="Arial"/>
                <a:ea typeface="Microsoft YaHei"/>
                <a:cs typeface="Arial"/>
              </a:rPr>
              <a:t>Log Analyzer</a:t>
            </a:r>
          </a:p>
        </p:txBody>
      </p:sp>
      <p:sp>
        <p:nvSpPr>
          <p:cNvPr id="26" name="TextBox 26"/>
          <p:cNvSpPr txBox="1"/>
          <p:nvPr/>
        </p:nvSpPr>
        <p:spPr>
          <a:xfrm>
            <a:off x="3607118" y="1990249"/>
            <a:ext cx="804862" cy="198120"/>
          </a:xfrm>
          <a:prstGeom prst="rect">
            <a:avLst/>
          </a:prstGeom>
          <a:noFill/>
          <a:ln>
            <a:noFill/>
          </a:ln>
        </p:spPr>
        <p:txBody>
          <a:bodyPr wrap="none" lIns="0" tIns="0" rIns="0" bIns="0" anchor="t" anchorCtr="0">
            <a:spAutoFit/>
          </a:bodyPr>
          <a:lstStyle/>
          <a:p>
            <a:pPr algn="l"/>
            <a:r>
              <a:rPr lang="zh-CN" sz="975" dirty="0">
                <a:solidFill>
                  <a:srgbClr val="333333"/>
                </a:solidFill>
                <a:latin typeface="Arial"/>
                <a:ea typeface="Microsoft YaHei"/>
                <a:cs typeface="Arial"/>
              </a:rPr>
              <a:t>日志智能分析</a:t>
            </a:r>
          </a:p>
        </p:txBody>
      </p:sp>
      <p:sp>
        <p:nvSpPr>
          <p:cNvPr id="27" name="TextBox 27"/>
          <p:cNvSpPr txBox="1"/>
          <p:nvPr/>
        </p:nvSpPr>
        <p:spPr>
          <a:xfrm>
            <a:off x="3607118" y="2209324"/>
            <a:ext cx="1883997" cy="198120"/>
          </a:xfrm>
          <a:prstGeom prst="rect">
            <a:avLst/>
          </a:prstGeom>
          <a:noFill/>
          <a:ln>
            <a:noFill/>
          </a:ln>
        </p:spPr>
        <p:txBody>
          <a:bodyPr wrap="none" lIns="0" tIns="0" rIns="0" bIns="0" anchor="t" anchorCtr="0">
            <a:spAutoFit/>
          </a:bodyPr>
          <a:lstStyle/>
          <a:p>
            <a:pPr algn="l"/>
            <a:r>
              <a:rPr lang="zh-CN" sz="975" dirty="0">
                <a:solidFill>
                  <a:srgbClr val="666666"/>
                </a:solidFill>
                <a:latin typeface="Arial"/>
                <a:ea typeface="Microsoft YaHei"/>
                <a:cs typeface="Arial"/>
              </a:rPr>
              <a:t>自动摘要 · 异常检测 · 多源关联</a:t>
            </a:r>
          </a:p>
        </p:txBody>
      </p:sp>
      <p:sp>
        <p:nvSpPr>
          <p:cNvPr id="28" name="TextBox 28"/>
          <p:cNvSpPr txBox="1"/>
          <p:nvPr/>
        </p:nvSpPr>
        <p:spPr>
          <a:xfrm>
            <a:off x="3608070" y="2436495"/>
            <a:ext cx="1487043" cy="182880"/>
          </a:xfrm>
          <a:prstGeom prst="rect">
            <a:avLst/>
          </a:prstGeom>
          <a:noFill/>
          <a:ln>
            <a:noFill/>
          </a:ln>
        </p:spPr>
        <p:txBody>
          <a:bodyPr wrap="none" lIns="0" tIns="0" rIns="0" bIns="0" anchor="t" anchorCtr="0">
            <a:spAutoFit/>
          </a:bodyPr>
          <a:lstStyle/>
          <a:p>
            <a:pPr algn="l"/>
            <a:r>
              <a:rPr lang="zh-CN" sz="900" dirty="0">
                <a:solidFill>
                  <a:srgbClr val="999999"/>
                </a:solidFill>
                <a:latin typeface="Arial"/>
                <a:ea typeface="Microsoft YaHei"/>
                <a:cs typeface="Arial"/>
              </a:rPr>
              <a:t>从"海量日志"到"关键异常"</a:t>
            </a:r>
          </a:p>
        </p:txBody>
      </p:sp>
      <p:sp>
        <p:nvSpPr>
          <p:cNvPr id="29" name="Rectangle 29"/>
          <p:cNvSpPr/>
          <p:nvPr/>
        </p:nvSpPr>
        <p:spPr>
          <a:xfrm>
            <a:off x="6381750" y="1619250"/>
            <a:ext cx="2619375" cy="1000125"/>
          </a:xfrm>
          <a:prstGeom prst="roundRect">
            <a:avLst>
              <a:gd name="adj" fmla="val 3810"/>
            </a:avLst>
          </a:prstGeom>
          <a:solidFill>
            <a:srgbClr val="FFFFFF"/>
          </a:solidFill>
          <a:ln w="19050">
            <a:solidFill>
              <a:srgbClr val="E7E6E6"/>
            </a:solidFill>
          </a:ln>
        </p:spPr>
      </p:sp>
      <p:sp>
        <p:nvSpPr>
          <p:cNvPr id="30" name="Rectangle 30"/>
          <p:cNvSpPr/>
          <p:nvPr/>
        </p:nvSpPr>
        <p:spPr>
          <a:xfrm>
            <a:off x="6381750" y="1619250"/>
            <a:ext cx="285750" cy="285750"/>
          </a:xfrm>
          <a:prstGeom prst="rect">
            <a:avLst/>
          </a:prstGeom>
          <a:solidFill>
            <a:srgbClr val="C00000"/>
          </a:solidFill>
          <a:ln>
            <a:noFill/>
          </a:ln>
        </p:spPr>
      </p:sp>
      <p:sp>
        <p:nvSpPr>
          <p:cNvPr id="31" name="TextBox 31"/>
          <p:cNvSpPr txBox="1"/>
          <p:nvPr/>
        </p:nvSpPr>
        <p:spPr>
          <a:xfrm>
            <a:off x="6463179" y="1699260"/>
            <a:ext cx="122892" cy="243840"/>
          </a:xfrm>
          <a:prstGeom prst="rect">
            <a:avLst/>
          </a:prstGeom>
          <a:noFill/>
          <a:ln>
            <a:noFill/>
          </a:ln>
        </p:spPr>
        <p:txBody>
          <a:bodyPr wrap="none" lIns="0" tIns="0" rIns="0" bIns="0" anchor="t" anchorCtr="0">
            <a:spAutoFit/>
          </a:bodyPr>
          <a:lstStyle/>
          <a:p>
            <a:pPr algn="ctr"/>
            <a:r>
              <a:rPr lang="zh-CN" sz="1200" b="1" dirty="0">
                <a:solidFill>
                  <a:srgbClr val="FFFFFF"/>
                </a:solidFill>
                <a:latin typeface="Arial"/>
                <a:ea typeface="Microsoft YaHei"/>
                <a:cs typeface="Arial"/>
              </a:rPr>
              <a:t>3</a:t>
            </a:r>
          </a:p>
        </p:txBody>
      </p:sp>
      <p:sp>
        <p:nvSpPr>
          <p:cNvPr id="32" name="TextBox 32"/>
          <p:cNvSpPr txBox="1"/>
          <p:nvPr/>
        </p:nvSpPr>
        <p:spPr>
          <a:xfrm>
            <a:off x="6795135" y="1708785"/>
            <a:ext cx="1299039" cy="243840"/>
          </a:xfrm>
          <a:prstGeom prst="rect">
            <a:avLst/>
          </a:prstGeom>
          <a:noFill/>
          <a:ln>
            <a:noFill/>
          </a:ln>
        </p:spPr>
        <p:txBody>
          <a:bodyPr wrap="none" lIns="0" tIns="0" rIns="0" bIns="0" anchor="t" anchorCtr="0">
            <a:spAutoFit/>
          </a:bodyPr>
          <a:lstStyle/>
          <a:p>
            <a:pPr algn="l"/>
            <a:r>
              <a:rPr lang="zh-CN" sz="1200" b="1" dirty="0">
                <a:solidFill>
                  <a:srgbClr val="C00000"/>
                </a:solidFill>
                <a:latin typeface="Arial"/>
                <a:ea typeface="Microsoft YaHei"/>
                <a:cs typeface="Arial"/>
              </a:rPr>
              <a:t>Incident Copilot</a:t>
            </a:r>
          </a:p>
        </p:txBody>
      </p:sp>
      <p:sp>
        <p:nvSpPr>
          <p:cNvPr id="33" name="TextBox 33"/>
          <p:cNvSpPr txBox="1"/>
          <p:nvPr/>
        </p:nvSpPr>
        <p:spPr>
          <a:xfrm>
            <a:off x="6512242" y="1990249"/>
            <a:ext cx="544830" cy="198120"/>
          </a:xfrm>
          <a:prstGeom prst="rect">
            <a:avLst/>
          </a:prstGeom>
          <a:noFill/>
          <a:ln>
            <a:noFill/>
          </a:ln>
        </p:spPr>
        <p:txBody>
          <a:bodyPr wrap="none" lIns="0" tIns="0" rIns="0" bIns="0" anchor="t" anchorCtr="0">
            <a:spAutoFit/>
          </a:bodyPr>
          <a:lstStyle/>
          <a:p>
            <a:pPr algn="l"/>
            <a:r>
              <a:rPr lang="zh-CN" sz="975" dirty="0">
                <a:solidFill>
                  <a:srgbClr val="333333"/>
                </a:solidFill>
                <a:latin typeface="Arial"/>
                <a:ea typeface="Microsoft YaHei"/>
                <a:cs typeface="Arial"/>
              </a:rPr>
              <a:t>事故副驾</a:t>
            </a:r>
          </a:p>
        </p:txBody>
      </p:sp>
      <p:sp>
        <p:nvSpPr>
          <p:cNvPr id="34" name="TextBox 34"/>
          <p:cNvSpPr txBox="1"/>
          <p:nvPr/>
        </p:nvSpPr>
        <p:spPr>
          <a:xfrm>
            <a:off x="6512242" y="2209324"/>
            <a:ext cx="1214414" cy="198120"/>
          </a:xfrm>
          <a:prstGeom prst="rect">
            <a:avLst/>
          </a:prstGeom>
          <a:noFill/>
          <a:ln>
            <a:noFill/>
          </a:ln>
        </p:spPr>
        <p:txBody>
          <a:bodyPr wrap="none" lIns="0" tIns="0" rIns="0" bIns="0" anchor="t" anchorCtr="0">
            <a:spAutoFit/>
          </a:bodyPr>
          <a:lstStyle/>
          <a:p>
            <a:pPr algn="l"/>
            <a:r>
              <a:rPr lang="zh-CN" sz="975" dirty="0">
                <a:solidFill>
                  <a:srgbClr val="666666"/>
                </a:solidFill>
                <a:latin typeface="Arial"/>
                <a:ea typeface="Microsoft YaHei"/>
                <a:cs typeface="Arial"/>
              </a:rPr>
              <a:t>多轮对话 · 动态诊断</a:t>
            </a:r>
          </a:p>
        </p:txBody>
      </p:sp>
      <p:sp>
        <p:nvSpPr>
          <p:cNvPr id="35" name="TextBox 35"/>
          <p:cNvSpPr txBox="1"/>
          <p:nvPr/>
        </p:nvSpPr>
        <p:spPr>
          <a:xfrm>
            <a:off x="6513195" y="2436495"/>
            <a:ext cx="1487043" cy="182880"/>
          </a:xfrm>
          <a:prstGeom prst="rect">
            <a:avLst/>
          </a:prstGeom>
          <a:noFill/>
          <a:ln>
            <a:noFill/>
          </a:ln>
        </p:spPr>
        <p:txBody>
          <a:bodyPr wrap="none" lIns="0" tIns="0" rIns="0" bIns="0" anchor="t" anchorCtr="0">
            <a:spAutoFit/>
          </a:bodyPr>
          <a:lstStyle/>
          <a:p>
            <a:pPr algn="l"/>
            <a:r>
              <a:rPr lang="zh-CN" sz="900" dirty="0">
                <a:solidFill>
                  <a:srgbClr val="999999"/>
                </a:solidFill>
                <a:latin typeface="Arial"/>
                <a:ea typeface="Microsoft YaHei"/>
                <a:cs typeface="Arial"/>
              </a:rPr>
              <a:t>从"固定步骤"到"动态交互"</a:t>
            </a:r>
          </a:p>
        </p:txBody>
      </p:sp>
      <p:sp>
        <p:nvSpPr>
          <p:cNvPr id="36" name="Rectangle 36"/>
          <p:cNvSpPr/>
          <p:nvPr/>
        </p:nvSpPr>
        <p:spPr>
          <a:xfrm>
            <a:off x="9286875" y="1619250"/>
            <a:ext cx="2333625" cy="1000125"/>
          </a:xfrm>
          <a:prstGeom prst="roundRect">
            <a:avLst>
              <a:gd name="adj" fmla="val 3810"/>
            </a:avLst>
          </a:prstGeom>
          <a:solidFill>
            <a:srgbClr val="FFFFFF"/>
          </a:solidFill>
          <a:ln w="19050">
            <a:solidFill>
              <a:srgbClr val="E7E6E6"/>
            </a:solidFill>
          </a:ln>
        </p:spPr>
      </p:sp>
      <p:sp>
        <p:nvSpPr>
          <p:cNvPr id="37" name="Rectangle 37"/>
          <p:cNvSpPr/>
          <p:nvPr/>
        </p:nvSpPr>
        <p:spPr>
          <a:xfrm>
            <a:off x="9286875" y="1619250"/>
            <a:ext cx="285750" cy="285750"/>
          </a:xfrm>
          <a:prstGeom prst="rect">
            <a:avLst/>
          </a:prstGeom>
          <a:solidFill>
            <a:srgbClr val="C00000"/>
          </a:solidFill>
          <a:ln>
            <a:noFill/>
          </a:ln>
        </p:spPr>
      </p:sp>
      <p:sp>
        <p:nvSpPr>
          <p:cNvPr id="38" name="TextBox 38"/>
          <p:cNvSpPr txBox="1"/>
          <p:nvPr/>
        </p:nvSpPr>
        <p:spPr>
          <a:xfrm>
            <a:off x="9368304" y="1699260"/>
            <a:ext cx="122892" cy="243840"/>
          </a:xfrm>
          <a:prstGeom prst="rect">
            <a:avLst/>
          </a:prstGeom>
          <a:noFill/>
          <a:ln>
            <a:noFill/>
          </a:ln>
        </p:spPr>
        <p:txBody>
          <a:bodyPr wrap="none" lIns="0" tIns="0" rIns="0" bIns="0" anchor="t" anchorCtr="0">
            <a:spAutoFit/>
          </a:bodyPr>
          <a:lstStyle/>
          <a:p>
            <a:pPr algn="ctr"/>
            <a:r>
              <a:rPr lang="zh-CN" sz="1200" b="1" dirty="0">
                <a:solidFill>
                  <a:srgbClr val="FFFFFF"/>
                </a:solidFill>
                <a:latin typeface="Arial"/>
                <a:ea typeface="Microsoft YaHei"/>
                <a:cs typeface="Arial"/>
              </a:rPr>
              <a:t>4</a:t>
            </a:r>
          </a:p>
        </p:txBody>
      </p:sp>
      <p:sp>
        <p:nvSpPr>
          <p:cNvPr id="39" name="TextBox 39"/>
          <p:cNvSpPr txBox="1"/>
          <p:nvPr/>
        </p:nvSpPr>
        <p:spPr>
          <a:xfrm>
            <a:off x="9700260" y="1708785"/>
            <a:ext cx="1828305" cy="243840"/>
          </a:xfrm>
          <a:prstGeom prst="rect">
            <a:avLst/>
          </a:prstGeom>
          <a:noFill/>
          <a:ln>
            <a:noFill/>
          </a:ln>
        </p:spPr>
        <p:txBody>
          <a:bodyPr wrap="none" lIns="0" tIns="0" rIns="0" bIns="0" anchor="t" anchorCtr="0">
            <a:spAutoFit/>
          </a:bodyPr>
          <a:lstStyle/>
          <a:p>
            <a:pPr algn="l"/>
            <a:r>
              <a:rPr lang="zh-CN" sz="1200" b="1" dirty="0">
                <a:solidFill>
                  <a:srgbClr val="C00000"/>
                </a:solidFill>
                <a:latin typeface="Arial"/>
                <a:ea typeface="Microsoft YaHei"/>
                <a:cs typeface="Arial"/>
              </a:rPr>
              <a:t>Credibility Framework</a:t>
            </a:r>
          </a:p>
        </p:txBody>
      </p:sp>
      <p:sp>
        <p:nvSpPr>
          <p:cNvPr id="40" name="TextBox 40"/>
          <p:cNvSpPr txBox="1"/>
          <p:nvPr/>
        </p:nvSpPr>
        <p:spPr>
          <a:xfrm>
            <a:off x="9417368" y="1990249"/>
            <a:ext cx="674846" cy="198120"/>
          </a:xfrm>
          <a:prstGeom prst="rect">
            <a:avLst/>
          </a:prstGeom>
          <a:noFill/>
          <a:ln>
            <a:noFill/>
          </a:ln>
        </p:spPr>
        <p:txBody>
          <a:bodyPr wrap="none" lIns="0" tIns="0" rIns="0" bIns="0" anchor="t" anchorCtr="0">
            <a:spAutoFit/>
          </a:bodyPr>
          <a:lstStyle/>
          <a:p>
            <a:pPr algn="l"/>
            <a:r>
              <a:rPr lang="zh-CN" sz="975" dirty="0">
                <a:solidFill>
                  <a:srgbClr val="333333"/>
                </a:solidFill>
                <a:latin typeface="Arial"/>
                <a:ea typeface="Microsoft YaHei"/>
                <a:cs typeface="Arial"/>
              </a:rPr>
              <a:t>可信度框架</a:t>
            </a:r>
          </a:p>
        </p:txBody>
      </p:sp>
      <p:sp>
        <p:nvSpPr>
          <p:cNvPr id="41" name="TextBox 41"/>
          <p:cNvSpPr txBox="1"/>
          <p:nvPr/>
        </p:nvSpPr>
        <p:spPr>
          <a:xfrm>
            <a:off x="9417368" y="2209324"/>
            <a:ext cx="1623965" cy="198120"/>
          </a:xfrm>
          <a:prstGeom prst="rect">
            <a:avLst/>
          </a:prstGeom>
          <a:noFill/>
          <a:ln>
            <a:noFill/>
          </a:ln>
        </p:spPr>
        <p:txBody>
          <a:bodyPr wrap="none" lIns="0" tIns="0" rIns="0" bIns="0" anchor="t" anchorCtr="0">
            <a:spAutoFit/>
          </a:bodyPr>
          <a:lstStyle/>
          <a:p>
            <a:pPr algn="l"/>
            <a:r>
              <a:rPr lang="zh-CN" sz="975" dirty="0">
                <a:solidFill>
                  <a:srgbClr val="666666"/>
                </a:solidFill>
                <a:latin typeface="Arial"/>
                <a:ea typeface="Microsoft YaHei"/>
                <a:cs typeface="Arial"/>
              </a:rPr>
              <a:t>置信度 · 依据链 · 风险提示</a:t>
            </a:r>
          </a:p>
        </p:txBody>
      </p:sp>
      <p:sp>
        <p:nvSpPr>
          <p:cNvPr id="42" name="TextBox 42"/>
          <p:cNvSpPr txBox="1"/>
          <p:nvPr/>
        </p:nvSpPr>
        <p:spPr>
          <a:xfrm>
            <a:off x="9418320" y="2436495"/>
            <a:ext cx="1247013" cy="182880"/>
          </a:xfrm>
          <a:prstGeom prst="rect">
            <a:avLst/>
          </a:prstGeom>
          <a:noFill/>
          <a:ln>
            <a:noFill/>
          </a:ln>
        </p:spPr>
        <p:txBody>
          <a:bodyPr wrap="none" lIns="0" tIns="0" rIns="0" bIns="0" anchor="t" anchorCtr="0">
            <a:spAutoFit/>
          </a:bodyPr>
          <a:lstStyle/>
          <a:p>
            <a:pPr algn="l"/>
            <a:r>
              <a:rPr lang="zh-CN" sz="900" dirty="0">
                <a:solidFill>
                  <a:srgbClr val="999999"/>
                </a:solidFill>
                <a:latin typeface="Arial"/>
                <a:ea typeface="Microsoft YaHei"/>
                <a:cs typeface="Arial"/>
              </a:rPr>
              <a:t>从"黑盒"到"理性决策"</a:t>
            </a:r>
          </a:p>
        </p:txBody>
      </p:sp>
      <p:sp>
        <p:nvSpPr>
          <p:cNvPr id="43" name="Rectangle 43"/>
          <p:cNvSpPr/>
          <p:nvPr/>
        </p:nvSpPr>
        <p:spPr>
          <a:xfrm>
            <a:off x="571500" y="2857500"/>
            <a:ext cx="2619375" cy="1000125"/>
          </a:xfrm>
          <a:prstGeom prst="roundRect">
            <a:avLst>
              <a:gd name="adj" fmla="val 3810"/>
            </a:avLst>
          </a:prstGeom>
          <a:solidFill>
            <a:srgbClr val="FFFFFF"/>
          </a:solidFill>
          <a:ln w="19050">
            <a:solidFill>
              <a:srgbClr val="E7E6E6"/>
            </a:solidFill>
          </a:ln>
        </p:spPr>
      </p:sp>
      <p:sp>
        <p:nvSpPr>
          <p:cNvPr id="44" name="Rectangle 44"/>
          <p:cNvSpPr/>
          <p:nvPr/>
        </p:nvSpPr>
        <p:spPr>
          <a:xfrm>
            <a:off x="571500" y="2857500"/>
            <a:ext cx="285750" cy="285750"/>
          </a:xfrm>
          <a:prstGeom prst="rect">
            <a:avLst/>
          </a:prstGeom>
          <a:solidFill>
            <a:srgbClr val="2E75B6"/>
          </a:solidFill>
          <a:ln>
            <a:noFill/>
          </a:ln>
        </p:spPr>
      </p:sp>
      <p:sp>
        <p:nvSpPr>
          <p:cNvPr id="45" name="TextBox 45"/>
          <p:cNvSpPr txBox="1"/>
          <p:nvPr/>
        </p:nvSpPr>
        <p:spPr>
          <a:xfrm>
            <a:off x="652929" y="2937510"/>
            <a:ext cx="122892" cy="243840"/>
          </a:xfrm>
          <a:prstGeom prst="rect">
            <a:avLst/>
          </a:prstGeom>
          <a:noFill/>
          <a:ln>
            <a:noFill/>
          </a:ln>
        </p:spPr>
        <p:txBody>
          <a:bodyPr wrap="none" lIns="0" tIns="0" rIns="0" bIns="0" anchor="t" anchorCtr="0">
            <a:spAutoFit/>
          </a:bodyPr>
          <a:lstStyle/>
          <a:p>
            <a:pPr algn="ctr"/>
            <a:r>
              <a:rPr lang="zh-CN" sz="1200" b="1" dirty="0">
                <a:solidFill>
                  <a:srgbClr val="FFFFFF"/>
                </a:solidFill>
                <a:latin typeface="Arial"/>
                <a:ea typeface="Microsoft YaHei"/>
                <a:cs typeface="Arial"/>
              </a:rPr>
              <a:t>5</a:t>
            </a:r>
          </a:p>
        </p:txBody>
      </p:sp>
      <p:sp>
        <p:nvSpPr>
          <p:cNvPr id="46" name="TextBox 46"/>
          <p:cNvSpPr txBox="1"/>
          <p:nvPr/>
        </p:nvSpPr>
        <p:spPr>
          <a:xfrm>
            <a:off x="984885" y="2947035"/>
            <a:ext cx="2307165" cy="243840"/>
          </a:xfrm>
          <a:prstGeom prst="rect">
            <a:avLst/>
          </a:prstGeom>
          <a:noFill/>
          <a:ln>
            <a:noFill/>
          </a:ln>
        </p:spPr>
        <p:txBody>
          <a:bodyPr wrap="none" lIns="0" tIns="0" rIns="0" bIns="0" anchor="t" anchorCtr="0">
            <a:spAutoFit/>
          </a:bodyPr>
          <a:lstStyle/>
          <a:p>
            <a:pPr algn="l"/>
            <a:r>
              <a:rPr lang="zh-CN" sz="1200" b="1" dirty="0">
                <a:solidFill>
                  <a:srgbClr val="2E75B6"/>
                </a:solidFill>
                <a:latin typeface="Arial"/>
                <a:ea typeface="Microsoft YaHei"/>
                <a:cs typeface="Arial"/>
              </a:rPr>
              <a:t>Investigation State Machine</a:t>
            </a:r>
          </a:p>
        </p:txBody>
      </p:sp>
      <p:sp>
        <p:nvSpPr>
          <p:cNvPr id="47" name="TextBox 47"/>
          <p:cNvSpPr txBox="1"/>
          <p:nvPr/>
        </p:nvSpPr>
        <p:spPr>
          <a:xfrm>
            <a:off x="701992" y="3228499"/>
            <a:ext cx="674846" cy="198120"/>
          </a:xfrm>
          <a:prstGeom prst="rect">
            <a:avLst/>
          </a:prstGeom>
          <a:noFill/>
          <a:ln>
            <a:noFill/>
          </a:ln>
        </p:spPr>
        <p:txBody>
          <a:bodyPr wrap="none" lIns="0" tIns="0" rIns="0" bIns="0" anchor="t" anchorCtr="0">
            <a:spAutoFit/>
          </a:bodyPr>
          <a:lstStyle/>
          <a:p>
            <a:pPr algn="l"/>
            <a:r>
              <a:rPr lang="zh-CN" sz="975" dirty="0">
                <a:solidFill>
                  <a:srgbClr val="333333"/>
                </a:solidFill>
                <a:latin typeface="Arial"/>
                <a:ea typeface="Microsoft YaHei"/>
                <a:cs typeface="Arial"/>
              </a:rPr>
              <a:t>排查状态机</a:t>
            </a:r>
          </a:p>
        </p:txBody>
      </p:sp>
      <p:sp>
        <p:nvSpPr>
          <p:cNvPr id="48" name="TextBox 48"/>
          <p:cNvSpPr txBox="1"/>
          <p:nvPr/>
        </p:nvSpPr>
        <p:spPr>
          <a:xfrm>
            <a:off x="701992" y="3447574"/>
            <a:ext cx="1214414" cy="198120"/>
          </a:xfrm>
          <a:prstGeom prst="rect">
            <a:avLst/>
          </a:prstGeom>
          <a:noFill/>
          <a:ln>
            <a:noFill/>
          </a:ln>
        </p:spPr>
        <p:txBody>
          <a:bodyPr wrap="none" lIns="0" tIns="0" rIns="0" bIns="0" anchor="t" anchorCtr="0">
            <a:spAutoFit/>
          </a:bodyPr>
          <a:lstStyle/>
          <a:p>
            <a:pPr algn="l"/>
            <a:r>
              <a:rPr lang="zh-CN" sz="975" dirty="0">
                <a:solidFill>
                  <a:srgbClr val="666666"/>
                </a:solidFill>
                <a:latin typeface="Arial"/>
                <a:ea typeface="Microsoft YaHei"/>
                <a:cs typeface="Arial"/>
              </a:rPr>
              <a:t>进度透明 · 状态追踪</a:t>
            </a:r>
          </a:p>
        </p:txBody>
      </p:sp>
      <p:sp>
        <p:nvSpPr>
          <p:cNvPr id="49" name="TextBox 49"/>
          <p:cNvSpPr txBox="1"/>
          <p:nvPr/>
        </p:nvSpPr>
        <p:spPr>
          <a:xfrm>
            <a:off x="702945" y="3674745"/>
            <a:ext cx="1487043" cy="182880"/>
          </a:xfrm>
          <a:prstGeom prst="rect">
            <a:avLst/>
          </a:prstGeom>
          <a:noFill/>
          <a:ln>
            <a:noFill/>
          </a:ln>
        </p:spPr>
        <p:txBody>
          <a:bodyPr wrap="none" lIns="0" tIns="0" rIns="0" bIns="0" anchor="t" anchorCtr="0">
            <a:spAutoFit/>
          </a:bodyPr>
          <a:lstStyle/>
          <a:p>
            <a:pPr algn="l"/>
            <a:r>
              <a:rPr lang="zh-CN" sz="900" dirty="0">
                <a:solidFill>
                  <a:srgbClr val="999999"/>
                </a:solidFill>
                <a:latin typeface="Arial"/>
                <a:ea typeface="Microsoft YaHei"/>
                <a:cs typeface="Arial"/>
              </a:rPr>
              <a:t>从"重复询问"到"状态透明"</a:t>
            </a:r>
          </a:p>
        </p:txBody>
      </p:sp>
      <p:sp>
        <p:nvSpPr>
          <p:cNvPr id="50" name="Rectangle 50"/>
          <p:cNvSpPr/>
          <p:nvPr/>
        </p:nvSpPr>
        <p:spPr>
          <a:xfrm>
            <a:off x="3476625" y="2857500"/>
            <a:ext cx="2619375" cy="1000125"/>
          </a:xfrm>
          <a:prstGeom prst="roundRect">
            <a:avLst>
              <a:gd name="adj" fmla="val 3810"/>
            </a:avLst>
          </a:prstGeom>
          <a:solidFill>
            <a:srgbClr val="FFFFFF"/>
          </a:solidFill>
          <a:ln w="19050">
            <a:solidFill>
              <a:srgbClr val="E7E6E6"/>
            </a:solidFill>
          </a:ln>
        </p:spPr>
      </p:sp>
      <p:sp>
        <p:nvSpPr>
          <p:cNvPr id="51" name="Rectangle 51"/>
          <p:cNvSpPr/>
          <p:nvPr/>
        </p:nvSpPr>
        <p:spPr>
          <a:xfrm>
            <a:off x="3476625" y="2857500"/>
            <a:ext cx="285750" cy="285750"/>
          </a:xfrm>
          <a:prstGeom prst="rect">
            <a:avLst/>
          </a:prstGeom>
          <a:solidFill>
            <a:srgbClr val="2E75B6"/>
          </a:solidFill>
          <a:ln>
            <a:noFill/>
          </a:ln>
        </p:spPr>
      </p:sp>
      <p:sp>
        <p:nvSpPr>
          <p:cNvPr id="52" name="TextBox 52"/>
          <p:cNvSpPr txBox="1"/>
          <p:nvPr/>
        </p:nvSpPr>
        <p:spPr>
          <a:xfrm>
            <a:off x="3558054" y="2937510"/>
            <a:ext cx="122892" cy="243840"/>
          </a:xfrm>
          <a:prstGeom prst="rect">
            <a:avLst/>
          </a:prstGeom>
          <a:noFill/>
          <a:ln>
            <a:noFill/>
          </a:ln>
        </p:spPr>
        <p:txBody>
          <a:bodyPr wrap="none" lIns="0" tIns="0" rIns="0" bIns="0" anchor="t" anchorCtr="0">
            <a:spAutoFit/>
          </a:bodyPr>
          <a:lstStyle/>
          <a:p>
            <a:pPr algn="ctr"/>
            <a:r>
              <a:rPr lang="zh-CN" sz="1200" b="1" dirty="0">
                <a:solidFill>
                  <a:srgbClr val="FFFFFF"/>
                </a:solidFill>
                <a:latin typeface="Arial"/>
                <a:ea typeface="Microsoft YaHei"/>
                <a:cs typeface="Arial"/>
              </a:rPr>
              <a:t>6</a:t>
            </a:r>
          </a:p>
        </p:txBody>
      </p:sp>
      <p:sp>
        <p:nvSpPr>
          <p:cNvPr id="53" name="TextBox 53"/>
          <p:cNvSpPr txBox="1"/>
          <p:nvPr/>
        </p:nvSpPr>
        <p:spPr>
          <a:xfrm>
            <a:off x="3890010" y="2947035"/>
            <a:ext cx="1567872" cy="243840"/>
          </a:xfrm>
          <a:prstGeom prst="rect">
            <a:avLst/>
          </a:prstGeom>
          <a:noFill/>
          <a:ln>
            <a:noFill/>
          </a:ln>
        </p:spPr>
        <p:txBody>
          <a:bodyPr wrap="none" lIns="0" tIns="0" rIns="0" bIns="0" anchor="t" anchorCtr="0">
            <a:spAutoFit/>
          </a:bodyPr>
          <a:lstStyle/>
          <a:p>
            <a:pPr algn="l"/>
            <a:r>
              <a:rPr lang="zh-CN" sz="1200" b="1" dirty="0">
                <a:solidFill>
                  <a:srgbClr val="2E75B6"/>
                </a:solidFill>
                <a:latin typeface="Arial"/>
                <a:ea typeface="Microsoft YaHei"/>
                <a:cs typeface="Arial"/>
              </a:rPr>
              <a:t>Knowledge Distiller</a:t>
            </a:r>
          </a:p>
        </p:txBody>
      </p:sp>
      <p:sp>
        <p:nvSpPr>
          <p:cNvPr id="54" name="TextBox 54"/>
          <p:cNvSpPr txBox="1"/>
          <p:nvPr/>
        </p:nvSpPr>
        <p:spPr>
          <a:xfrm>
            <a:off x="3607118" y="3228499"/>
            <a:ext cx="674846" cy="198120"/>
          </a:xfrm>
          <a:prstGeom prst="rect">
            <a:avLst/>
          </a:prstGeom>
          <a:noFill/>
          <a:ln>
            <a:noFill/>
          </a:ln>
        </p:spPr>
        <p:txBody>
          <a:bodyPr wrap="none" lIns="0" tIns="0" rIns="0" bIns="0" anchor="t" anchorCtr="0">
            <a:spAutoFit/>
          </a:bodyPr>
          <a:lstStyle/>
          <a:p>
            <a:pPr algn="l"/>
            <a:r>
              <a:rPr lang="zh-CN" sz="975" dirty="0">
                <a:solidFill>
                  <a:srgbClr val="333333"/>
                </a:solidFill>
                <a:latin typeface="Arial"/>
                <a:ea typeface="Microsoft YaHei"/>
                <a:cs typeface="Arial"/>
              </a:rPr>
              <a:t>知识蒸馏器</a:t>
            </a:r>
          </a:p>
        </p:txBody>
      </p:sp>
      <p:sp>
        <p:nvSpPr>
          <p:cNvPr id="55" name="TextBox 55"/>
          <p:cNvSpPr txBox="1"/>
          <p:nvPr/>
        </p:nvSpPr>
        <p:spPr>
          <a:xfrm>
            <a:off x="3607118" y="3447574"/>
            <a:ext cx="1448443" cy="198120"/>
          </a:xfrm>
          <a:prstGeom prst="rect">
            <a:avLst/>
          </a:prstGeom>
          <a:noFill/>
          <a:ln>
            <a:noFill/>
          </a:ln>
        </p:spPr>
        <p:txBody>
          <a:bodyPr wrap="none" lIns="0" tIns="0" rIns="0" bIns="0" anchor="t" anchorCtr="0">
            <a:spAutoFit/>
          </a:bodyPr>
          <a:lstStyle/>
          <a:p>
            <a:pPr algn="l"/>
            <a:r>
              <a:rPr lang="zh-CN" sz="975" dirty="0">
                <a:solidFill>
                  <a:srgbClr val="666666"/>
                </a:solidFill>
                <a:latin typeface="Arial"/>
                <a:ea typeface="Microsoft YaHei"/>
                <a:cs typeface="Arial"/>
              </a:rPr>
              <a:t>自动提炼规则/SOP/脚本</a:t>
            </a:r>
          </a:p>
        </p:txBody>
      </p:sp>
      <p:sp>
        <p:nvSpPr>
          <p:cNvPr id="56" name="TextBox 56"/>
          <p:cNvSpPr txBox="1"/>
          <p:nvPr/>
        </p:nvSpPr>
        <p:spPr>
          <a:xfrm>
            <a:off x="3608070" y="3674745"/>
            <a:ext cx="1487043" cy="182880"/>
          </a:xfrm>
          <a:prstGeom prst="rect">
            <a:avLst/>
          </a:prstGeom>
          <a:noFill/>
          <a:ln>
            <a:noFill/>
          </a:ln>
        </p:spPr>
        <p:txBody>
          <a:bodyPr wrap="none" lIns="0" tIns="0" rIns="0" bIns="0" anchor="t" anchorCtr="0">
            <a:spAutoFit/>
          </a:bodyPr>
          <a:lstStyle/>
          <a:p>
            <a:pPr algn="l"/>
            <a:r>
              <a:rPr lang="zh-CN" sz="900" dirty="0">
                <a:solidFill>
                  <a:srgbClr val="999999"/>
                </a:solidFill>
                <a:latin typeface="Arial"/>
                <a:ea typeface="Microsoft YaHei"/>
                <a:cs typeface="Arial"/>
              </a:rPr>
              <a:t>从"文档沉淀"到"系统学习"</a:t>
            </a:r>
          </a:p>
        </p:txBody>
      </p:sp>
      <p:sp>
        <p:nvSpPr>
          <p:cNvPr id="57" name="Rectangle 57"/>
          <p:cNvSpPr/>
          <p:nvPr/>
        </p:nvSpPr>
        <p:spPr>
          <a:xfrm>
            <a:off x="6381750" y="2857500"/>
            <a:ext cx="2619375" cy="1000125"/>
          </a:xfrm>
          <a:prstGeom prst="roundRect">
            <a:avLst>
              <a:gd name="adj" fmla="val 3810"/>
            </a:avLst>
          </a:prstGeom>
          <a:solidFill>
            <a:srgbClr val="FFFFFF"/>
          </a:solidFill>
          <a:ln w="19050">
            <a:solidFill>
              <a:srgbClr val="E7E6E6"/>
            </a:solidFill>
          </a:ln>
        </p:spPr>
      </p:sp>
      <p:sp>
        <p:nvSpPr>
          <p:cNvPr id="58" name="Rectangle 58"/>
          <p:cNvSpPr/>
          <p:nvPr/>
        </p:nvSpPr>
        <p:spPr>
          <a:xfrm>
            <a:off x="6381750" y="2857500"/>
            <a:ext cx="285750" cy="285750"/>
          </a:xfrm>
          <a:prstGeom prst="rect">
            <a:avLst/>
          </a:prstGeom>
          <a:solidFill>
            <a:srgbClr val="2E75B6"/>
          </a:solidFill>
          <a:ln>
            <a:noFill/>
          </a:ln>
        </p:spPr>
      </p:sp>
      <p:sp>
        <p:nvSpPr>
          <p:cNvPr id="59" name="TextBox 59"/>
          <p:cNvSpPr txBox="1"/>
          <p:nvPr/>
        </p:nvSpPr>
        <p:spPr>
          <a:xfrm>
            <a:off x="6463179" y="2937510"/>
            <a:ext cx="122892" cy="243840"/>
          </a:xfrm>
          <a:prstGeom prst="rect">
            <a:avLst/>
          </a:prstGeom>
          <a:noFill/>
          <a:ln>
            <a:noFill/>
          </a:ln>
        </p:spPr>
        <p:txBody>
          <a:bodyPr wrap="none" lIns="0" tIns="0" rIns="0" bIns="0" anchor="t" anchorCtr="0">
            <a:spAutoFit/>
          </a:bodyPr>
          <a:lstStyle/>
          <a:p>
            <a:pPr algn="ctr"/>
            <a:r>
              <a:rPr lang="zh-CN" sz="1200" b="1" dirty="0">
                <a:solidFill>
                  <a:srgbClr val="FFFFFF"/>
                </a:solidFill>
                <a:latin typeface="Arial"/>
                <a:ea typeface="Microsoft YaHei"/>
                <a:cs typeface="Arial"/>
              </a:rPr>
              <a:t>7</a:t>
            </a:r>
          </a:p>
        </p:txBody>
      </p:sp>
      <p:sp>
        <p:nvSpPr>
          <p:cNvPr id="60" name="TextBox 60"/>
          <p:cNvSpPr txBox="1"/>
          <p:nvPr/>
        </p:nvSpPr>
        <p:spPr>
          <a:xfrm>
            <a:off x="6795135" y="2947035"/>
            <a:ext cx="1307440" cy="243840"/>
          </a:xfrm>
          <a:prstGeom prst="rect">
            <a:avLst/>
          </a:prstGeom>
          <a:noFill/>
          <a:ln>
            <a:noFill/>
          </a:ln>
        </p:spPr>
        <p:txBody>
          <a:bodyPr wrap="none" lIns="0" tIns="0" rIns="0" bIns="0" anchor="t" anchorCtr="0">
            <a:spAutoFit/>
          </a:bodyPr>
          <a:lstStyle/>
          <a:p>
            <a:pPr algn="l"/>
            <a:r>
              <a:rPr lang="zh-CN" sz="1200" b="1" dirty="0">
                <a:solidFill>
                  <a:srgbClr val="2E75B6"/>
                </a:solidFill>
                <a:latin typeface="Arial"/>
                <a:ea typeface="Microsoft YaHei"/>
                <a:cs typeface="Arial"/>
              </a:rPr>
              <a:t>War Room Agent</a:t>
            </a:r>
          </a:p>
        </p:txBody>
      </p:sp>
      <p:sp>
        <p:nvSpPr>
          <p:cNvPr id="61" name="TextBox 61"/>
          <p:cNvSpPr txBox="1"/>
          <p:nvPr/>
        </p:nvSpPr>
        <p:spPr>
          <a:xfrm>
            <a:off x="6512242" y="3228499"/>
            <a:ext cx="804862" cy="198120"/>
          </a:xfrm>
          <a:prstGeom prst="rect">
            <a:avLst/>
          </a:prstGeom>
          <a:noFill/>
          <a:ln>
            <a:noFill/>
          </a:ln>
        </p:spPr>
        <p:txBody>
          <a:bodyPr wrap="none" lIns="0" tIns="0" rIns="0" bIns="0" anchor="t" anchorCtr="0">
            <a:spAutoFit/>
          </a:bodyPr>
          <a:lstStyle/>
          <a:p>
            <a:pPr algn="l"/>
            <a:r>
              <a:rPr lang="zh-CN" sz="975" dirty="0">
                <a:solidFill>
                  <a:srgbClr val="333333"/>
                </a:solidFill>
                <a:latin typeface="Arial"/>
                <a:ea typeface="Microsoft YaHei"/>
                <a:cs typeface="Arial"/>
              </a:rPr>
              <a:t>作战室智能体</a:t>
            </a:r>
          </a:p>
        </p:txBody>
      </p:sp>
      <p:sp>
        <p:nvSpPr>
          <p:cNvPr id="62" name="TextBox 62"/>
          <p:cNvSpPr txBox="1"/>
          <p:nvPr/>
        </p:nvSpPr>
        <p:spPr>
          <a:xfrm>
            <a:off x="6512242" y="3447574"/>
            <a:ext cx="1474446" cy="198120"/>
          </a:xfrm>
          <a:prstGeom prst="rect">
            <a:avLst/>
          </a:prstGeom>
          <a:noFill/>
          <a:ln>
            <a:noFill/>
          </a:ln>
        </p:spPr>
        <p:txBody>
          <a:bodyPr wrap="none" lIns="0" tIns="0" rIns="0" bIns="0" anchor="t" anchorCtr="0">
            <a:spAutoFit/>
          </a:bodyPr>
          <a:lstStyle/>
          <a:p>
            <a:pPr algn="l"/>
            <a:r>
              <a:rPr lang="zh-CN" sz="975" dirty="0">
                <a:solidFill>
                  <a:srgbClr val="666666"/>
                </a:solidFill>
                <a:latin typeface="Arial"/>
                <a:ea typeface="Microsoft YaHei"/>
                <a:cs typeface="Arial"/>
              </a:rPr>
              <a:t>多角色协同 · 自动时间线</a:t>
            </a:r>
          </a:p>
        </p:txBody>
      </p:sp>
      <p:sp>
        <p:nvSpPr>
          <p:cNvPr id="63" name="TextBox 63"/>
          <p:cNvSpPr txBox="1"/>
          <p:nvPr/>
        </p:nvSpPr>
        <p:spPr>
          <a:xfrm>
            <a:off x="6513195" y="3674745"/>
            <a:ext cx="1487043" cy="182880"/>
          </a:xfrm>
          <a:prstGeom prst="rect">
            <a:avLst/>
          </a:prstGeom>
          <a:noFill/>
          <a:ln>
            <a:noFill/>
          </a:ln>
        </p:spPr>
        <p:txBody>
          <a:bodyPr wrap="none" lIns="0" tIns="0" rIns="0" bIns="0" anchor="t" anchorCtr="0">
            <a:spAutoFit/>
          </a:bodyPr>
          <a:lstStyle/>
          <a:p>
            <a:pPr algn="l"/>
            <a:r>
              <a:rPr lang="zh-CN" sz="900" dirty="0">
                <a:solidFill>
                  <a:srgbClr val="999999"/>
                </a:solidFill>
                <a:latin typeface="Arial"/>
                <a:ea typeface="Microsoft YaHei"/>
                <a:cs typeface="Arial"/>
              </a:rPr>
              <a:t>从"被动等待"到"主动推送"</a:t>
            </a:r>
          </a:p>
        </p:txBody>
      </p:sp>
      <p:sp>
        <p:nvSpPr>
          <p:cNvPr id="64" name="Rectangle 64"/>
          <p:cNvSpPr/>
          <p:nvPr/>
        </p:nvSpPr>
        <p:spPr>
          <a:xfrm>
            <a:off x="9286875" y="2857500"/>
            <a:ext cx="2333625" cy="1000125"/>
          </a:xfrm>
          <a:prstGeom prst="roundRect">
            <a:avLst>
              <a:gd name="adj" fmla="val 3810"/>
            </a:avLst>
          </a:prstGeom>
          <a:solidFill>
            <a:srgbClr val="FFFFFF"/>
          </a:solidFill>
          <a:ln w="19050">
            <a:solidFill>
              <a:srgbClr val="E7E6E6"/>
            </a:solidFill>
          </a:ln>
        </p:spPr>
      </p:sp>
      <p:sp>
        <p:nvSpPr>
          <p:cNvPr id="65" name="Rectangle 65"/>
          <p:cNvSpPr/>
          <p:nvPr/>
        </p:nvSpPr>
        <p:spPr>
          <a:xfrm>
            <a:off x="9286875" y="2857500"/>
            <a:ext cx="285750" cy="285750"/>
          </a:xfrm>
          <a:prstGeom prst="rect">
            <a:avLst/>
          </a:prstGeom>
          <a:solidFill>
            <a:srgbClr val="2E75B6"/>
          </a:solidFill>
          <a:ln>
            <a:noFill/>
          </a:ln>
        </p:spPr>
      </p:sp>
      <p:sp>
        <p:nvSpPr>
          <p:cNvPr id="66" name="TextBox 66"/>
          <p:cNvSpPr txBox="1"/>
          <p:nvPr/>
        </p:nvSpPr>
        <p:spPr>
          <a:xfrm>
            <a:off x="9368304" y="2937510"/>
            <a:ext cx="122892" cy="243840"/>
          </a:xfrm>
          <a:prstGeom prst="rect">
            <a:avLst/>
          </a:prstGeom>
          <a:noFill/>
          <a:ln>
            <a:noFill/>
          </a:ln>
        </p:spPr>
        <p:txBody>
          <a:bodyPr wrap="none" lIns="0" tIns="0" rIns="0" bIns="0" anchor="t" anchorCtr="0">
            <a:spAutoFit/>
          </a:bodyPr>
          <a:lstStyle/>
          <a:p>
            <a:pPr algn="ctr"/>
            <a:r>
              <a:rPr lang="zh-CN" sz="1200" b="1" dirty="0">
                <a:solidFill>
                  <a:srgbClr val="FFFFFF"/>
                </a:solidFill>
                <a:latin typeface="Arial"/>
                <a:ea typeface="Microsoft YaHei"/>
                <a:cs typeface="Arial"/>
              </a:rPr>
              <a:t>8</a:t>
            </a:r>
          </a:p>
        </p:txBody>
      </p:sp>
      <p:sp>
        <p:nvSpPr>
          <p:cNvPr id="67" name="TextBox 67"/>
          <p:cNvSpPr txBox="1"/>
          <p:nvPr/>
        </p:nvSpPr>
        <p:spPr>
          <a:xfrm>
            <a:off x="9700260" y="2947035"/>
            <a:ext cx="1517466" cy="243840"/>
          </a:xfrm>
          <a:prstGeom prst="rect">
            <a:avLst/>
          </a:prstGeom>
          <a:noFill/>
          <a:ln>
            <a:noFill/>
          </a:ln>
        </p:spPr>
        <p:txBody>
          <a:bodyPr wrap="none" lIns="0" tIns="0" rIns="0" bIns="0" anchor="t" anchorCtr="0">
            <a:spAutoFit/>
          </a:bodyPr>
          <a:lstStyle/>
          <a:p>
            <a:pPr algn="l"/>
            <a:r>
              <a:rPr lang="zh-CN" sz="1200" b="1" dirty="0">
                <a:solidFill>
                  <a:srgbClr val="2E75B6"/>
                </a:solidFill>
                <a:latin typeface="Arial"/>
                <a:ea typeface="Microsoft YaHei"/>
                <a:cs typeface="Arial"/>
              </a:rPr>
              <a:t>Incident Simulator</a:t>
            </a:r>
          </a:p>
        </p:txBody>
      </p:sp>
      <p:sp>
        <p:nvSpPr>
          <p:cNvPr id="68" name="TextBox 68"/>
          <p:cNvSpPr txBox="1"/>
          <p:nvPr/>
        </p:nvSpPr>
        <p:spPr>
          <a:xfrm>
            <a:off x="9417368" y="3228499"/>
            <a:ext cx="804862" cy="198120"/>
          </a:xfrm>
          <a:prstGeom prst="rect">
            <a:avLst/>
          </a:prstGeom>
          <a:noFill/>
          <a:ln>
            <a:noFill/>
          </a:ln>
        </p:spPr>
        <p:txBody>
          <a:bodyPr wrap="none" lIns="0" tIns="0" rIns="0" bIns="0" anchor="t" anchorCtr="0">
            <a:spAutoFit/>
          </a:bodyPr>
          <a:lstStyle/>
          <a:p>
            <a:pPr algn="l"/>
            <a:r>
              <a:rPr lang="zh-CN" sz="975" dirty="0">
                <a:solidFill>
                  <a:srgbClr val="333333"/>
                </a:solidFill>
                <a:latin typeface="Arial"/>
                <a:ea typeface="Microsoft YaHei"/>
                <a:cs typeface="Arial"/>
              </a:rPr>
              <a:t>故障演练系统</a:t>
            </a:r>
          </a:p>
        </p:txBody>
      </p:sp>
      <p:sp>
        <p:nvSpPr>
          <p:cNvPr id="69" name="TextBox 69"/>
          <p:cNvSpPr txBox="1"/>
          <p:nvPr/>
        </p:nvSpPr>
        <p:spPr>
          <a:xfrm>
            <a:off x="9417368" y="3447574"/>
            <a:ext cx="1214414" cy="198120"/>
          </a:xfrm>
          <a:prstGeom prst="rect">
            <a:avLst/>
          </a:prstGeom>
          <a:noFill/>
          <a:ln>
            <a:noFill/>
          </a:ln>
        </p:spPr>
        <p:txBody>
          <a:bodyPr wrap="none" lIns="0" tIns="0" rIns="0" bIns="0" anchor="t" anchorCtr="0">
            <a:spAutoFit/>
          </a:bodyPr>
          <a:lstStyle/>
          <a:p>
            <a:pPr algn="l"/>
            <a:r>
              <a:rPr lang="zh-CN" sz="975" dirty="0">
                <a:solidFill>
                  <a:srgbClr val="666666"/>
                </a:solidFill>
                <a:latin typeface="Arial"/>
                <a:ea typeface="Microsoft YaHei"/>
                <a:cs typeface="Arial"/>
              </a:rPr>
              <a:t>演练 · 评测 · AI反馈</a:t>
            </a:r>
          </a:p>
        </p:txBody>
      </p:sp>
      <p:sp>
        <p:nvSpPr>
          <p:cNvPr id="70" name="TextBox 70"/>
          <p:cNvSpPr txBox="1"/>
          <p:nvPr/>
        </p:nvSpPr>
        <p:spPr>
          <a:xfrm>
            <a:off x="9418320" y="3674745"/>
            <a:ext cx="1487043" cy="182880"/>
          </a:xfrm>
          <a:prstGeom prst="rect">
            <a:avLst/>
          </a:prstGeom>
          <a:noFill/>
          <a:ln>
            <a:noFill/>
          </a:ln>
        </p:spPr>
        <p:txBody>
          <a:bodyPr wrap="none" lIns="0" tIns="0" rIns="0" bIns="0" anchor="t" anchorCtr="0">
            <a:spAutoFit/>
          </a:bodyPr>
          <a:lstStyle/>
          <a:p>
            <a:pPr algn="l"/>
            <a:r>
              <a:rPr lang="zh-CN" sz="900" dirty="0">
                <a:solidFill>
                  <a:srgbClr val="999999"/>
                </a:solidFill>
                <a:latin typeface="Arial"/>
                <a:ea typeface="Microsoft YaHei"/>
                <a:cs typeface="Arial"/>
              </a:rPr>
              <a:t>从"被动积累"到"主动培养"</a:t>
            </a:r>
          </a:p>
        </p:txBody>
      </p:sp>
      <p:sp>
        <p:nvSpPr>
          <p:cNvPr id="71" name="Rectangle 71"/>
          <p:cNvSpPr/>
          <p:nvPr/>
        </p:nvSpPr>
        <p:spPr>
          <a:xfrm>
            <a:off x="571500" y="4095750"/>
            <a:ext cx="11049000" cy="476250"/>
          </a:xfrm>
          <a:prstGeom prst="roundRect">
            <a:avLst>
              <a:gd name="adj" fmla="val 8000"/>
            </a:avLst>
          </a:prstGeom>
          <a:solidFill>
            <a:srgbClr val="FDF3EB"/>
          </a:solidFill>
          <a:ln w="19050">
            <a:solidFill>
              <a:srgbClr val="F8CBAD"/>
            </a:solidFill>
          </a:ln>
        </p:spPr>
      </p:sp>
      <p:sp>
        <p:nvSpPr>
          <p:cNvPr id="72" name="TextBox 72"/>
          <p:cNvSpPr txBox="1"/>
          <p:nvPr/>
        </p:nvSpPr>
        <p:spPr>
          <a:xfrm>
            <a:off x="3931569" y="4212431"/>
            <a:ext cx="4328862" cy="228600"/>
          </a:xfrm>
          <a:prstGeom prst="rect">
            <a:avLst/>
          </a:prstGeom>
          <a:noFill/>
          <a:ln>
            <a:noFill/>
          </a:ln>
        </p:spPr>
        <p:txBody>
          <a:bodyPr wrap="none" lIns="0" tIns="0" rIns="0" bIns="0" anchor="t" anchorCtr="0">
            <a:spAutoFit/>
          </a:bodyPr>
          <a:lstStyle/>
          <a:p>
            <a:pPr algn="ctr"/>
            <a:r>
              <a:rPr lang="zh-CN" sz="1125" b="1" dirty="0">
                <a:solidFill>
                  <a:srgbClr val="C00000"/>
                </a:solidFill>
                <a:latin typeface="Arial"/>
                <a:ea typeface="Microsoft YaHei"/>
                <a:cs typeface="Arial"/>
              </a:rPr>
              <a:t>核心差异化：大模型实现推理型认知 + 协同智能体 + 闭环学习</a:t>
            </a:r>
          </a:p>
        </p:txBody>
      </p:sp>
      <p:sp>
        <p:nvSpPr>
          <p:cNvPr id="73" name="TextBox 73"/>
          <p:cNvSpPr txBox="1"/>
          <p:nvPr/>
        </p:nvSpPr>
        <p:spPr>
          <a:xfrm>
            <a:off x="4718447" y="4400074"/>
            <a:ext cx="2755106" cy="198120"/>
          </a:xfrm>
          <a:prstGeom prst="rect">
            <a:avLst/>
          </a:prstGeom>
          <a:noFill/>
          <a:ln>
            <a:noFill/>
          </a:ln>
        </p:spPr>
        <p:txBody>
          <a:bodyPr wrap="none" lIns="0" tIns="0" rIns="0" bIns="0" anchor="t" anchorCtr="0">
            <a:spAutoFit/>
          </a:bodyPr>
          <a:lstStyle/>
          <a:p>
            <a:pPr algn="ctr"/>
            <a:r>
              <a:rPr lang="zh-CN" sz="975" dirty="0">
                <a:solidFill>
                  <a:srgbClr val="666666"/>
                </a:solidFill>
                <a:latin typeface="Arial"/>
                <a:ea typeface="Microsoft YaHei"/>
                <a:cs typeface="Arial"/>
              </a:rPr>
              <a:t>每一能力均对应一个现有运维体系的系统性缺口</a:t>
            </a:r>
          </a:p>
        </p:txBody>
      </p:sp>
      <p:sp>
        <p:nvSpPr>
          <p:cNvPr id="74" name="Rectangle 74"/>
          <p:cNvSpPr/>
          <p:nvPr/>
        </p:nvSpPr>
        <p:spPr>
          <a:xfrm>
            <a:off x="571500" y="4857750"/>
            <a:ext cx="3524250" cy="1381125"/>
          </a:xfrm>
          <a:prstGeom prst="roundRect">
            <a:avLst>
              <a:gd name="adj" fmla="val 2759"/>
            </a:avLst>
          </a:prstGeom>
          <a:solidFill>
            <a:srgbClr val="FFFFFF"/>
          </a:solidFill>
          <a:ln w="19050">
            <a:solidFill>
              <a:srgbClr val="E7E6E6"/>
            </a:solidFill>
          </a:ln>
        </p:spPr>
      </p:sp>
      <p:sp>
        <p:nvSpPr>
          <p:cNvPr id="75" name="Rectangle 75"/>
          <p:cNvSpPr/>
          <p:nvPr/>
        </p:nvSpPr>
        <p:spPr>
          <a:xfrm>
            <a:off x="571500" y="4857750"/>
            <a:ext cx="3524250" cy="333375"/>
          </a:xfrm>
          <a:prstGeom prst="roundRect">
            <a:avLst>
              <a:gd name="adj" fmla="val 11429"/>
            </a:avLst>
          </a:prstGeom>
          <a:solidFill>
            <a:srgbClr val="C00000"/>
          </a:solidFill>
          <a:ln>
            <a:noFill/>
          </a:ln>
        </p:spPr>
      </p:sp>
      <p:sp>
        <p:nvSpPr>
          <p:cNvPr id="76" name="TextBox 76"/>
          <p:cNvSpPr txBox="1"/>
          <p:nvPr/>
        </p:nvSpPr>
        <p:spPr>
          <a:xfrm>
            <a:off x="1562290" y="4947285"/>
            <a:ext cx="1542669" cy="243840"/>
          </a:xfrm>
          <a:prstGeom prst="rect">
            <a:avLst/>
          </a:prstGeom>
          <a:noFill/>
          <a:ln>
            <a:noFill/>
          </a:ln>
        </p:spPr>
        <p:txBody>
          <a:bodyPr wrap="none" lIns="0" tIns="0" rIns="0" bIns="0" anchor="t" anchorCtr="0">
            <a:spAutoFit/>
          </a:bodyPr>
          <a:lstStyle/>
          <a:p>
            <a:pPr algn="ctr"/>
            <a:r>
              <a:rPr lang="zh-CN" sz="1200" b="1" dirty="0">
                <a:solidFill>
                  <a:srgbClr val="FFFFFF"/>
                </a:solidFill>
                <a:latin typeface="Arial"/>
                <a:ea typeface="Microsoft YaHei"/>
                <a:cs typeface="Arial"/>
              </a:rPr>
              <a:t>阶段目标（可量化）</a:t>
            </a:r>
          </a:p>
        </p:txBody>
      </p:sp>
      <p:sp>
        <p:nvSpPr>
          <p:cNvPr id="77" name="TextBox 77"/>
          <p:cNvSpPr txBox="1"/>
          <p:nvPr/>
        </p:nvSpPr>
        <p:spPr>
          <a:xfrm>
            <a:off x="747712" y="5288756"/>
            <a:ext cx="3043238" cy="762000"/>
          </a:xfrm>
          <a:prstGeom prst="rect">
            <a:avLst/>
          </a:prstGeom>
          <a:noFill/>
          <a:ln>
            <a:noFill/>
          </a:ln>
        </p:spPr>
        <p:txBody>
          <a:bodyPr wrap="square" lIns="0" tIns="0" rIns="0" bIns="0" anchor="t" anchorCtr="0"/>
          <a:lstStyle/>
          <a:p>
            <a:pPr algn="l">
              <a:lnSpc>
                <a:spcPts val="2100"/>
              </a:lnSpc>
            </a:pPr>
            <a:r>
              <a:rPr lang="zh-CN" sz="1125" dirty="0">
                <a:solidFill>
                  <a:srgbClr val="333333"/>
                </a:solidFill>
                <a:latin typeface="Arial"/>
                <a:ea typeface="Microsoft YaHei"/>
                <a:cs typeface="Arial"/>
              </a:rPr>
              <a:t xml:space="preserve">阶段A：MTTR 降低 15-20% </a:t>
            </a:r>
            <a:r>
              <a:rPr lang="zh-CN" sz="1125" dirty="0">
                <a:solidFill>
                  <a:srgbClr val="333333"/>
                </a:solidFill>
                <a:latin typeface="Arial"/>
                <a:ea typeface="Microsoft YaHei"/>
                <a:cs typeface="Arial"/>
              </a:rPr>
              <a:t xml:space="preserve">阶段B：MTTR 降低 30-40% · 诊断准确率 +40% </a:t>
            </a:r>
            <a:r>
              <a:rPr lang="zh-CN" sz="1125" dirty="0">
                <a:solidFill>
                  <a:srgbClr val="333333"/>
                </a:solidFill>
                <a:latin typeface="Arial"/>
                <a:ea typeface="Microsoft YaHei"/>
                <a:cs typeface="Arial"/>
              </a:rPr>
              <a:t>阶段C：复盘完成率 ≥80% · 新人培养周期 -60%</a:t>
            </a:r>
          </a:p>
        </p:txBody>
      </p:sp>
      <p:sp>
        <p:nvSpPr>
          <p:cNvPr id="78" name="Rectangle 78"/>
          <p:cNvSpPr/>
          <p:nvPr/>
        </p:nvSpPr>
        <p:spPr>
          <a:xfrm>
            <a:off x="4381500" y="4857750"/>
            <a:ext cx="3524250" cy="1381125"/>
          </a:xfrm>
          <a:prstGeom prst="roundRect">
            <a:avLst>
              <a:gd name="adj" fmla="val 2759"/>
            </a:avLst>
          </a:prstGeom>
          <a:solidFill>
            <a:srgbClr val="FFFFFF"/>
          </a:solidFill>
          <a:ln w="19050">
            <a:solidFill>
              <a:srgbClr val="E7E6E6"/>
            </a:solidFill>
          </a:ln>
        </p:spPr>
      </p:sp>
      <p:sp>
        <p:nvSpPr>
          <p:cNvPr id="79" name="Rectangle 79"/>
          <p:cNvSpPr/>
          <p:nvPr/>
        </p:nvSpPr>
        <p:spPr>
          <a:xfrm>
            <a:off x="4381500" y="4857750"/>
            <a:ext cx="3524250" cy="333375"/>
          </a:xfrm>
          <a:prstGeom prst="roundRect">
            <a:avLst>
              <a:gd name="adj" fmla="val 11429"/>
            </a:avLst>
          </a:prstGeom>
          <a:solidFill>
            <a:srgbClr val="2E75B6"/>
          </a:solidFill>
          <a:ln>
            <a:noFill/>
          </a:ln>
        </p:spPr>
      </p:sp>
      <p:sp>
        <p:nvSpPr>
          <p:cNvPr id="80" name="TextBox 80"/>
          <p:cNvSpPr txBox="1"/>
          <p:nvPr/>
        </p:nvSpPr>
        <p:spPr>
          <a:xfrm>
            <a:off x="5540312" y="4947285"/>
            <a:ext cx="1206627" cy="243840"/>
          </a:xfrm>
          <a:prstGeom prst="rect">
            <a:avLst/>
          </a:prstGeom>
          <a:noFill/>
          <a:ln>
            <a:noFill/>
          </a:ln>
        </p:spPr>
        <p:txBody>
          <a:bodyPr wrap="none" lIns="0" tIns="0" rIns="0" bIns="0" anchor="t" anchorCtr="0">
            <a:spAutoFit/>
          </a:bodyPr>
          <a:lstStyle/>
          <a:p>
            <a:pPr algn="ctr"/>
            <a:r>
              <a:rPr lang="zh-CN" sz="1200" b="1" dirty="0">
                <a:solidFill>
                  <a:srgbClr val="FFFFFF"/>
                </a:solidFill>
                <a:latin typeface="Arial"/>
                <a:ea typeface="Microsoft YaHei"/>
                <a:cs typeface="Arial"/>
              </a:rPr>
              <a:t>知识层演进路线</a:t>
            </a:r>
          </a:p>
        </p:txBody>
      </p:sp>
      <p:sp>
        <p:nvSpPr>
          <p:cNvPr id="81" name="TextBox 81"/>
          <p:cNvSpPr txBox="1"/>
          <p:nvPr/>
        </p:nvSpPr>
        <p:spPr>
          <a:xfrm>
            <a:off x="4557712" y="5288756"/>
            <a:ext cx="2386012" cy="762000"/>
          </a:xfrm>
          <a:prstGeom prst="rect">
            <a:avLst/>
          </a:prstGeom>
          <a:noFill/>
          <a:ln>
            <a:noFill/>
          </a:ln>
        </p:spPr>
        <p:txBody>
          <a:bodyPr wrap="square" lIns="0" tIns="0" rIns="0" bIns="0" anchor="t" anchorCtr="0"/>
          <a:lstStyle/>
          <a:p>
            <a:pPr algn="l">
              <a:lnSpc>
                <a:spcPts val="2100"/>
              </a:lnSpc>
            </a:pPr>
            <a:r>
              <a:rPr lang="zh-CN" sz="1125" dirty="0">
                <a:solidFill>
                  <a:srgbClr val="333333"/>
                </a:solidFill>
                <a:latin typeface="Arial"/>
                <a:ea typeface="Microsoft YaHei"/>
                <a:cs typeface="Arial"/>
              </a:rPr>
              <a:t xml:space="preserve">MVP：知识库 + 向量检索 </a:t>
            </a:r>
            <a:r>
              <a:rPr lang="zh-CN" sz="1125" dirty="0">
                <a:solidFill>
                  <a:srgbClr val="333333"/>
                </a:solidFill>
                <a:latin typeface="Arial"/>
                <a:ea typeface="Microsoft YaHei"/>
                <a:cs typeface="Arial"/>
              </a:rPr>
              <a:t xml:space="preserve">阶段B：+ Incident Graph + 根因推理 </a:t>
            </a:r>
            <a:r>
              <a:rPr lang="zh-CN" sz="1125" dirty="0">
                <a:solidFill>
                  <a:srgbClr val="333333"/>
                </a:solidFill>
                <a:latin typeface="Arial"/>
                <a:ea typeface="Microsoft YaHei"/>
                <a:cs typeface="Arial"/>
              </a:rPr>
              <a:t>阶段C：+ 自动蒸馏 + 演练系统</a:t>
            </a:r>
          </a:p>
        </p:txBody>
      </p:sp>
      <p:sp>
        <p:nvSpPr>
          <p:cNvPr id="82" name="Rectangle 82"/>
          <p:cNvSpPr/>
          <p:nvPr/>
        </p:nvSpPr>
        <p:spPr>
          <a:xfrm>
            <a:off x="8191500" y="4857750"/>
            <a:ext cx="3429000" cy="1381125"/>
          </a:xfrm>
          <a:prstGeom prst="roundRect">
            <a:avLst>
              <a:gd name="adj" fmla="val 2759"/>
            </a:avLst>
          </a:prstGeom>
          <a:solidFill>
            <a:srgbClr val="FFFFFF"/>
          </a:solidFill>
          <a:ln w="19050">
            <a:solidFill>
              <a:srgbClr val="E7E6E6"/>
            </a:solidFill>
          </a:ln>
        </p:spPr>
      </p:sp>
      <p:sp>
        <p:nvSpPr>
          <p:cNvPr id="83" name="Rectangle 83"/>
          <p:cNvSpPr/>
          <p:nvPr/>
        </p:nvSpPr>
        <p:spPr>
          <a:xfrm>
            <a:off x="8191500" y="4857750"/>
            <a:ext cx="3429000" cy="333375"/>
          </a:xfrm>
          <a:prstGeom prst="roundRect">
            <a:avLst>
              <a:gd name="adj" fmla="val 11429"/>
            </a:avLst>
          </a:prstGeom>
          <a:solidFill>
            <a:srgbClr val="5B9BD5"/>
          </a:solidFill>
          <a:ln>
            <a:noFill/>
          </a:ln>
        </p:spPr>
      </p:sp>
      <p:sp>
        <p:nvSpPr>
          <p:cNvPr id="84" name="TextBox 84"/>
          <p:cNvSpPr txBox="1"/>
          <p:nvPr/>
        </p:nvSpPr>
        <p:spPr>
          <a:xfrm>
            <a:off x="9243879" y="4947285"/>
            <a:ext cx="1324242" cy="243840"/>
          </a:xfrm>
          <a:prstGeom prst="rect">
            <a:avLst/>
          </a:prstGeom>
          <a:noFill/>
          <a:ln>
            <a:noFill/>
          </a:ln>
        </p:spPr>
        <p:txBody>
          <a:bodyPr wrap="none" lIns="0" tIns="0" rIns="0" bIns="0" anchor="t" anchorCtr="0">
            <a:spAutoFit/>
          </a:bodyPr>
          <a:lstStyle/>
          <a:p>
            <a:pPr algn="ctr"/>
            <a:r>
              <a:rPr lang="zh-CN" sz="1200" b="1" dirty="0">
                <a:solidFill>
                  <a:srgbClr val="FFFFFF"/>
                </a:solidFill>
                <a:latin typeface="Arial"/>
                <a:ea typeface="Microsoft YaHei"/>
                <a:cs typeface="Arial"/>
              </a:rPr>
              <a:t>推荐置信度 ≥70%</a:t>
            </a:r>
          </a:p>
        </p:txBody>
      </p:sp>
      <p:sp>
        <p:nvSpPr>
          <p:cNvPr id="85" name="TextBox 85"/>
          <p:cNvSpPr txBox="1"/>
          <p:nvPr/>
        </p:nvSpPr>
        <p:spPr>
          <a:xfrm>
            <a:off x="8367712" y="5288756"/>
            <a:ext cx="1171575" cy="762000"/>
          </a:xfrm>
          <a:prstGeom prst="rect">
            <a:avLst/>
          </a:prstGeom>
          <a:noFill/>
          <a:ln>
            <a:noFill/>
          </a:ln>
        </p:spPr>
        <p:txBody>
          <a:bodyPr wrap="square" lIns="0" tIns="0" rIns="0" bIns="0" anchor="t" anchorCtr="0"/>
          <a:lstStyle/>
          <a:p>
            <a:pPr algn="l">
              <a:lnSpc>
                <a:spcPts val="2100"/>
              </a:lnSpc>
            </a:pPr>
            <a:r>
              <a:rPr lang="zh-CN" sz="1125" dirty="0">
                <a:solidFill>
                  <a:srgbClr val="333333"/>
                </a:solidFill>
                <a:latin typeface="Arial"/>
                <a:ea typeface="Microsoft YaHei"/>
                <a:cs typeface="Arial"/>
              </a:rPr>
              <a:t xml:space="preserve">所有推荐带置信度 </a:t>
            </a:r>
            <a:r>
              <a:rPr lang="zh-CN" sz="1125" dirty="0">
                <a:solidFill>
                  <a:srgbClr val="333333"/>
                </a:solidFill>
                <a:latin typeface="Arial"/>
                <a:ea typeface="Microsoft YaHei"/>
                <a:cs typeface="Arial"/>
              </a:rPr>
              <a:t xml:space="preserve">依据链完整可追溯 </a:t>
            </a:r>
            <a:r>
              <a:rPr lang="zh-CN" sz="1125" dirty="0">
                <a:solidFill>
                  <a:srgbClr val="333333"/>
                </a:solidFill>
                <a:latin typeface="Arial"/>
                <a:ea typeface="Microsoft YaHei"/>
                <a:cs typeface="Arial"/>
              </a:rPr>
              <a:t>风险等级明确提示</a:t>
            </a:r>
          </a:p>
        </p:txBody>
      </p:sp>
    </p:spTree>
  </p:cSld>
  <p:clrMapOvr>
    <a:masterClrMapping/>
  </p:clrMapOvr>
  <p:transition xmlns:p14="http://schemas.microsoft.com/office/powerpoint/2010/main" p14:dur="400">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38100"/>
          </a:xfrm>
          <a:prstGeom prst="rect">
            <a:avLst/>
          </a:prstGeom>
          <a:solidFill>
            <a:srgbClr val="C00000"/>
          </a:solidFill>
          <a:ln>
            <a:noFill/>
          </a:ln>
        </p:spPr>
      </p:sp>
      <p:sp>
        <p:nvSpPr>
          <p:cNvPr id="4" name="Rectangle 4"/>
          <p:cNvSpPr/>
          <p:nvPr/>
        </p:nvSpPr>
        <p:spPr>
          <a:xfrm>
            <a:off x="0" y="38100"/>
            <a:ext cx="12192000" cy="723900"/>
          </a:xfrm>
          <a:prstGeom prst="rect">
            <a:avLst/>
          </a:prstGeom>
          <a:solidFill>
            <a:srgbClr val="FFFFFF"/>
          </a:solidFill>
          <a:ln>
            <a:noFill/>
          </a:ln>
        </p:spPr>
      </p:sp>
      <p:sp>
        <p:nvSpPr>
          <p:cNvPr id="5" name="Line 5"/>
          <p:cNvSpPr/>
          <p:nvPr/>
        </p:nvSpPr>
        <p:spPr>
          <a:xfrm>
            <a:off x="0" y="762000"/>
            <a:ext cx="12192000" cy="9525"/>
          </a:xfrm>
          <a:custGeom>
            <a:avLst/>
            <a:gdLst/>
            <a:ahLst/>
            <a:cxnLst/>
            <a:rect l="l" t="t" r="r" b="b"/>
            <a:pathLst>
              <a:path w="12192000" h="9525">
                <a:moveTo>
                  <a:pt x="0" y="0"/>
                </a:moveTo>
                <a:lnTo>
                  <a:pt x="12192000" y="0"/>
                </a:lnTo>
              </a:path>
            </a:pathLst>
          </a:custGeom>
          <a:noFill/>
          <a:ln w="9525">
            <a:solidFill>
              <a:srgbClr val="E7E6E6"/>
            </a:solidFill>
          </a:ln>
        </p:spPr>
      </p:sp>
      <p:sp>
        <p:nvSpPr>
          <p:cNvPr id="6" name="Rectangle 6"/>
          <p:cNvSpPr/>
          <p:nvPr/>
        </p:nvSpPr>
        <p:spPr>
          <a:xfrm>
            <a:off x="476250" y="190500"/>
            <a:ext cx="76200" cy="381000"/>
          </a:xfrm>
          <a:prstGeom prst="rect">
            <a:avLst/>
          </a:prstGeom>
          <a:solidFill>
            <a:srgbClr val="C00000"/>
          </a:solidFill>
          <a:ln>
            <a:noFill/>
          </a:ln>
        </p:spPr>
      </p:sp>
      <p:sp>
        <p:nvSpPr>
          <p:cNvPr id="7" name="TextBox 7"/>
          <p:cNvSpPr txBox="1"/>
          <p:nvPr/>
        </p:nvSpPr>
        <p:spPr>
          <a:xfrm>
            <a:off x="655320" y="236220"/>
            <a:ext cx="3891839" cy="487680"/>
          </a:xfrm>
          <a:prstGeom prst="rect">
            <a:avLst/>
          </a:prstGeom>
          <a:noFill/>
          <a:ln>
            <a:noFill/>
          </a:ln>
        </p:spPr>
        <p:txBody>
          <a:bodyPr wrap="none" lIns="0" tIns="0" rIns="0" bIns="0" anchor="t" anchorCtr="0">
            <a:spAutoFit/>
          </a:bodyPr>
          <a:lstStyle/>
          <a:p>
            <a:pPr algn="l"/>
            <a:r>
              <a:rPr lang="zh-CN" sz="2400" b="1" dirty="0">
                <a:solidFill>
                  <a:srgbClr val="000000"/>
                </a:solidFill>
                <a:latin typeface="Arial"/>
                <a:ea typeface="Microsoft YaHei"/>
                <a:cs typeface="Arial"/>
              </a:rPr>
              <a:t>8大能力缺口与AI解决方案</a:t>
            </a:r>
          </a:p>
        </p:txBody>
      </p:sp>
      <p:sp>
        <p:nvSpPr>
          <p:cNvPr id="8" name="Rectangle 8"/>
          <p:cNvSpPr/>
          <p:nvPr/>
        </p:nvSpPr>
        <p:spPr>
          <a:xfrm>
            <a:off x="0" y="6477000"/>
            <a:ext cx="12192000" cy="381000"/>
          </a:xfrm>
          <a:prstGeom prst="rect">
            <a:avLst/>
          </a:prstGeom>
          <a:solidFill>
            <a:srgbClr val="F2F2F2"/>
          </a:solidFill>
          <a:ln>
            <a:noFill/>
          </a:ln>
        </p:spPr>
      </p:sp>
      <p:sp>
        <p:nvSpPr>
          <p:cNvPr id="9" name="Rectangle 9"/>
          <p:cNvSpPr/>
          <p:nvPr/>
        </p:nvSpPr>
        <p:spPr>
          <a:xfrm>
            <a:off x="0" y="6477000"/>
            <a:ext cx="38100" cy="381000"/>
          </a:xfrm>
          <a:prstGeom prst="rect">
            <a:avLst/>
          </a:prstGeom>
          <a:solidFill>
            <a:srgbClr val="C00000"/>
          </a:solidFill>
          <a:ln>
            <a:noFill/>
          </a:ln>
        </p:spPr>
      </p:sp>
      <p:sp>
        <p:nvSpPr>
          <p:cNvPr id="10" name="TextBox 10"/>
          <p:cNvSpPr txBox="1"/>
          <p:nvPr/>
        </p:nvSpPr>
        <p:spPr>
          <a:xfrm>
            <a:off x="558165" y="6611302"/>
            <a:ext cx="586740" cy="213360"/>
          </a:xfrm>
          <a:prstGeom prst="rect">
            <a:avLst/>
          </a:prstGeom>
          <a:noFill/>
          <a:ln>
            <a:noFill/>
          </a:ln>
        </p:spPr>
        <p:txBody>
          <a:bodyPr wrap="none" lIns="0" tIns="0" rIns="0" bIns="0" anchor="t" anchorCtr="0">
            <a:spAutoFit/>
          </a:bodyPr>
          <a:lstStyle/>
          <a:p>
            <a:pPr algn="l"/>
            <a:r>
              <a:rPr lang="zh-CN" sz="1050" dirty="0">
                <a:solidFill>
                  <a:srgbClr val="666666"/>
                </a:solidFill>
                <a:latin typeface="Arial"/>
                <a:ea typeface="Microsoft YaHei"/>
                <a:cs typeface="Arial"/>
              </a:rPr>
              <a:t>方案介绍</a:t>
            </a:r>
          </a:p>
        </p:txBody>
      </p:sp>
      <p:sp>
        <p:nvSpPr>
          <p:cNvPr id="11" name="Rectangle 11"/>
          <p:cNvSpPr/>
          <p:nvPr/>
        </p:nvSpPr>
        <p:spPr>
          <a:xfrm>
            <a:off x="11525250" y="6553200"/>
            <a:ext cx="285750" cy="228600"/>
          </a:xfrm>
          <a:prstGeom prst="rect">
            <a:avLst/>
          </a:prstGeom>
          <a:solidFill>
            <a:srgbClr val="C00000"/>
          </a:solidFill>
          <a:ln>
            <a:noFill/>
          </a:ln>
        </p:spPr>
      </p:sp>
      <p:sp>
        <p:nvSpPr>
          <p:cNvPr id="12" name="TextBox 12"/>
          <p:cNvSpPr txBox="1"/>
          <p:nvPr/>
        </p:nvSpPr>
        <p:spPr>
          <a:xfrm>
            <a:off x="11573930" y="6611302"/>
            <a:ext cx="188390"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Arial"/>
                <a:ea typeface="Microsoft YaHei"/>
                <a:cs typeface="Arial"/>
              </a:rPr>
              <a:t>10</a:t>
            </a:r>
          </a:p>
        </p:txBody>
      </p:sp>
      <p:sp>
        <p:nvSpPr>
          <p:cNvPr id="13" name="Rectangle 13"/>
          <p:cNvSpPr/>
          <p:nvPr/>
        </p:nvSpPr>
        <p:spPr>
          <a:xfrm>
            <a:off x="476250" y="952500"/>
            <a:ext cx="11239500" cy="333375"/>
          </a:xfrm>
          <a:prstGeom prst="roundRect">
            <a:avLst>
              <a:gd name="adj" fmla="val 11429"/>
            </a:avLst>
          </a:prstGeom>
          <a:solidFill>
            <a:srgbClr val="C00000"/>
          </a:solidFill>
          <a:ln>
            <a:noFill/>
          </a:ln>
        </p:spPr>
      </p:sp>
      <p:sp>
        <p:nvSpPr>
          <p:cNvPr id="14" name="TextBox 14"/>
          <p:cNvSpPr txBox="1"/>
          <p:nvPr/>
        </p:nvSpPr>
        <p:spPr>
          <a:xfrm>
            <a:off x="1085395" y="1050131"/>
            <a:ext cx="115211" cy="228600"/>
          </a:xfrm>
          <a:prstGeom prst="rect">
            <a:avLst/>
          </a:prstGeom>
          <a:noFill/>
          <a:ln>
            <a:noFill/>
          </a:ln>
        </p:spPr>
        <p:txBody>
          <a:bodyPr wrap="none" lIns="0" tIns="0" rIns="0" bIns="0" anchor="t" anchorCtr="0">
            <a:spAutoFit/>
          </a:bodyPr>
          <a:lstStyle/>
          <a:p>
            <a:pPr algn="ctr"/>
            <a:r>
              <a:rPr lang="zh-CN" sz="1125" b="1" dirty="0">
                <a:solidFill>
                  <a:srgbClr val="FFFFFF"/>
                </a:solidFill>
                <a:latin typeface="Arial"/>
                <a:ea typeface="Microsoft YaHei"/>
                <a:cs typeface="Arial"/>
              </a:rPr>
              <a:t>#</a:t>
            </a:r>
          </a:p>
        </p:txBody>
      </p:sp>
      <p:sp>
        <p:nvSpPr>
          <p:cNvPr id="15" name="TextBox 15"/>
          <p:cNvSpPr txBox="1"/>
          <p:nvPr/>
        </p:nvSpPr>
        <p:spPr>
          <a:xfrm>
            <a:off x="2399943" y="1050131"/>
            <a:ext cx="343614" cy="228600"/>
          </a:xfrm>
          <a:prstGeom prst="rect">
            <a:avLst/>
          </a:prstGeom>
          <a:noFill/>
          <a:ln>
            <a:noFill/>
          </a:ln>
        </p:spPr>
        <p:txBody>
          <a:bodyPr wrap="none" lIns="0" tIns="0" rIns="0" bIns="0" anchor="t" anchorCtr="0">
            <a:spAutoFit/>
          </a:bodyPr>
          <a:lstStyle/>
          <a:p>
            <a:pPr algn="ctr"/>
            <a:r>
              <a:rPr lang="zh-CN" sz="1125" b="1" dirty="0">
                <a:solidFill>
                  <a:srgbClr val="FFFFFF"/>
                </a:solidFill>
                <a:latin typeface="Arial"/>
                <a:ea typeface="Microsoft YaHei"/>
                <a:cs typeface="Arial"/>
              </a:rPr>
              <a:t>缺口</a:t>
            </a:r>
          </a:p>
        </p:txBody>
      </p:sp>
      <p:sp>
        <p:nvSpPr>
          <p:cNvPr id="16" name="TextBox 16"/>
          <p:cNvSpPr txBox="1"/>
          <p:nvPr/>
        </p:nvSpPr>
        <p:spPr>
          <a:xfrm>
            <a:off x="4433173" y="1050131"/>
            <a:ext cx="658654" cy="228600"/>
          </a:xfrm>
          <a:prstGeom prst="rect">
            <a:avLst/>
          </a:prstGeom>
          <a:noFill/>
          <a:ln>
            <a:noFill/>
          </a:ln>
        </p:spPr>
        <p:txBody>
          <a:bodyPr wrap="none" lIns="0" tIns="0" rIns="0" bIns="0" anchor="t" anchorCtr="0">
            <a:spAutoFit/>
          </a:bodyPr>
          <a:lstStyle/>
          <a:p>
            <a:pPr algn="ctr"/>
            <a:r>
              <a:rPr lang="zh-CN" sz="1125" b="1" dirty="0">
                <a:solidFill>
                  <a:srgbClr val="FFFFFF"/>
                </a:solidFill>
                <a:latin typeface="Arial"/>
                <a:ea typeface="Microsoft YaHei"/>
                <a:cs typeface="Arial"/>
              </a:rPr>
              <a:t>当前方案</a:t>
            </a:r>
          </a:p>
        </p:txBody>
      </p:sp>
      <p:sp>
        <p:nvSpPr>
          <p:cNvPr id="17" name="TextBox 17"/>
          <p:cNvSpPr txBox="1"/>
          <p:nvPr/>
        </p:nvSpPr>
        <p:spPr>
          <a:xfrm>
            <a:off x="6909673" y="1050131"/>
            <a:ext cx="658654" cy="228600"/>
          </a:xfrm>
          <a:prstGeom prst="rect">
            <a:avLst/>
          </a:prstGeom>
          <a:noFill/>
          <a:ln>
            <a:noFill/>
          </a:ln>
        </p:spPr>
        <p:txBody>
          <a:bodyPr wrap="none" lIns="0" tIns="0" rIns="0" bIns="0" anchor="t" anchorCtr="0">
            <a:spAutoFit/>
          </a:bodyPr>
          <a:lstStyle/>
          <a:p>
            <a:pPr algn="ctr"/>
            <a:r>
              <a:rPr lang="zh-CN" sz="1125" b="1" dirty="0">
                <a:solidFill>
                  <a:srgbClr val="FFFFFF"/>
                </a:solidFill>
                <a:latin typeface="Arial"/>
                <a:ea typeface="Microsoft YaHei"/>
                <a:cs typeface="Arial"/>
              </a:rPr>
              <a:t>目标形态</a:t>
            </a:r>
          </a:p>
        </p:txBody>
      </p:sp>
      <p:sp>
        <p:nvSpPr>
          <p:cNvPr id="18" name="TextBox 18"/>
          <p:cNvSpPr txBox="1"/>
          <p:nvPr/>
        </p:nvSpPr>
        <p:spPr>
          <a:xfrm>
            <a:off x="9497913" y="1050131"/>
            <a:ext cx="816173" cy="228600"/>
          </a:xfrm>
          <a:prstGeom prst="rect">
            <a:avLst/>
          </a:prstGeom>
          <a:noFill/>
          <a:ln>
            <a:noFill/>
          </a:ln>
        </p:spPr>
        <p:txBody>
          <a:bodyPr wrap="none" lIns="0" tIns="0" rIns="0" bIns="0" anchor="t" anchorCtr="0">
            <a:spAutoFit/>
          </a:bodyPr>
          <a:lstStyle/>
          <a:p>
            <a:pPr algn="ctr"/>
            <a:r>
              <a:rPr lang="zh-CN" sz="1125" b="1" dirty="0">
                <a:solidFill>
                  <a:srgbClr val="FFFFFF"/>
                </a:solidFill>
                <a:latin typeface="Arial"/>
                <a:ea typeface="Microsoft YaHei"/>
                <a:cs typeface="Arial"/>
              </a:rPr>
              <a:t>大模型价值</a:t>
            </a:r>
          </a:p>
        </p:txBody>
      </p:sp>
      <p:sp>
        <p:nvSpPr>
          <p:cNvPr id="19" name="Rectangle 19"/>
          <p:cNvSpPr/>
          <p:nvPr/>
        </p:nvSpPr>
        <p:spPr>
          <a:xfrm>
            <a:off x="476250" y="1247775"/>
            <a:ext cx="11239500" cy="38100"/>
          </a:xfrm>
          <a:prstGeom prst="rect">
            <a:avLst/>
          </a:prstGeom>
          <a:solidFill>
            <a:srgbClr val="C00000"/>
          </a:solidFill>
          <a:ln>
            <a:noFill/>
          </a:ln>
        </p:spPr>
      </p:sp>
      <p:sp>
        <p:nvSpPr>
          <p:cNvPr id="20" name="Rectangle 20"/>
          <p:cNvSpPr/>
          <p:nvPr/>
        </p:nvSpPr>
        <p:spPr>
          <a:xfrm>
            <a:off x="476250" y="1285875"/>
            <a:ext cx="11239500" cy="571500"/>
          </a:xfrm>
          <a:prstGeom prst="rect">
            <a:avLst/>
          </a:prstGeom>
          <a:solidFill>
            <a:srgbClr val="FFFFFF"/>
          </a:solidFill>
          <a:ln w="9525">
            <a:solidFill>
              <a:srgbClr val="E7E6E6"/>
            </a:solidFill>
          </a:ln>
        </p:spPr>
      </p:sp>
      <p:sp>
        <p:nvSpPr>
          <p:cNvPr id="21" name="Rectangle 21"/>
          <p:cNvSpPr/>
          <p:nvPr/>
        </p:nvSpPr>
        <p:spPr>
          <a:xfrm>
            <a:off x="476250" y="1285875"/>
            <a:ext cx="11239500" cy="571500"/>
          </a:xfrm>
          <a:prstGeom prst="rect">
            <a:avLst/>
          </a:prstGeom>
          <a:solidFill>
            <a:srgbClr val="F2F2F2"/>
          </a:solidFill>
          <a:ln>
            <a:noFill/>
          </a:ln>
        </p:spPr>
      </p:sp>
      <p:sp>
        <p:nvSpPr>
          <p:cNvPr id="22" name="Rectangle 22"/>
          <p:cNvSpPr/>
          <p:nvPr/>
        </p:nvSpPr>
        <p:spPr>
          <a:xfrm>
            <a:off x="571500" y="1381125"/>
            <a:ext cx="381000" cy="381000"/>
          </a:xfrm>
          <a:prstGeom prst="roundRect">
            <a:avLst>
              <a:gd name="adj" fmla="val 7500"/>
            </a:avLst>
          </a:prstGeom>
          <a:solidFill>
            <a:srgbClr val="C00000"/>
          </a:solidFill>
          <a:ln>
            <a:noFill/>
          </a:ln>
        </p:spPr>
      </p:sp>
      <p:sp>
        <p:nvSpPr>
          <p:cNvPr id="23" name="TextBox 23"/>
          <p:cNvSpPr txBox="1"/>
          <p:nvPr/>
        </p:nvSpPr>
        <p:spPr>
          <a:xfrm>
            <a:off x="692874" y="1492568"/>
            <a:ext cx="138253" cy="274320"/>
          </a:xfrm>
          <a:prstGeom prst="rect">
            <a:avLst/>
          </a:prstGeom>
          <a:noFill/>
          <a:ln>
            <a:noFill/>
          </a:ln>
        </p:spPr>
        <p:txBody>
          <a:bodyPr wrap="none" lIns="0" tIns="0" rIns="0" bIns="0" anchor="t" anchorCtr="0">
            <a:spAutoFit/>
          </a:bodyPr>
          <a:lstStyle/>
          <a:p>
            <a:pPr algn="ctr"/>
            <a:r>
              <a:rPr lang="zh-CN" sz="1350" b="1" dirty="0">
                <a:solidFill>
                  <a:srgbClr val="FFFFFF"/>
                </a:solidFill>
                <a:latin typeface="Arial"/>
                <a:ea typeface="Microsoft YaHei"/>
                <a:cs typeface="Arial"/>
              </a:rPr>
              <a:t>1</a:t>
            </a:r>
          </a:p>
        </p:txBody>
      </p:sp>
      <p:sp>
        <p:nvSpPr>
          <p:cNvPr id="24" name="TextBox 24"/>
          <p:cNvSpPr txBox="1"/>
          <p:nvPr/>
        </p:nvSpPr>
        <p:spPr>
          <a:xfrm>
            <a:off x="1428869" y="1524952"/>
            <a:ext cx="761762" cy="213360"/>
          </a:xfrm>
          <a:prstGeom prst="rect">
            <a:avLst/>
          </a:prstGeom>
          <a:noFill/>
          <a:ln>
            <a:noFill/>
          </a:ln>
        </p:spPr>
        <p:txBody>
          <a:bodyPr wrap="none" lIns="0" tIns="0" rIns="0" bIns="0" anchor="t" anchorCtr="0">
            <a:spAutoFit/>
          </a:bodyPr>
          <a:lstStyle/>
          <a:p>
            <a:pPr algn="ctr"/>
            <a:r>
              <a:rPr lang="zh-CN" sz="1050" b="1" dirty="0">
                <a:solidFill>
                  <a:srgbClr val="333333"/>
                </a:solidFill>
                <a:latin typeface="Arial"/>
                <a:ea typeface="Microsoft YaHei"/>
                <a:cs typeface="Arial"/>
              </a:rPr>
              <a:t>故障推理链</a:t>
            </a:r>
          </a:p>
        </p:txBody>
      </p:sp>
      <p:sp>
        <p:nvSpPr>
          <p:cNvPr id="25" name="TextBox 25"/>
          <p:cNvSpPr txBox="1"/>
          <p:nvPr/>
        </p:nvSpPr>
        <p:spPr>
          <a:xfrm>
            <a:off x="3693319" y="1533049"/>
            <a:ext cx="804862" cy="198120"/>
          </a:xfrm>
          <a:prstGeom prst="rect">
            <a:avLst/>
          </a:prstGeom>
          <a:noFill/>
          <a:ln>
            <a:noFill/>
          </a:ln>
        </p:spPr>
        <p:txBody>
          <a:bodyPr wrap="none" lIns="0" tIns="0" rIns="0" bIns="0" anchor="t" anchorCtr="0">
            <a:spAutoFit/>
          </a:bodyPr>
          <a:lstStyle/>
          <a:p>
            <a:pPr algn="ctr"/>
            <a:r>
              <a:rPr lang="zh-CN" sz="975" dirty="0">
                <a:solidFill>
                  <a:srgbClr val="666666"/>
                </a:solidFill>
                <a:latin typeface="Arial"/>
                <a:ea typeface="Microsoft YaHei"/>
                <a:cs typeface="Arial"/>
              </a:rPr>
              <a:t>相似案例检索</a:t>
            </a:r>
          </a:p>
        </p:txBody>
      </p:sp>
      <p:sp>
        <p:nvSpPr>
          <p:cNvPr id="26" name="TextBox 26"/>
          <p:cNvSpPr txBox="1"/>
          <p:nvPr/>
        </p:nvSpPr>
        <p:spPr>
          <a:xfrm>
            <a:off x="6074569" y="1533049"/>
            <a:ext cx="804862" cy="198120"/>
          </a:xfrm>
          <a:prstGeom prst="rect">
            <a:avLst/>
          </a:prstGeom>
          <a:noFill/>
          <a:ln>
            <a:noFill/>
          </a:ln>
        </p:spPr>
        <p:txBody>
          <a:bodyPr wrap="none" lIns="0" tIns="0" rIns="0" bIns="0" anchor="t" anchorCtr="0">
            <a:spAutoFit/>
          </a:bodyPr>
          <a:lstStyle/>
          <a:p>
            <a:pPr algn="ctr"/>
            <a:r>
              <a:rPr lang="zh-CN" sz="975" dirty="0">
                <a:solidFill>
                  <a:srgbClr val="2E75B6"/>
                </a:solidFill>
                <a:latin typeface="Arial"/>
                <a:ea typeface="Microsoft YaHei"/>
                <a:cs typeface="Arial"/>
              </a:rPr>
              <a:t>多步因果推理</a:t>
            </a:r>
          </a:p>
        </p:txBody>
      </p:sp>
      <p:sp>
        <p:nvSpPr>
          <p:cNvPr id="27" name="TextBox 27"/>
          <p:cNvSpPr txBox="1"/>
          <p:nvPr/>
        </p:nvSpPr>
        <p:spPr>
          <a:xfrm>
            <a:off x="9095292" y="1533049"/>
            <a:ext cx="1240417" cy="198120"/>
          </a:xfrm>
          <a:prstGeom prst="rect">
            <a:avLst/>
          </a:prstGeom>
          <a:noFill/>
          <a:ln>
            <a:noFill/>
          </a:ln>
        </p:spPr>
        <p:txBody>
          <a:bodyPr wrap="none" lIns="0" tIns="0" rIns="0" bIns="0" anchor="t" anchorCtr="0">
            <a:spAutoFit/>
          </a:bodyPr>
          <a:lstStyle/>
          <a:p>
            <a:pPr algn="ctr"/>
            <a:r>
              <a:rPr lang="zh-CN" sz="975" dirty="0">
                <a:solidFill>
                  <a:srgbClr val="C00000"/>
                </a:solidFill>
                <a:latin typeface="Arial"/>
                <a:ea typeface="Microsoft YaHei"/>
                <a:cs typeface="Arial"/>
              </a:rPr>
              <a:t>"怎么做" → "为什么"</a:t>
            </a:r>
          </a:p>
        </p:txBody>
      </p:sp>
      <p:sp>
        <p:nvSpPr>
          <p:cNvPr id="28" name="Rectangle 28"/>
          <p:cNvSpPr/>
          <p:nvPr/>
        </p:nvSpPr>
        <p:spPr>
          <a:xfrm>
            <a:off x="476250" y="1857375"/>
            <a:ext cx="11239500" cy="571500"/>
          </a:xfrm>
          <a:prstGeom prst="rect">
            <a:avLst/>
          </a:prstGeom>
          <a:solidFill>
            <a:srgbClr val="FFFFFF"/>
          </a:solidFill>
          <a:ln w="9525">
            <a:solidFill>
              <a:srgbClr val="E7E6E6"/>
            </a:solidFill>
          </a:ln>
        </p:spPr>
      </p:sp>
      <p:sp>
        <p:nvSpPr>
          <p:cNvPr id="29" name="Rectangle 29"/>
          <p:cNvSpPr/>
          <p:nvPr/>
        </p:nvSpPr>
        <p:spPr>
          <a:xfrm>
            <a:off x="571500" y="1952625"/>
            <a:ext cx="381000" cy="381000"/>
          </a:xfrm>
          <a:prstGeom prst="roundRect">
            <a:avLst>
              <a:gd name="adj" fmla="val 7500"/>
            </a:avLst>
          </a:prstGeom>
          <a:solidFill>
            <a:srgbClr val="C00000"/>
          </a:solidFill>
          <a:ln>
            <a:noFill/>
          </a:ln>
        </p:spPr>
      </p:sp>
      <p:sp>
        <p:nvSpPr>
          <p:cNvPr id="30" name="TextBox 30"/>
          <p:cNvSpPr txBox="1"/>
          <p:nvPr/>
        </p:nvSpPr>
        <p:spPr>
          <a:xfrm>
            <a:off x="692874" y="2064068"/>
            <a:ext cx="138253" cy="274320"/>
          </a:xfrm>
          <a:prstGeom prst="rect">
            <a:avLst/>
          </a:prstGeom>
          <a:noFill/>
          <a:ln>
            <a:noFill/>
          </a:ln>
        </p:spPr>
        <p:txBody>
          <a:bodyPr wrap="none" lIns="0" tIns="0" rIns="0" bIns="0" anchor="t" anchorCtr="0">
            <a:spAutoFit/>
          </a:bodyPr>
          <a:lstStyle/>
          <a:p>
            <a:pPr algn="ctr"/>
            <a:r>
              <a:rPr lang="zh-CN" sz="1350" b="1" dirty="0">
                <a:solidFill>
                  <a:srgbClr val="FFFFFF"/>
                </a:solidFill>
                <a:latin typeface="Arial"/>
                <a:ea typeface="Microsoft YaHei"/>
                <a:cs typeface="Arial"/>
              </a:rPr>
              <a:t>2</a:t>
            </a:r>
          </a:p>
        </p:txBody>
      </p:sp>
      <p:sp>
        <p:nvSpPr>
          <p:cNvPr id="31" name="TextBox 31"/>
          <p:cNvSpPr txBox="1"/>
          <p:nvPr/>
        </p:nvSpPr>
        <p:spPr>
          <a:xfrm>
            <a:off x="1502378" y="2096452"/>
            <a:ext cx="614744" cy="213360"/>
          </a:xfrm>
          <a:prstGeom prst="rect">
            <a:avLst/>
          </a:prstGeom>
          <a:noFill/>
          <a:ln>
            <a:noFill/>
          </a:ln>
        </p:spPr>
        <p:txBody>
          <a:bodyPr wrap="none" lIns="0" tIns="0" rIns="0" bIns="0" anchor="t" anchorCtr="0">
            <a:spAutoFit/>
          </a:bodyPr>
          <a:lstStyle/>
          <a:p>
            <a:pPr algn="ctr"/>
            <a:r>
              <a:rPr lang="zh-CN" sz="1050" b="1" dirty="0">
                <a:solidFill>
                  <a:srgbClr val="333333"/>
                </a:solidFill>
                <a:latin typeface="Arial"/>
                <a:ea typeface="Microsoft YaHei"/>
                <a:cs typeface="Arial"/>
              </a:rPr>
              <a:t>日志认知</a:t>
            </a:r>
          </a:p>
        </p:txBody>
      </p:sp>
      <p:sp>
        <p:nvSpPr>
          <p:cNvPr id="32" name="TextBox 32"/>
          <p:cNvSpPr txBox="1"/>
          <p:nvPr/>
        </p:nvSpPr>
        <p:spPr>
          <a:xfrm>
            <a:off x="3693319" y="2104549"/>
            <a:ext cx="804862" cy="198120"/>
          </a:xfrm>
          <a:prstGeom prst="rect">
            <a:avLst/>
          </a:prstGeom>
          <a:noFill/>
          <a:ln>
            <a:noFill/>
          </a:ln>
        </p:spPr>
        <p:txBody>
          <a:bodyPr wrap="none" lIns="0" tIns="0" rIns="0" bIns="0" anchor="t" anchorCtr="0">
            <a:spAutoFit/>
          </a:bodyPr>
          <a:lstStyle/>
          <a:p>
            <a:pPr algn="ctr"/>
            <a:r>
              <a:rPr lang="zh-CN" sz="975" dirty="0">
                <a:solidFill>
                  <a:srgbClr val="666666"/>
                </a:solidFill>
                <a:latin typeface="Arial"/>
                <a:ea typeface="Microsoft YaHei"/>
                <a:cs typeface="Arial"/>
              </a:rPr>
              <a:t>依赖人工查询</a:t>
            </a:r>
          </a:p>
        </p:txBody>
      </p:sp>
      <p:sp>
        <p:nvSpPr>
          <p:cNvPr id="33" name="TextBox 33"/>
          <p:cNvSpPr txBox="1"/>
          <p:nvPr/>
        </p:nvSpPr>
        <p:spPr>
          <a:xfrm>
            <a:off x="5908798" y="2104549"/>
            <a:ext cx="1136404" cy="198120"/>
          </a:xfrm>
          <a:prstGeom prst="rect">
            <a:avLst/>
          </a:prstGeom>
          <a:noFill/>
          <a:ln>
            <a:noFill/>
          </a:ln>
        </p:spPr>
        <p:txBody>
          <a:bodyPr wrap="none" lIns="0" tIns="0" rIns="0" bIns="0" anchor="t" anchorCtr="0">
            <a:spAutoFit/>
          </a:bodyPr>
          <a:lstStyle/>
          <a:p>
            <a:pPr algn="ctr"/>
            <a:r>
              <a:rPr lang="zh-CN" sz="975" dirty="0">
                <a:solidFill>
                  <a:srgbClr val="2E75B6"/>
                </a:solidFill>
                <a:latin typeface="Arial"/>
                <a:ea typeface="Microsoft YaHei"/>
                <a:cs typeface="Arial"/>
              </a:rPr>
              <a:t>自动摘要+异常检测</a:t>
            </a:r>
          </a:p>
        </p:txBody>
      </p:sp>
      <p:sp>
        <p:nvSpPr>
          <p:cNvPr id="34" name="TextBox 34"/>
          <p:cNvSpPr txBox="1"/>
          <p:nvPr/>
        </p:nvSpPr>
        <p:spPr>
          <a:xfrm>
            <a:off x="8965275" y="2104549"/>
            <a:ext cx="1500449" cy="198120"/>
          </a:xfrm>
          <a:prstGeom prst="rect">
            <a:avLst/>
          </a:prstGeom>
          <a:noFill/>
          <a:ln>
            <a:noFill/>
          </a:ln>
        </p:spPr>
        <p:txBody>
          <a:bodyPr wrap="none" lIns="0" tIns="0" rIns="0" bIns="0" anchor="t" anchorCtr="0">
            <a:spAutoFit/>
          </a:bodyPr>
          <a:lstStyle/>
          <a:p>
            <a:pPr algn="ctr"/>
            <a:r>
              <a:rPr lang="zh-CN" sz="975" dirty="0">
                <a:solidFill>
                  <a:srgbClr val="C00000"/>
                </a:solidFill>
                <a:latin typeface="Arial"/>
                <a:ea typeface="Microsoft YaHei"/>
                <a:cs typeface="Arial"/>
              </a:rPr>
              <a:t>"海量日志" → "关键异常"</a:t>
            </a:r>
          </a:p>
        </p:txBody>
      </p:sp>
      <p:sp>
        <p:nvSpPr>
          <p:cNvPr id="35" name="Rectangle 35"/>
          <p:cNvSpPr/>
          <p:nvPr/>
        </p:nvSpPr>
        <p:spPr>
          <a:xfrm>
            <a:off x="476250" y="2428875"/>
            <a:ext cx="11239500" cy="571500"/>
          </a:xfrm>
          <a:prstGeom prst="rect">
            <a:avLst/>
          </a:prstGeom>
          <a:solidFill>
            <a:srgbClr val="FFFFFF"/>
          </a:solidFill>
          <a:ln w="9525">
            <a:solidFill>
              <a:srgbClr val="E7E6E6"/>
            </a:solidFill>
          </a:ln>
        </p:spPr>
      </p:sp>
      <p:sp>
        <p:nvSpPr>
          <p:cNvPr id="36" name="Rectangle 36"/>
          <p:cNvSpPr/>
          <p:nvPr/>
        </p:nvSpPr>
        <p:spPr>
          <a:xfrm>
            <a:off x="571500" y="2524125"/>
            <a:ext cx="381000" cy="381000"/>
          </a:xfrm>
          <a:prstGeom prst="roundRect">
            <a:avLst>
              <a:gd name="adj" fmla="val 7500"/>
            </a:avLst>
          </a:prstGeom>
          <a:solidFill>
            <a:srgbClr val="C00000"/>
          </a:solidFill>
          <a:ln>
            <a:noFill/>
          </a:ln>
        </p:spPr>
      </p:sp>
      <p:sp>
        <p:nvSpPr>
          <p:cNvPr id="37" name="TextBox 37"/>
          <p:cNvSpPr txBox="1"/>
          <p:nvPr/>
        </p:nvSpPr>
        <p:spPr>
          <a:xfrm>
            <a:off x="692874" y="2635568"/>
            <a:ext cx="138253" cy="274320"/>
          </a:xfrm>
          <a:prstGeom prst="rect">
            <a:avLst/>
          </a:prstGeom>
          <a:noFill/>
          <a:ln>
            <a:noFill/>
          </a:ln>
        </p:spPr>
        <p:txBody>
          <a:bodyPr wrap="none" lIns="0" tIns="0" rIns="0" bIns="0" anchor="t" anchorCtr="0">
            <a:spAutoFit/>
          </a:bodyPr>
          <a:lstStyle/>
          <a:p>
            <a:pPr algn="ctr"/>
            <a:r>
              <a:rPr lang="zh-CN" sz="1350" b="1" dirty="0">
                <a:solidFill>
                  <a:srgbClr val="FFFFFF"/>
                </a:solidFill>
                <a:latin typeface="Arial"/>
                <a:ea typeface="Microsoft YaHei"/>
                <a:cs typeface="Arial"/>
              </a:rPr>
              <a:t>3</a:t>
            </a:r>
          </a:p>
        </p:txBody>
      </p:sp>
      <p:sp>
        <p:nvSpPr>
          <p:cNvPr id="38" name="TextBox 38"/>
          <p:cNvSpPr txBox="1"/>
          <p:nvPr/>
        </p:nvSpPr>
        <p:spPr>
          <a:xfrm>
            <a:off x="1502378" y="2667952"/>
            <a:ext cx="614744" cy="213360"/>
          </a:xfrm>
          <a:prstGeom prst="rect">
            <a:avLst/>
          </a:prstGeom>
          <a:noFill/>
          <a:ln>
            <a:noFill/>
          </a:ln>
        </p:spPr>
        <p:txBody>
          <a:bodyPr wrap="none" lIns="0" tIns="0" rIns="0" bIns="0" anchor="t" anchorCtr="0">
            <a:spAutoFit/>
          </a:bodyPr>
          <a:lstStyle/>
          <a:p>
            <a:pPr algn="ctr"/>
            <a:r>
              <a:rPr lang="zh-CN" sz="1050" b="1" dirty="0">
                <a:solidFill>
                  <a:srgbClr val="333333"/>
                </a:solidFill>
                <a:latin typeface="Arial"/>
                <a:ea typeface="Microsoft YaHei"/>
                <a:cs typeface="Arial"/>
              </a:rPr>
              <a:t>动态问答</a:t>
            </a:r>
          </a:p>
        </p:txBody>
      </p:sp>
      <p:sp>
        <p:nvSpPr>
          <p:cNvPr id="39" name="TextBox 39"/>
          <p:cNvSpPr txBox="1"/>
          <p:nvPr/>
        </p:nvSpPr>
        <p:spPr>
          <a:xfrm>
            <a:off x="3693319" y="2676049"/>
            <a:ext cx="804862" cy="198120"/>
          </a:xfrm>
          <a:prstGeom prst="rect">
            <a:avLst/>
          </a:prstGeom>
          <a:noFill/>
          <a:ln>
            <a:noFill/>
          </a:ln>
        </p:spPr>
        <p:txBody>
          <a:bodyPr wrap="none" lIns="0" tIns="0" rIns="0" bIns="0" anchor="t" anchorCtr="0">
            <a:spAutoFit/>
          </a:bodyPr>
          <a:lstStyle/>
          <a:p>
            <a:pPr algn="ctr"/>
            <a:r>
              <a:rPr lang="zh-CN" sz="975" dirty="0">
                <a:solidFill>
                  <a:srgbClr val="666666"/>
                </a:solidFill>
                <a:latin typeface="Arial"/>
                <a:ea typeface="Microsoft YaHei"/>
                <a:cs typeface="Arial"/>
              </a:rPr>
              <a:t>固定步骤推荐</a:t>
            </a:r>
          </a:p>
        </p:txBody>
      </p:sp>
      <p:sp>
        <p:nvSpPr>
          <p:cNvPr id="40" name="TextBox 40"/>
          <p:cNvSpPr txBox="1"/>
          <p:nvPr/>
        </p:nvSpPr>
        <p:spPr>
          <a:xfrm>
            <a:off x="5908798" y="2676049"/>
            <a:ext cx="1136404" cy="198120"/>
          </a:xfrm>
          <a:prstGeom prst="rect">
            <a:avLst/>
          </a:prstGeom>
          <a:noFill/>
          <a:ln>
            <a:noFill/>
          </a:ln>
        </p:spPr>
        <p:txBody>
          <a:bodyPr wrap="none" lIns="0" tIns="0" rIns="0" bIns="0" anchor="t" anchorCtr="0">
            <a:spAutoFit/>
          </a:bodyPr>
          <a:lstStyle/>
          <a:p>
            <a:pPr algn="ctr"/>
            <a:r>
              <a:rPr lang="zh-CN" sz="975" dirty="0">
                <a:solidFill>
                  <a:srgbClr val="2E75B6"/>
                </a:solidFill>
                <a:latin typeface="Arial"/>
                <a:ea typeface="Microsoft YaHei"/>
                <a:cs typeface="Arial"/>
              </a:rPr>
              <a:t>多轮对话+状态记忆</a:t>
            </a:r>
          </a:p>
        </p:txBody>
      </p:sp>
      <p:sp>
        <p:nvSpPr>
          <p:cNvPr id="41" name="TextBox 41"/>
          <p:cNvSpPr txBox="1"/>
          <p:nvPr/>
        </p:nvSpPr>
        <p:spPr>
          <a:xfrm>
            <a:off x="8965275" y="2676049"/>
            <a:ext cx="1500449" cy="198120"/>
          </a:xfrm>
          <a:prstGeom prst="rect">
            <a:avLst/>
          </a:prstGeom>
          <a:noFill/>
          <a:ln>
            <a:noFill/>
          </a:ln>
        </p:spPr>
        <p:txBody>
          <a:bodyPr wrap="none" lIns="0" tIns="0" rIns="0" bIns="0" anchor="t" anchorCtr="0">
            <a:spAutoFit/>
          </a:bodyPr>
          <a:lstStyle/>
          <a:p>
            <a:pPr algn="ctr"/>
            <a:r>
              <a:rPr lang="zh-CN" sz="975" dirty="0">
                <a:solidFill>
                  <a:srgbClr val="C00000"/>
                </a:solidFill>
                <a:latin typeface="Arial"/>
                <a:ea typeface="Microsoft YaHei"/>
                <a:cs typeface="Arial"/>
              </a:rPr>
              <a:t>"流程驱动" → "交互驱动"</a:t>
            </a:r>
          </a:p>
        </p:txBody>
      </p:sp>
      <p:sp>
        <p:nvSpPr>
          <p:cNvPr id="42" name="Rectangle 42"/>
          <p:cNvSpPr/>
          <p:nvPr/>
        </p:nvSpPr>
        <p:spPr>
          <a:xfrm>
            <a:off x="476250" y="3000375"/>
            <a:ext cx="11239500" cy="571500"/>
          </a:xfrm>
          <a:prstGeom prst="rect">
            <a:avLst/>
          </a:prstGeom>
          <a:solidFill>
            <a:srgbClr val="FFFFFF"/>
          </a:solidFill>
          <a:ln w="9525">
            <a:solidFill>
              <a:srgbClr val="E7E6E6"/>
            </a:solidFill>
          </a:ln>
        </p:spPr>
      </p:sp>
      <p:sp>
        <p:nvSpPr>
          <p:cNvPr id="43" name="Rectangle 43"/>
          <p:cNvSpPr/>
          <p:nvPr/>
        </p:nvSpPr>
        <p:spPr>
          <a:xfrm>
            <a:off x="571500" y="3095625"/>
            <a:ext cx="381000" cy="381000"/>
          </a:xfrm>
          <a:prstGeom prst="roundRect">
            <a:avLst>
              <a:gd name="adj" fmla="val 7500"/>
            </a:avLst>
          </a:prstGeom>
          <a:solidFill>
            <a:srgbClr val="2E75B6"/>
          </a:solidFill>
          <a:ln>
            <a:noFill/>
          </a:ln>
        </p:spPr>
      </p:sp>
      <p:sp>
        <p:nvSpPr>
          <p:cNvPr id="44" name="TextBox 44"/>
          <p:cNvSpPr txBox="1"/>
          <p:nvPr/>
        </p:nvSpPr>
        <p:spPr>
          <a:xfrm>
            <a:off x="692874" y="3207068"/>
            <a:ext cx="138253" cy="274320"/>
          </a:xfrm>
          <a:prstGeom prst="rect">
            <a:avLst/>
          </a:prstGeom>
          <a:noFill/>
          <a:ln>
            <a:noFill/>
          </a:ln>
        </p:spPr>
        <p:txBody>
          <a:bodyPr wrap="none" lIns="0" tIns="0" rIns="0" bIns="0" anchor="t" anchorCtr="0">
            <a:spAutoFit/>
          </a:bodyPr>
          <a:lstStyle/>
          <a:p>
            <a:pPr algn="ctr"/>
            <a:r>
              <a:rPr lang="zh-CN" sz="1350" b="1" dirty="0">
                <a:solidFill>
                  <a:srgbClr val="FFFFFF"/>
                </a:solidFill>
                <a:latin typeface="Arial"/>
                <a:ea typeface="Microsoft YaHei"/>
                <a:cs typeface="Arial"/>
              </a:rPr>
              <a:t>4</a:t>
            </a:r>
          </a:p>
        </p:txBody>
      </p:sp>
      <p:sp>
        <p:nvSpPr>
          <p:cNvPr id="45" name="TextBox 45"/>
          <p:cNvSpPr txBox="1"/>
          <p:nvPr/>
        </p:nvSpPr>
        <p:spPr>
          <a:xfrm>
            <a:off x="1428869" y="3239452"/>
            <a:ext cx="761762" cy="213360"/>
          </a:xfrm>
          <a:prstGeom prst="rect">
            <a:avLst/>
          </a:prstGeom>
          <a:noFill/>
          <a:ln>
            <a:noFill/>
          </a:ln>
        </p:spPr>
        <p:txBody>
          <a:bodyPr wrap="none" lIns="0" tIns="0" rIns="0" bIns="0" anchor="t" anchorCtr="0">
            <a:spAutoFit/>
          </a:bodyPr>
          <a:lstStyle/>
          <a:p>
            <a:pPr algn="ctr"/>
            <a:r>
              <a:rPr lang="zh-CN" sz="1050" b="1" dirty="0">
                <a:solidFill>
                  <a:srgbClr val="333333"/>
                </a:solidFill>
                <a:latin typeface="Arial"/>
                <a:ea typeface="Microsoft YaHei"/>
                <a:cs typeface="Arial"/>
              </a:rPr>
              <a:t>协同智能体</a:t>
            </a:r>
          </a:p>
        </p:txBody>
      </p:sp>
      <p:sp>
        <p:nvSpPr>
          <p:cNvPr id="46" name="TextBox 46"/>
          <p:cNvSpPr txBox="1"/>
          <p:nvPr/>
        </p:nvSpPr>
        <p:spPr>
          <a:xfrm>
            <a:off x="3823335" y="3247549"/>
            <a:ext cx="544830" cy="198120"/>
          </a:xfrm>
          <a:prstGeom prst="rect">
            <a:avLst/>
          </a:prstGeom>
          <a:noFill/>
          <a:ln>
            <a:noFill/>
          </a:ln>
        </p:spPr>
        <p:txBody>
          <a:bodyPr wrap="none" lIns="0" tIns="0" rIns="0" bIns="0" anchor="t" anchorCtr="0">
            <a:spAutoFit/>
          </a:bodyPr>
          <a:lstStyle/>
          <a:p>
            <a:pPr algn="ctr"/>
            <a:r>
              <a:rPr lang="zh-CN" sz="975" dirty="0">
                <a:solidFill>
                  <a:srgbClr val="666666"/>
                </a:solidFill>
                <a:latin typeface="Arial"/>
                <a:ea typeface="Microsoft YaHei"/>
                <a:cs typeface="Arial"/>
              </a:rPr>
              <a:t>人工通知</a:t>
            </a:r>
          </a:p>
        </p:txBody>
      </p:sp>
      <p:sp>
        <p:nvSpPr>
          <p:cNvPr id="47" name="TextBox 47"/>
          <p:cNvSpPr txBox="1"/>
          <p:nvPr/>
        </p:nvSpPr>
        <p:spPr>
          <a:xfrm>
            <a:off x="5970556" y="3247549"/>
            <a:ext cx="1012889" cy="198120"/>
          </a:xfrm>
          <a:prstGeom prst="rect">
            <a:avLst/>
          </a:prstGeom>
          <a:noFill/>
          <a:ln>
            <a:noFill/>
          </a:ln>
        </p:spPr>
        <p:txBody>
          <a:bodyPr wrap="none" lIns="0" tIns="0" rIns="0" bIns="0" anchor="t" anchorCtr="0">
            <a:spAutoFit/>
          </a:bodyPr>
          <a:lstStyle/>
          <a:p>
            <a:pPr algn="ctr"/>
            <a:r>
              <a:rPr lang="zh-CN" sz="975" dirty="0">
                <a:solidFill>
                  <a:srgbClr val="2E75B6"/>
                </a:solidFill>
                <a:latin typeface="Arial"/>
                <a:ea typeface="Microsoft YaHei"/>
                <a:cs typeface="Arial"/>
              </a:rPr>
              <a:t>War Room Agent</a:t>
            </a:r>
          </a:p>
        </p:txBody>
      </p:sp>
      <p:sp>
        <p:nvSpPr>
          <p:cNvPr id="48" name="TextBox 48"/>
          <p:cNvSpPr txBox="1"/>
          <p:nvPr/>
        </p:nvSpPr>
        <p:spPr>
          <a:xfrm>
            <a:off x="8965275" y="3247549"/>
            <a:ext cx="1500449" cy="198120"/>
          </a:xfrm>
          <a:prstGeom prst="rect">
            <a:avLst/>
          </a:prstGeom>
          <a:noFill/>
          <a:ln>
            <a:noFill/>
          </a:ln>
        </p:spPr>
        <p:txBody>
          <a:bodyPr wrap="none" lIns="0" tIns="0" rIns="0" bIns="0" anchor="t" anchorCtr="0">
            <a:spAutoFit/>
          </a:bodyPr>
          <a:lstStyle/>
          <a:p>
            <a:pPr algn="ctr"/>
            <a:r>
              <a:rPr lang="zh-CN" sz="975" dirty="0">
                <a:solidFill>
                  <a:srgbClr val="C00000"/>
                </a:solidFill>
                <a:latin typeface="Arial"/>
                <a:ea typeface="Microsoft YaHei"/>
                <a:cs typeface="Arial"/>
              </a:rPr>
              <a:t>"被动等待" → "主动推送"</a:t>
            </a:r>
          </a:p>
        </p:txBody>
      </p:sp>
      <p:sp>
        <p:nvSpPr>
          <p:cNvPr id="49" name="Rectangle 49"/>
          <p:cNvSpPr/>
          <p:nvPr/>
        </p:nvSpPr>
        <p:spPr>
          <a:xfrm>
            <a:off x="476250" y="3571875"/>
            <a:ext cx="11239500" cy="571500"/>
          </a:xfrm>
          <a:prstGeom prst="rect">
            <a:avLst/>
          </a:prstGeom>
          <a:solidFill>
            <a:srgbClr val="FFFFFF"/>
          </a:solidFill>
          <a:ln w="9525">
            <a:solidFill>
              <a:srgbClr val="E7E6E6"/>
            </a:solidFill>
          </a:ln>
        </p:spPr>
      </p:sp>
      <p:sp>
        <p:nvSpPr>
          <p:cNvPr id="50" name="Rectangle 50"/>
          <p:cNvSpPr/>
          <p:nvPr/>
        </p:nvSpPr>
        <p:spPr>
          <a:xfrm>
            <a:off x="571500" y="3667125"/>
            <a:ext cx="381000" cy="381000"/>
          </a:xfrm>
          <a:prstGeom prst="roundRect">
            <a:avLst>
              <a:gd name="adj" fmla="val 7500"/>
            </a:avLst>
          </a:prstGeom>
          <a:solidFill>
            <a:srgbClr val="2E75B6"/>
          </a:solidFill>
          <a:ln>
            <a:noFill/>
          </a:ln>
        </p:spPr>
      </p:sp>
      <p:sp>
        <p:nvSpPr>
          <p:cNvPr id="51" name="TextBox 51"/>
          <p:cNvSpPr txBox="1"/>
          <p:nvPr/>
        </p:nvSpPr>
        <p:spPr>
          <a:xfrm>
            <a:off x="692874" y="3778568"/>
            <a:ext cx="138253" cy="274320"/>
          </a:xfrm>
          <a:prstGeom prst="rect">
            <a:avLst/>
          </a:prstGeom>
          <a:noFill/>
          <a:ln>
            <a:noFill/>
          </a:ln>
        </p:spPr>
        <p:txBody>
          <a:bodyPr wrap="none" lIns="0" tIns="0" rIns="0" bIns="0" anchor="t" anchorCtr="0">
            <a:spAutoFit/>
          </a:bodyPr>
          <a:lstStyle/>
          <a:p>
            <a:pPr algn="ctr"/>
            <a:r>
              <a:rPr lang="zh-CN" sz="1350" b="1" dirty="0">
                <a:solidFill>
                  <a:srgbClr val="FFFFFF"/>
                </a:solidFill>
                <a:latin typeface="Arial"/>
                <a:ea typeface="Microsoft YaHei"/>
                <a:cs typeface="Arial"/>
              </a:rPr>
              <a:t>5</a:t>
            </a:r>
          </a:p>
        </p:txBody>
      </p:sp>
      <p:sp>
        <p:nvSpPr>
          <p:cNvPr id="52" name="TextBox 52"/>
          <p:cNvSpPr txBox="1"/>
          <p:nvPr/>
        </p:nvSpPr>
        <p:spPr>
          <a:xfrm>
            <a:off x="1502378" y="3810952"/>
            <a:ext cx="614744" cy="213360"/>
          </a:xfrm>
          <a:prstGeom prst="rect">
            <a:avLst/>
          </a:prstGeom>
          <a:noFill/>
          <a:ln>
            <a:noFill/>
          </a:ln>
        </p:spPr>
        <p:txBody>
          <a:bodyPr wrap="none" lIns="0" tIns="0" rIns="0" bIns="0" anchor="t" anchorCtr="0">
            <a:spAutoFit/>
          </a:bodyPr>
          <a:lstStyle/>
          <a:p>
            <a:pPr algn="ctr"/>
            <a:r>
              <a:rPr lang="zh-CN" sz="1050" b="1" dirty="0">
                <a:solidFill>
                  <a:srgbClr val="333333"/>
                </a:solidFill>
                <a:latin typeface="Arial"/>
                <a:ea typeface="Microsoft YaHei"/>
                <a:cs typeface="Arial"/>
              </a:rPr>
              <a:t>状态跟踪</a:t>
            </a:r>
          </a:p>
        </p:txBody>
      </p:sp>
      <p:sp>
        <p:nvSpPr>
          <p:cNvPr id="53" name="TextBox 53"/>
          <p:cNvSpPr txBox="1"/>
          <p:nvPr/>
        </p:nvSpPr>
        <p:spPr>
          <a:xfrm>
            <a:off x="3888343" y="3819049"/>
            <a:ext cx="414814" cy="198120"/>
          </a:xfrm>
          <a:prstGeom prst="rect">
            <a:avLst/>
          </a:prstGeom>
          <a:noFill/>
          <a:ln>
            <a:noFill/>
          </a:ln>
        </p:spPr>
        <p:txBody>
          <a:bodyPr wrap="none" lIns="0" tIns="0" rIns="0" bIns="0" anchor="t" anchorCtr="0">
            <a:spAutoFit/>
          </a:bodyPr>
          <a:lstStyle/>
          <a:p>
            <a:pPr algn="ctr"/>
            <a:r>
              <a:rPr lang="zh-CN" sz="975" dirty="0">
                <a:solidFill>
                  <a:srgbClr val="666666"/>
                </a:solidFill>
                <a:latin typeface="Arial"/>
                <a:ea typeface="Microsoft YaHei"/>
                <a:cs typeface="Arial"/>
              </a:rPr>
              <a:t>无记录</a:t>
            </a:r>
          </a:p>
        </p:txBody>
      </p:sp>
      <p:sp>
        <p:nvSpPr>
          <p:cNvPr id="54" name="TextBox 54"/>
          <p:cNvSpPr txBox="1"/>
          <p:nvPr/>
        </p:nvSpPr>
        <p:spPr>
          <a:xfrm>
            <a:off x="5583757" y="3819049"/>
            <a:ext cx="1786485" cy="198120"/>
          </a:xfrm>
          <a:prstGeom prst="rect">
            <a:avLst/>
          </a:prstGeom>
          <a:noFill/>
          <a:ln>
            <a:noFill/>
          </a:ln>
        </p:spPr>
        <p:txBody>
          <a:bodyPr wrap="none" lIns="0" tIns="0" rIns="0" bIns="0" anchor="t" anchorCtr="0">
            <a:spAutoFit/>
          </a:bodyPr>
          <a:lstStyle/>
          <a:p>
            <a:pPr algn="ctr"/>
            <a:r>
              <a:rPr lang="zh-CN" sz="975" dirty="0">
                <a:solidFill>
                  <a:srgbClr val="2E75B6"/>
                </a:solidFill>
                <a:latin typeface="Arial"/>
                <a:ea typeface="Microsoft YaHei"/>
                <a:cs typeface="Arial"/>
              </a:rPr>
              <a:t>Investigation State Machine</a:t>
            </a:r>
          </a:p>
        </p:txBody>
      </p:sp>
      <p:sp>
        <p:nvSpPr>
          <p:cNvPr id="55" name="TextBox 55"/>
          <p:cNvSpPr txBox="1"/>
          <p:nvPr/>
        </p:nvSpPr>
        <p:spPr>
          <a:xfrm>
            <a:off x="8965275" y="3819049"/>
            <a:ext cx="1500449" cy="198120"/>
          </a:xfrm>
          <a:prstGeom prst="rect">
            <a:avLst/>
          </a:prstGeom>
          <a:noFill/>
          <a:ln>
            <a:noFill/>
          </a:ln>
        </p:spPr>
        <p:txBody>
          <a:bodyPr wrap="none" lIns="0" tIns="0" rIns="0" bIns="0" anchor="t" anchorCtr="0">
            <a:spAutoFit/>
          </a:bodyPr>
          <a:lstStyle/>
          <a:p>
            <a:pPr algn="ctr"/>
            <a:r>
              <a:rPr lang="zh-CN" sz="975" dirty="0">
                <a:solidFill>
                  <a:srgbClr val="C00000"/>
                </a:solidFill>
                <a:latin typeface="Arial"/>
                <a:ea typeface="Microsoft YaHei"/>
                <a:cs typeface="Arial"/>
              </a:rPr>
              <a:t>"重复询问" → "状态透明"</a:t>
            </a:r>
          </a:p>
        </p:txBody>
      </p:sp>
      <p:sp>
        <p:nvSpPr>
          <p:cNvPr id="56" name="Rectangle 56"/>
          <p:cNvSpPr/>
          <p:nvPr/>
        </p:nvSpPr>
        <p:spPr>
          <a:xfrm>
            <a:off x="476250" y="4143375"/>
            <a:ext cx="11239500" cy="571500"/>
          </a:xfrm>
          <a:prstGeom prst="rect">
            <a:avLst/>
          </a:prstGeom>
          <a:solidFill>
            <a:srgbClr val="FFFFFF"/>
          </a:solidFill>
          <a:ln w="9525">
            <a:solidFill>
              <a:srgbClr val="E7E6E6"/>
            </a:solidFill>
          </a:ln>
        </p:spPr>
      </p:sp>
      <p:sp>
        <p:nvSpPr>
          <p:cNvPr id="57" name="Rectangle 57"/>
          <p:cNvSpPr/>
          <p:nvPr/>
        </p:nvSpPr>
        <p:spPr>
          <a:xfrm>
            <a:off x="571500" y="4238625"/>
            <a:ext cx="381000" cy="381000"/>
          </a:xfrm>
          <a:prstGeom prst="roundRect">
            <a:avLst>
              <a:gd name="adj" fmla="val 7500"/>
            </a:avLst>
          </a:prstGeom>
          <a:solidFill>
            <a:srgbClr val="2E75B6"/>
          </a:solidFill>
          <a:ln>
            <a:noFill/>
          </a:ln>
        </p:spPr>
      </p:sp>
      <p:sp>
        <p:nvSpPr>
          <p:cNvPr id="58" name="TextBox 58"/>
          <p:cNvSpPr txBox="1"/>
          <p:nvPr/>
        </p:nvSpPr>
        <p:spPr>
          <a:xfrm>
            <a:off x="692874" y="4350068"/>
            <a:ext cx="138253" cy="274320"/>
          </a:xfrm>
          <a:prstGeom prst="rect">
            <a:avLst/>
          </a:prstGeom>
          <a:noFill/>
          <a:ln>
            <a:noFill/>
          </a:ln>
        </p:spPr>
        <p:txBody>
          <a:bodyPr wrap="none" lIns="0" tIns="0" rIns="0" bIns="0" anchor="t" anchorCtr="0">
            <a:spAutoFit/>
          </a:bodyPr>
          <a:lstStyle/>
          <a:p>
            <a:pPr algn="ctr"/>
            <a:r>
              <a:rPr lang="zh-CN" sz="1350" b="1" dirty="0">
                <a:solidFill>
                  <a:srgbClr val="FFFFFF"/>
                </a:solidFill>
                <a:latin typeface="Arial"/>
                <a:ea typeface="Microsoft YaHei"/>
                <a:cs typeface="Arial"/>
              </a:rPr>
              <a:t>6</a:t>
            </a:r>
          </a:p>
        </p:txBody>
      </p:sp>
      <p:sp>
        <p:nvSpPr>
          <p:cNvPr id="59" name="TextBox 59"/>
          <p:cNvSpPr txBox="1"/>
          <p:nvPr/>
        </p:nvSpPr>
        <p:spPr>
          <a:xfrm>
            <a:off x="1502378" y="4382452"/>
            <a:ext cx="614744" cy="213360"/>
          </a:xfrm>
          <a:prstGeom prst="rect">
            <a:avLst/>
          </a:prstGeom>
          <a:noFill/>
          <a:ln>
            <a:noFill/>
          </a:ln>
        </p:spPr>
        <p:txBody>
          <a:bodyPr wrap="none" lIns="0" tIns="0" rIns="0" bIns="0" anchor="t" anchorCtr="0">
            <a:spAutoFit/>
          </a:bodyPr>
          <a:lstStyle/>
          <a:p>
            <a:pPr algn="ctr"/>
            <a:r>
              <a:rPr lang="zh-CN" sz="1050" b="1" dirty="0">
                <a:solidFill>
                  <a:srgbClr val="333333"/>
                </a:solidFill>
                <a:latin typeface="Arial"/>
                <a:ea typeface="Microsoft YaHei"/>
                <a:cs typeface="Arial"/>
              </a:rPr>
              <a:t>知识蒸馏</a:t>
            </a:r>
          </a:p>
        </p:txBody>
      </p:sp>
      <p:sp>
        <p:nvSpPr>
          <p:cNvPr id="60" name="TextBox 60"/>
          <p:cNvSpPr txBox="1"/>
          <p:nvPr/>
        </p:nvSpPr>
        <p:spPr>
          <a:xfrm>
            <a:off x="3823335" y="4390549"/>
            <a:ext cx="544830" cy="198120"/>
          </a:xfrm>
          <a:prstGeom prst="rect">
            <a:avLst/>
          </a:prstGeom>
          <a:noFill/>
          <a:ln>
            <a:noFill/>
          </a:ln>
        </p:spPr>
        <p:txBody>
          <a:bodyPr wrap="none" lIns="0" tIns="0" rIns="0" bIns="0" anchor="t" anchorCtr="0">
            <a:spAutoFit/>
          </a:bodyPr>
          <a:lstStyle/>
          <a:p>
            <a:pPr algn="ctr"/>
            <a:r>
              <a:rPr lang="zh-CN" sz="975" dirty="0">
                <a:solidFill>
                  <a:srgbClr val="666666"/>
                </a:solidFill>
                <a:latin typeface="Arial"/>
                <a:ea typeface="Microsoft YaHei"/>
                <a:cs typeface="Arial"/>
              </a:rPr>
              <a:t>人工复盘</a:t>
            </a:r>
          </a:p>
        </p:txBody>
      </p:sp>
      <p:sp>
        <p:nvSpPr>
          <p:cNvPr id="61" name="TextBox 61"/>
          <p:cNvSpPr txBox="1"/>
          <p:nvPr/>
        </p:nvSpPr>
        <p:spPr>
          <a:xfrm>
            <a:off x="5752779" y="4390549"/>
            <a:ext cx="1448443" cy="198120"/>
          </a:xfrm>
          <a:prstGeom prst="rect">
            <a:avLst/>
          </a:prstGeom>
          <a:noFill/>
          <a:ln>
            <a:noFill/>
          </a:ln>
        </p:spPr>
        <p:txBody>
          <a:bodyPr wrap="none" lIns="0" tIns="0" rIns="0" bIns="0" anchor="t" anchorCtr="0">
            <a:spAutoFit/>
          </a:bodyPr>
          <a:lstStyle/>
          <a:p>
            <a:pPr algn="ctr"/>
            <a:r>
              <a:rPr lang="zh-CN" sz="975" dirty="0">
                <a:solidFill>
                  <a:srgbClr val="2E75B6"/>
                </a:solidFill>
                <a:latin typeface="Arial"/>
                <a:ea typeface="Microsoft YaHei"/>
                <a:cs typeface="Arial"/>
              </a:rPr>
              <a:t>自动提炼规则/SOP/脚本</a:t>
            </a:r>
          </a:p>
        </p:txBody>
      </p:sp>
      <p:sp>
        <p:nvSpPr>
          <p:cNvPr id="62" name="TextBox 62"/>
          <p:cNvSpPr txBox="1"/>
          <p:nvPr/>
        </p:nvSpPr>
        <p:spPr>
          <a:xfrm>
            <a:off x="8965275" y="4390549"/>
            <a:ext cx="1500449" cy="198120"/>
          </a:xfrm>
          <a:prstGeom prst="rect">
            <a:avLst/>
          </a:prstGeom>
          <a:noFill/>
          <a:ln>
            <a:noFill/>
          </a:ln>
        </p:spPr>
        <p:txBody>
          <a:bodyPr wrap="none" lIns="0" tIns="0" rIns="0" bIns="0" anchor="t" anchorCtr="0">
            <a:spAutoFit/>
          </a:bodyPr>
          <a:lstStyle/>
          <a:p>
            <a:pPr algn="ctr"/>
            <a:r>
              <a:rPr lang="zh-CN" sz="975" dirty="0">
                <a:solidFill>
                  <a:srgbClr val="C00000"/>
                </a:solidFill>
                <a:latin typeface="Arial"/>
                <a:ea typeface="Microsoft YaHei"/>
                <a:cs typeface="Arial"/>
              </a:rPr>
              <a:t>"文档沉淀" → "系统学习"</a:t>
            </a:r>
          </a:p>
        </p:txBody>
      </p:sp>
      <p:sp>
        <p:nvSpPr>
          <p:cNvPr id="63" name="Rectangle 63"/>
          <p:cNvSpPr/>
          <p:nvPr/>
        </p:nvSpPr>
        <p:spPr>
          <a:xfrm>
            <a:off x="476250" y="4714875"/>
            <a:ext cx="11239500" cy="571500"/>
          </a:xfrm>
          <a:prstGeom prst="rect">
            <a:avLst/>
          </a:prstGeom>
          <a:solidFill>
            <a:srgbClr val="FFFFFF"/>
          </a:solidFill>
          <a:ln w="9525">
            <a:solidFill>
              <a:srgbClr val="E7E6E6"/>
            </a:solidFill>
          </a:ln>
        </p:spPr>
      </p:sp>
      <p:sp>
        <p:nvSpPr>
          <p:cNvPr id="64" name="Rectangle 64"/>
          <p:cNvSpPr/>
          <p:nvPr/>
        </p:nvSpPr>
        <p:spPr>
          <a:xfrm>
            <a:off x="571500" y="4810125"/>
            <a:ext cx="381000" cy="381000"/>
          </a:xfrm>
          <a:prstGeom prst="roundRect">
            <a:avLst>
              <a:gd name="adj" fmla="val 7500"/>
            </a:avLst>
          </a:prstGeom>
          <a:solidFill>
            <a:srgbClr val="2E75B6"/>
          </a:solidFill>
          <a:ln>
            <a:noFill/>
          </a:ln>
        </p:spPr>
      </p:sp>
      <p:sp>
        <p:nvSpPr>
          <p:cNvPr id="65" name="TextBox 65"/>
          <p:cNvSpPr txBox="1"/>
          <p:nvPr/>
        </p:nvSpPr>
        <p:spPr>
          <a:xfrm>
            <a:off x="692874" y="4921568"/>
            <a:ext cx="138253" cy="274320"/>
          </a:xfrm>
          <a:prstGeom prst="rect">
            <a:avLst/>
          </a:prstGeom>
          <a:noFill/>
          <a:ln>
            <a:noFill/>
          </a:ln>
        </p:spPr>
        <p:txBody>
          <a:bodyPr wrap="none" lIns="0" tIns="0" rIns="0" bIns="0" anchor="t" anchorCtr="0">
            <a:spAutoFit/>
          </a:bodyPr>
          <a:lstStyle/>
          <a:p>
            <a:pPr algn="ctr"/>
            <a:r>
              <a:rPr lang="zh-CN" sz="1350" b="1" dirty="0">
                <a:solidFill>
                  <a:srgbClr val="FFFFFF"/>
                </a:solidFill>
                <a:latin typeface="Arial"/>
                <a:ea typeface="Microsoft YaHei"/>
                <a:cs typeface="Arial"/>
              </a:rPr>
              <a:t>7</a:t>
            </a:r>
          </a:p>
        </p:txBody>
      </p:sp>
      <p:sp>
        <p:nvSpPr>
          <p:cNvPr id="66" name="TextBox 66"/>
          <p:cNvSpPr txBox="1"/>
          <p:nvPr/>
        </p:nvSpPr>
        <p:spPr>
          <a:xfrm>
            <a:off x="1502378" y="4953952"/>
            <a:ext cx="614744" cy="213360"/>
          </a:xfrm>
          <a:prstGeom prst="rect">
            <a:avLst/>
          </a:prstGeom>
          <a:noFill/>
          <a:ln>
            <a:noFill/>
          </a:ln>
        </p:spPr>
        <p:txBody>
          <a:bodyPr wrap="none" lIns="0" tIns="0" rIns="0" bIns="0" anchor="t" anchorCtr="0">
            <a:spAutoFit/>
          </a:bodyPr>
          <a:lstStyle/>
          <a:p>
            <a:pPr algn="ctr"/>
            <a:r>
              <a:rPr lang="zh-CN" sz="1050" b="1" dirty="0">
                <a:solidFill>
                  <a:srgbClr val="333333"/>
                </a:solidFill>
                <a:latin typeface="Arial"/>
                <a:ea typeface="Microsoft YaHei"/>
                <a:cs typeface="Arial"/>
              </a:rPr>
              <a:t>经验传播</a:t>
            </a:r>
          </a:p>
        </p:txBody>
      </p:sp>
      <p:sp>
        <p:nvSpPr>
          <p:cNvPr id="67" name="TextBox 67"/>
          <p:cNvSpPr txBox="1"/>
          <p:nvPr/>
        </p:nvSpPr>
        <p:spPr>
          <a:xfrm>
            <a:off x="3758327" y="4962049"/>
            <a:ext cx="674846" cy="198120"/>
          </a:xfrm>
          <a:prstGeom prst="rect">
            <a:avLst/>
          </a:prstGeom>
          <a:noFill/>
          <a:ln>
            <a:noFill/>
          </a:ln>
        </p:spPr>
        <p:txBody>
          <a:bodyPr wrap="none" lIns="0" tIns="0" rIns="0" bIns="0" anchor="t" anchorCtr="0">
            <a:spAutoFit/>
          </a:bodyPr>
          <a:lstStyle/>
          <a:p>
            <a:pPr algn="ctr"/>
            <a:r>
              <a:rPr lang="zh-CN" sz="975" dirty="0">
                <a:solidFill>
                  <a:srgbClr val="666666"/>
                </a:solidFill>
                <a:latin typeface="Arial"/>
                <a:ea typeface="Microsoft YaHei"/>
                <a:cs typeface="Arial"/>
              </a:rPr>
              <a:t>新人学习慢</a:t>
            </a:r>
          </a:p>
        </p:txBody>
      </p:sp>
      <p:sp>
        <p:nvSpPr>
          <p:cNvPr id="68" name="TextBox 68"/>
          <p:cNvSpPr txBox="1"/>
          <p:nvPr/>
        </p:nvSpPr>
        <p:spPr>
          <a:xfrm>
            <a:off x="5739777" y="4962049"/>
            <a:ext cx="1474446" cy="198120"/>
          </a:xfrm>
          <a:prstGeom prst="rect">
            <a:avLst/>
          </a:prstGeom>
          <a:noFill/>
          <a:ln>
            <a:noFill/>
          </a:ln>
        </p:spPr>
        <p:txBody>
          <a:bodyPr wrap="none" lIns="0" tIns="0" rIns="0" bIns="0" anchor="t" anchorCtr="0">
            <a:spAutoFit/>
          </a:bodyPr>
          <a:lstStyle/>
          <a:p>
            <a:pPr algn="ctr"/>
            <a:r>
              <a:rPr lang="zh-CN" sz="975" dirty="0">
                <a:solidFill>
                  <a:srgbClr val="2E75B6"/>
                </a:solidFill>
                <a:latin typeface="Arial"/>
                <a:ea typeface="Microsoft YaHei"/>
                <a:cs typeface="Arial"/>
              </a:rPr>
              <a:t>Incident Simulator 演练</a:t>
            </a:r>
          </a:p>
        </p:txBody>
      </p:sp>
      <p:sp>
        <p:nvSpPr>
          <p:cNvPr id="69" name="TextBox 69"/>
          <p:cNvSpPr txBox="1"/>
          <p:nvPr/>
        </p:nvSpPr>
        <p:spPr>
          <a:xfrm>
            <a:off x="8965275" y="4962049"/>
            <a:ext cx="1500449" cy="198120"/>
          </a:xfrm>
          <a:prstGeom prst="rect">
            <a:avLst/>
          </a:prstGeom>
          <a:noFill/>
          <a:ln>
            <a:noFill/>
          </a:ln>
        </p:spPr>
        <p:txBody>
          <a:bodyPr wrap="none" lIns="0" tIns="0" rIns="0" bIns="0" anchor="t" anchorCtr="0">
            <a:spAutoFit/>
          </a:bodyPr>
          <a:lstStyle/>
          <a:p>
            <a:pPr algn="ctr"/>
            <a:r>
              <a:rPr lang="zh-CN" sz="975" dirty="0">
                <a:solidFill>
                  <a:srgbClr val="C00000"/>
                </a:solidFill>
                <a:latin typeface="Arial"/>
                <a:ea typeface="Microsoft YaHei"/>
                <a:cs typeface="Arial"/>
              </a:rPr>
              <a:t>"被动积累" → "主动培养"</a:t>
            </a:r>
          </a:p>
        </p:txBody>
      </p:sp>
      <p:sp>
        <p:nvSpPr>
          <p:cNvPr id="70" name="Rectangle 70"/>
          <p:cNvSpPr/>
          <p:nvPr/>
        </p:nvSpPr>
        <p:spPr>
          <a:xfrm>
            <a:off x="476250" y="5286375"/>
            <a:ext cx="11239500" cy="571500"/>
          </a:xfrm>
          <a:prstGeom prst="rect">
            <a:avLst/>
          </a:prstGeom>
          <a:solidFill>
            <a:srgbClr val="FFFFFF"/>
          </a:solidFill>
          <a:ln w="9525">
            <a:solidFill>
              <a:srgbClr val="E7E6E6"/>
            </a:solidFill>
          </a:ln>
        </p:spPr>
      </p:sp>
      <p:sp>
        <p:nvSpPr>
          <p:cNvPr id="71" name="Rectangle 71"/>
          <p:cNvSpPr/>
          <p:nvPr/>
        </p:nvSpPr>
        <p:spPr>
          <a:xfrm>
            <a:off x="571500" y="5381625"/>
            <a:ext cx="381000" cy="381000"/>
          </a:xfrm>
          <a:prstGeom prst="roundRect">
            <a:avLst>
              <a:gd name="adj" fmla="val 7500"/>
            </a:avLst>
          </a:prstGeom>
          <a:solidFill>
            <a:srgbClr val="2E75B6"/>
          </a:solidFill>
          <a:ln>
            <a:noFill/>
          </a:ln>
        </p:spPr>
      </p:sp>
      <p:sp>
        <p:nvSpPr>
          <p:cNvPr id="72" name="TextBox 72"/>
          <p:cNvSpPr txBox="1"/>
          <p:nvPr/>
        </p:nvSpPr>
        <p:spPr>
          <a:xfrm>
            <a:off x="692874" y="5493068"/>
            <a:ext cx="138253" cy="274320"/>
          </a:xfrm>
          <a:prstGeom prst="rect">
            <a:avLst/>
          </a:prstGeom>
          <a:noFill/>
          <a:ln>
            <a:noFill/>
          </a:ln>
        </p:spPr>
        <p:txBody>
          <a:bodyPr wrap="none" lIns="0" tIns="0" rIns="0" bIns="0" anchor="t" anchorCtr="0">
            <a:spAutoFit/>
          </a:bodyPr>
          <a:lstStyle/>
          <a:p>
            <a:pPr algn="ctr"/>
            <a:r>
              <a:rPr lang="zh-CN" sz="1350" b="1" dirty="0">
                <a:solidFill>
                  <a:srgbClr val="FFFFFF"/>
                </a:solidFill>
                <a:latin typeface="Arial"/>
                <a:ea typeface="Microsoft YaHei"/>
                <a:cs typeface="Arial"/>
              </a:rPr>
              <a:t>8</a:t>
            </a:r>
          </a:p>
        </p:txBody>
      </p:sp>
      <p:sp>
        <p:nvSpPr>
          <p:cNvPr id="73" name="TextBox 73"/>
          <p:cNvSpPr txBox="1"/>
          <p:nvPr/>
        </p:nvSpPr>
        <p:spPr>
          <a:xfrm>
            <a:off x="1575887" y="5525452"/>
            <a:ext cx="467725" cy="213360"/>
          </a:xfrm>
          <a:prstGeom prst="rect">
            <a:avLst/>
          </a:prstGeom>
          <a:noFill/>
          <a:ln>
            <a:noFill/>
          </a:ln>
        </p:spPr>
        <p:txBody>
          <a:bodyPr wrap="none" lIns="0" tIns="0" rIns="0" bIns="0" anchor="t" anchorCtr="0">
            <a:spAutoFit/>
          </a:bodyPr>
          <a:lstStyle/>
          <a:p>
            <a:pPr algn="ctr"/>
            <a:r>
              <a:rPr lang="zh-CN" sz="1050" b="1" dirty="0">
                <a:solidFill>
                  <a:srgbClr val="333333"/>
                </a:solidFill>
                <a:latin typeface="Arial"/>
                <a:ea typeface="Microsoft YaHei"/>
                <a:cs typeface="Arial"/>
              </a:rPr>
              <a:t>可信度</a:t>
            </a:r>
          </a:p>
        </p:txBody>
      </p:sp>
      <p:sp>
        <p:nvSpPr>
          <p:cNvPr id="74" name="TextBox 74"/>
          <p:cNvSpPr txBox="1"/>
          <p:nvPr/>
        </p:nvSpPr>
        <p:spPr>
          <a:xfrm>
            <a:off x="3823335" y="5533549"/>
            <a:ext cx="544830" cy="198120"/>
          </a:xfrm>
          <a:prstGeom prst="rect">
            <a:avLst/>
          </a:prstGeom>
          <a:noFill/>
          <a:ln>
            <a:noFill/>
          </a:ln>
        </p:spPr>
        <p:txBody>
          <a:bodyPr wrap="none" lIns="0" tIns="0" rIns="0" bIns="0" anchor="t" anchorCtr="0">
            <a:spAutoFit/>
          </a:bodyPr>
          <a:lstStyle/>
          <a:p>
            <a:pPr algn="ctr"/>
            <a:r>
              <a:rPr lang="zh-CN" sz="975" dirty="0">
                <a:solidFill>
                  <a:srgbClr val="666666"/>
                </a:solidFill>
                <a:latin typeface="Arial"/>
                <a:ea typeface="Microsoft YaHei"/>
                <a:cs typeface="Arial"/>
              </a:rPr>
              <a:t>黑盒推荐</a:t>
            </a:r>
          </a:p>
        </p:txBody>
      </p:sp>
      <p:sp>
        <p:nvSpPr>
          <p:cNvPr id="75" name="TextBox 75"/>
          <p:cNvSpPr txBox="1"/>
          <p:nvPr/>
        </p:nvSpPr>
        <p:spPr>
          <a:xfrm>
            <a:off x="5743027" y="5533549"/>
            <a:ext cx="1467945" cy="198120"/>
          </a:xfrm>
          <a:prstGeom prst="rect">
            <a:avLst/>
          </a:prstGeom>
          <a:noFill/>
          <a:ln>
            <a:noFill/>
          </a:ln>
        </p:spPr>
        <p:txBody>
          <a:bodyPr wrap="none" lIns="0" tIns="0" rIns="0" bIns="0" anchor="t" anchorCtr="0">
            <a:spAutoFit/>
          </a:bodyPr>
          <a:lstStyle/>
          <a:p>
            <a:pPr algn="ctr"/>
            <a:r>
              <a:rPr lang="zh-CN" sz="975" dirty="0">
                <a:solidFill>
                  <a:srgbClr val="2E75B6"/>
                </a:solidFill>
                <a:latin typeface="Arial"/>
                <a:ea typeface="Microsoft YaHei"/>
                <a:cs typeface="Arial"/>
              </a:rPr>
              <a:t>置信度+依据链+风险提示</a:t>
            </a:r>
          </a:p>
        </p:txBody>
      </p:sp>
      <p:sp>
        <p:nvSpPr>
          <p:cNvPr id="76" name="TextBox 76"/>
          <p:cNvSpPr txBox="1"/>
          <p:nvPr/>
        </p:nvSpPr>
        <p:spPr>
          <a:xfrm>
            <a:off x="8965275" y="5533549"/>
            <a:ext cx="1500449" cy="198120"/>
          </a:xfrm>
          <a:prstGeom prst="rect">
            <a:avLst/>
          </a:prstGeom>
          <a:noFill/>
          <a:ln>
            <a:noFill/>
          </a:ln>
        </p:spPr>
        <p:txBody>
          <a:bodyPr wrap="none" lIns="0" tIns="0" rIns="0" bIns="0" anchor="t" anchorCtr="0">
            <a:spAutoFit/>
          </a:bodyPr>
          <a:lstStyle/>
          <a:p>
            <a:pPr algn="ctr"/>
            <a:r>
              <a:rPr lang="zh-CN" sz="975" dirty="0">
                <a:solidFill>
                  <a:srgbClr val="C00000"/>
                </a:solidFill>
                <a:latin typeface="Arial"/>
                <a:ea typeface="Microsoft YaHei"/>
                <a:cs typeface="Arial"/>
              </a:rPr>
              <a:t>"盲目信任" → "理性决策"</a:t>
            </a:r>
          </a:p>
        </p:txBody>
      </p:sp>
    </p:spTree>
  </p:cSld>
  <p:clrMapOvr>
    <a:masterClrMapping/>
  </p:clrMapOvr>
  <p:transition xmlns:p14="http://schemas.microsoft.com/office/powerpoint/2010/main" p14:dur="400">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76200"/>
          </a:xfrm>
          <a:prstGeom prst="rect">
            <a:avLst/>
          </a:prstGeom>
          <a:solidFill>
            <a:srgbClr val="C00000"/>
          </a:solidFill>
          <a:ln>
            <a:noFill/>
          </a:ln>
        </p:spPr>
      </p:sp>
      <p:sp>
        <p:nvSpPr>
          <p:cNvPr id="4" name="Rectangle 4"/>
          <p:cNvSpPr/>
          <p:nvPr/>
        </p:nvSpPr>
        <p:spPr>
          <a:xfrm>
            <a:off x="0" y="762000"/>
            <a:ext cx="1143000" cy="5334000"/>
          </a:xfrm>
          <a:prstGeom prst="rect">
            <a:avLst/>
          </a:prstGeom>
          <a:solidFill>
            <a:srgbClr val="F2F2F2"/>
          </a:solidFill>
          <a:ln>
            <a:noFill/>
          </a:ln>
        </p:spPr>
      </p:sp>
      <p:sp>
        <p:nvSpPr>
          <p:cNvPr id="5" name="Rectangle 5"/>
          <p:cNvSpPr/>
          <p:nvPr/>
        </p:nvSpPr>
        <p:spPr>
          <a:xfrm>
            <a:off x="0" y="762000"/>
            <a:ext cx="76200" cy="5334000"/>
          </a:xfrm>
          <a:prstGeom prst="rect">
            <a:avLst/>
          </a:prstGeom>
          <a:solidFill>
            <a:srgbClr val="C00000"/>
          </a:solidFill>
          <a:ln>
            <a:noFill/>
          </a:ln>
        </p:spPr>
      </p:sp>
      <p:sp>
        <p:nvSpPr>
          <p:cNvPr id="6" name="Rectangle 6"/>
          <p:cNvSpPr/>
          <p:nvPr/>
        </p:nvSpPr>
        <p:spPr>
          <a:xfrm>
            <a:off x="11049000" y="762000"/>
            <a:ext cx="1143000" cy="5334000"/>
          </a:xfrm>
          <a:prstGeom prst="rect">
            <a:avLst/>
          </a:prstGeom>
          <a:solidFill>
            <a:srgbClr val="FDF3EB"/>
          </a:solidFill>
          <a:ln>
            <a:noFill/>
          </a:ln>
        </p:spPr>
      </p:sp>
      <p:sp>
        <p:nvSpPr>
          <p:cNvPr id="7" name="Rectangle 7"/>
          <p:cNvSpPr/>
          <p:nvPr/>
        </p:nvSpPr>
        <p:spPr>
          <a:xfrm>
            <a:off x="12115800" y="762000"/>
            <a:ext cx="76200" cy="5334000"/>
          </a:xfrm>
          <a:prstGeom prst="rect">
            <a:avLst/>
          </a:prstGeom>
          <a:solidFill>
            <a:srgbClr val="2E75B6"/>
          </a:solidFill>
          <a:ln>
            <a:noFill/>
          </a:ln>
        </p:spPr>
      </p:sp>
      <p:sp>
        <p:nvSpPr>
          <p:cNvPr id="8" name="Rectangle 8"/>
          <p:cNvSpPr/>
          <p:nvPr/>
        </p:nvSpPr>
        <p:spPr>
          <a:xfrm>
            <a:off x="5143500" y="2095500"/>
            <a:ext cx="762000" cy="762000"/>
          </a:xfrm>
          <a:prstGeom prst="rect">
            <a:avLst/>
          </a:prstGeom>
          <a:solidFill>
            <a:srgbClr val="C00000"/>
          </a:solidFill>
          <a:ln>
            <a:noFill/>
          </a:ln>
        </p:spPr>
      </p:sp>
      <p:sp>
        <p:nvSpPr>
          <p:cNvPr id="9" name="TextBox 9"/>
          <p:cNvSpPr txBox="1"/>
          <p:nvPr/>
        </p:nvSpPr>
        <p:spPr>
          <a:xfrm>
            <a:off x="5201545" y="2259330"/>
            <a:ext cx="645909" cy="731520"/>
          </a:xfrm>
          <a:prstGeom prst="rect">
            <a:avLst/>
          </a:prstGeom>
          <a:noFill/>
          <a:ln>
            <a:noFill/>
          </a:ln>
        </p:spPr>
        <p:txBody>
          <a:bodyPr wrap="none" lIns="0" tIns="0" rIns="0" bIns="0" anchor="t" anchorCtr="0">
            <a:spAutoFit/>
          </a:bodyPr>
          <a:lstStyle/>
          <a:p>
            <a:pPr algn="ctr"/>
            <a:r>
              <a:rPr lang="zh-CN" sz="3600" b="1" dirty="0">
                <a:solidFill>
                  <a:srgbClr val="FFFFFF"/>
                </a:solidFill>
                <a:latin typeface="Arial"/>
                <a:ea typeface="Microsoft YaHei"/>
                <a:cs typeface="Arial"/>
              </a:rPr>
              <a:t>03</a:t>
            </a:r>
          </a:p>
        </p:txBody>
      </p:sp>
      <p:sp>
        <p:nvSpPr>
          <p:cNvPr id="10" name="TextBox 10"/>
          <p:cNvSpPr txBox="1"/>
          <p:nvPr/>
        </p:nvSpPr>
        <p:spPr>
          <a:xfrm>
            <a:off x="5019484" y="1943100"/>
            <a:ext cx="2153031" cy="2438400"/>
          </a:xfrm>
          <a:prstGeom prst="rect">
            <a:avLst/>
          </a:prstGeom>
          <a:noFill/>
          <a:ln>
            <a:noFill/>
          </a:ln>
        </p:spPr>
        <p:txBody>
          <a:bodyPr wrap="none" lIns="0" tIns="0" rIns="0" bIns="0" anchor="t" anchorCtr="0">
            <a:spAutoFit/>
          </a:bodyPr>
          <a:lstStyle/>
          <a:p>
            <a:pPr algn="ctr"/>
            <a:r>
              <a:rPr lang="zh-CN" sz="12000" b="1" dirty="0">
                <a:solidFill>
                  <a:srgbClr val="F2F2F2"/>
                </a:solidFill>
                <a:latin typeface="Arial"/>
                <a:ea typeface="Microsoft YaHei"/>
                <a:cs typeface="Arial"/>
              </a:rPr>
              <a:t>03</a:t>
            </a:r>
          </a:p>
        </p:txBody>
      </p:sp>
      <p:sp>
        <p:nvSpPr>
          <p:cNvPr id="11" name="TextBox 11"/>
          <p:cNvSpPr txBox="1"/>
          <p:nvPr/>
        </p:nvSpPr>
        <p:spPr>
          <a:xfrm>
            <a:off x="3529965" y="3611880"/>
            <a:ext cx="5132070" cy="731520"/>
          </a:xfrm>
          <a:prstGeom prst="rect">
            <a:avLst/>
          </a:prstGeom>
          <a:noFill/>
          <a:ln>
            <a:noFill/>
          </a:ln>
        </p:spPr>
        <p:txBody>
          <a:bodyPr wrap="none" lIns="0" tIns="0" rIns="0" bIns="0" anchor="t" anchorCtr="0">
            <a:spAutoFit/>
          </a:bodyPr>
          <a:lstStyle/>
          <a:p>
            <a:pPr algn="ctr"/>
            <a:r>
              <a:rPr lang="zh-CN" sz="3600" b="1" dirty="0">
                <a:solidFill>
                  <a:srgbClr val="000000"/>
                </a:solidFill>
                <a:latin typeface="Arial"/>
                <a:ea typeface="Microsoft YaHei"/>
                <a:cs typeface="Arial"/>
              </a:rPr>
              <a:t>核心亮点与差异化优势</a:t>
            </a:r>
          </a:p>
        </p:txBody>
      </p:sp>
      <p:sp>
        <p:nvSpPr>
          <p:cNvPr id="12" name="Line 12"/>
          <p:cNvSpPr/>
          <p:nvPr/>
        </p:nvSpPr>
        <p:spPr>
          <a:xfrm>
            <a:off x="4572000" y="4286250"/>
            <a:ext cx="3048000" cy="9525"/>
          </a:xfrm>
          <a:custGeom>
            <a:avLst/>
            <a:gdLst/>
            <a:ahLst/>
            <a:cxnLst/>
            <a:rect l="l" t="t" r="r" b="b"/>
            <a:pathLst>
              <a:path w="3048000" h="9525">
                <a:moveTo>
                  <a:pt x="0" y="0"/>
                </a:moveTo>
                <a:lnTo>
                  <a:pt x="3048000" y="0"/>
                </a:lnTo>
              </a:path>
            </a:pathLst>
          </a:custGeom>
          <a:noFill/>
          <a:ln w="28575">
            <a:solidFill>
              <a:srgbClr val="C00000"/>
            </a:solidFill>
          </a:ln>
        </p:spPr>
      </p:sp>
      <p:sp>
        <p:nvSpPr>
          <p:cNvPr id="13" name="Line 13"/>
          <p:cNvSpPr/>
          <p:nvPr/>
        </p:nvSpPr>
        <p:spPr>
          <a:xfrm>
            <a:off x="4953000" y="4362450"/>
            <a:ext cx="2286000" cy="9525"/>
          </a:xfrm>
          <a:custGeom>
            <a:avLst/>
            <a:gdLst/>
            <a:ahLst/>
            <a:cxnLst/>
            <a:rect l="l" t="t" r="r" b="b"/>
            <a:pathLst>
              <a:path w="2286000" h="9525">
                <a:moveTo>
                  <a:pt x="0" y="0"/>
                </a:moveTo>
                <a:lnTo>
                  <a:pt x="2286000" y="0"/>
                </a:lnTo>
              </a:path>
            </a:pathLst>
          </a:custGeom>
          <a:noFill/>
          <a:ln w="9525">
            <a:solidFill>
              <a:srgbClr val="2E75B6"/>
            </a:solidFill>
          </a:ln>
        </p:spPr>
      </p:sp>
      <p:sp>
        <p:nvSpPr>
          <p:cNvPr id="14" name="TextBox 14"/>
          <p:cNvSpPr txBox="1"/>
          <p:nvPr/>
        </p:nvSpPr>
        <p:spPr>
          <a:xfrm>
            <a:off x="4246721" y="4695825"/>
            <a:ext cx="3698558" cy="304800"/>
          </a:xfrm>
          <a:prstGeom prst="rect">
            <a:avLst/>
          </a:prstGeom>
          <a:noFill/>
          <a:ln>
            <a:noFill/>
          </a:ln>
        </p:spPr>
        <p:txBody>
          <a:bodyPr wrap="none" lIns="0" tIns="0" rIns="0" bIns="0" anchor="t" anchorCtr="0">
            <a:spAutoFit/>
          </a:bodyPr>
          <a:lstStyle/>
          <a:p>
            <a:pPr algn="ctr"/>
            <a:r>
              <a:rPr lang="zh-CN" sz="1500" dirty="0">
                <a:solidFill>
                  <a:srgbClr val="666666"/>
                </a:solidFill>
                <a:latin typeface="Arial"/>
                <a:ea typeface="Microsoft YaHei"/>
                <a:cs typeface="Arial"/>
              </a:rPr>
              <a:t>推理型认知 · 协同智能体 · 知识闭环蒸馏</a:t>
            </a:r>
          </a:p>
        </p:txBody>
      </p:sp>
      <p:sp>
        <p:nvSpPr>
          <p:cNvPr id="15" name="Rectangle 15"/>
          <p:cNvSpPr/>
          <p:nvPr/>
        </p:nvSpPr>
        <p:spPr>
          <a:xfrm>
            <a:off x="0" y="6572250"/>
            <a:ext cx="12192000" cy="285750"/>
          </a:xfrm>
          <a:prstGeom prst="rect">
            <a:avLst/>
          </a:prstGeom>
          <a:solidFill>
            <a:srgbClr val="2E75B6"/>
          </a:solidFill>
          <a:ln>
            <a:noFill/>
          </a:ln>
        </p:spPr>
      </p:sp>
      <p:sp>
        <p:nvSpPr>
          <p:cNvPr id="16" name="Rectangle 16"/>
          <p:cNvSpPr/>
          <p:nvPr/>
        </p:nvSpPr>
        <p:spPr>
          <a:xfrm>
            <a:off x="0" y="6477000"/>
            <a:ext cx="12192000" cy="95250"/>
          </a:xfrm>
          <a:prstGeom prst="rect">
            <a:avLst/>
          </a:prstGeom>
          <a:solidFill>
            <a:srgbClr val="FDF3EB"/>
          </a:solidFill>
          <a:ln>
            <a:noFill/>
          </a:ln>
        </p:spPr>
      </p:sp>
    </p:spTree>
  </p:cSld>
  <p:clrMapOvr>
    <a:masterClrMapping/>
  </p:clrMapOvr>
  <p:transition xmlns:p14="http://schemas.microsoft.com/office/powerpoint/2010/main" p14:dur="400">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38100"/>
          </a:xfrm>
          <a:prstGeom prst="rect">
            <a:avLst/>
          </a:prstGeom>
          <a:solidFill>
            <a:srgbClr val="C00000"/>
          </a:solidFill>
          <a:ln>
            <a:noFill/>
          </a:ln>
        </p:spPr>
      </p:sp>
      <p:sp>
        <p:nvSpPr>
          <p:cNvPr id="4" name="Rectangle 4"/>
          <p:cNvSpPr/>
          <p:nvPr/>
        </p:nvSpPr>
        <p:spPr>
          <a:xfrm>
            <a:off x="0" y="38100"/>
            <a:ext cx="12192000" cy="723900"/>
          </a:xfrm>
          <a:prstGeom prst="rect">
            <a:avLst/>
          </a:prstGeom>
          <a:solidFill>
            <a:srgbClr val="FFFFFF"/>
          </a:solidFill>
          <a:ln>
            <a:noFill/>
          </a:ln>
        </p:spPr>
      </p:sp>
      <p:sp>
        <p:nvSpPr>
          <p:cNvPr id="5" name="Line 5"/>
          <p:cNvSpPr/>
          <p:nvPr/>
        </p:nvSpPr>
        <p:spPr>
          <a:xfrm>
            <a:off x="0" y="762000"/>
            <a:ext cx="12192000" cy="9525"/>
          </a:xfrm>
          <a:custGeom>
            <a:avLst/>
            <a:gdLst/>
            <a:ahLst/>
            <a:cxnLst/>
            <a:rect l="l" t="t" r="r" b="b"/>
            <a:pathLst>
              <a:path w="12192000" h="9525">
                <a:moveTo>
                  <a:pt x="0" y="0"/>
                </a:moveTo>
                <a:lnTo>
                  <a:pt x="12192000" y="0"/>
                </a:lnTo>
              </a:path>
            </a:pathLst>
          </a:custGeom>
          <a:noFill/>
          <a:ln w="9525">
            <a:solidFill>
              <a:srgbClr val="E7E6E6"/>
            </a:solidFill>
          </a:ln>
        </p:spPr>
      </p:sp>
      <p:sp>
        <p:nvSpPr>
          <p:cNvPr id="6" name="Rectangle 6"/>
          <p:cNvSpPr/>
          <p:nvPr/>
        </p:nvSpPr>
        <p:spPr>
          <a:xfrm>
            <a:off x="476250" y="190500"/>
            <a:ext cx="76200" cy="381000"/>
          </a:xfrm>
          <a:prstGeom prst="rect">
            <a:avLst/>
          </a:prstGeom>
          <a:solidFill>
            <a:srgbClr val="C00000"/>
          </a:solidFill>
          <a:ln>
            <a:noFill/>
          </a:ln>
        </p:spPr>
      </p:sp>
      <p:sp>
        <p:nvSpPr>
          <p:cNvPr id="7" name="TextBox 7"/>
          <p:cNvSpPr txBox="1"/>
          <p:nvPr/>
        </p:nvSpPr>
        <p:spPr>
          <a:xfrm>
            <a:off x="655320" y="236220"/>
            <a:ext cx="5840882" cy="487680"/>
          </a:xfrm>
          <a:prstGeom prst="rect">
            <a:avLst/>
          </a:prstGeom>
          <a:noFill/>
          <a:ln>
            <a:noFill/>
          </a:ln>
        </p:spPr>
        <p:txBody>
          <a:bodyPr wrap="none" lIns="0" tIns="0" rIns="0" bIns="0" anchor="t" anchorCtr="0">
            <a:spAutoFit/>
          </a:bodyPr>
          <a:lstStyle/>
          <a:p>
            <a:pPr algn="l"/>
            <a:r>
              <a:rPr lang="zh-CN" sz="2400" b="1" dirty="0">
                <a:solidFill>
                  <a:srgbClr val="000000"/>
                </a:solidFill>
                <a:latin typeface="Arial"/>
                <a:ea typeface="Microsoft YaHei"/>
                <a:cs typeface="Arial"/>
              </a:rPr>
              <a:t>亮点一：从"检索"到"推理"的认知跃升</a:t>
            </a:r>
          </a:p>
        </p:txBody>
      </p:sp>
      <p:sp>
        <p:nvSpPr>
          <p:cNvPr id="8" name="Rectangle 8"/>
          <p:cNvSpPr/>
          <p:nvPr/>
        </p:nvSpPr>
        <p:spPr>
          <a:xfrm>
            <a:off x="476250" y="904875"/>
            <a:ext cx="11239500" cy="476250"/>
          </a:xfrm>
          <a:prstGeom prst="rect">
            <a:avLst/>
          </a:prstGeom>
          <a:solidFill>
            <a:srgbClr val="F2F2F2"/>
          </a:solidFill>
          <a:ln>
            <a:noFill/>
          </a:ln>
        </p:spPr>
      </p:sp>
      <p:sp>
        <p:nvSpPr>
          <p:cNvPr id="9" name="TextBox 9"/>
          <p:cNvSpPr txBox="1"/>
          <p:nvPr/>
        </p:nvSpPr>
        <p:spPr>
          <a:xfrm>
            <a:off x="3744468" y="1061085"/>
            <a:ext cx="4703064" cy="243840"/>
          </a:xfrm>
          <a:prstGeom prst="rect">
            <a:avLst/>
          </a:prstGeom>
          <a:noFill/>
          <a:ln>
            <a:noFill/>
          </a:ln>
        </p:spPr>
        <p:txBody>
          <a:bodyPr wrap="none" lIns="0" tIns="0" rIns="0" bIns="0" anchor="t" anchorCtr="0">
            <a:spAutoFit/>
          </a:bodyPr>
          <a:lstStyle/>
          <a:p>
            <a:pPr algn="ctr"/>
            <a:r>
              <a:rPr lang="zh-CN" sz="1200" dirty="0">
                <a:solidFill>
                  <a:srgbClr val="333333"/>
                </a:solidFill>
                <a:latin typeface="Arial"/>
                <a:ea typeface="Microsoft YaHei"/>
                <a:cs typeface="Arial"/>
              </a:rPr>
              <a:t>大模型实现多步因果推理，不仅告诉你"怎么做"，更解释"为什么"</a:t>
            </a:r>
          </a:p>
        </p:txBody>
      </p:sp>
      <p:sp>
        <p:nvSpPr>
          <p:cNvPr id="10" name="Rectangle 10"/>
          <p:cNvSpPr/>
          <p:nvPr/>
        </p:nvSpPr>
        <p:spPr>
          <a:xfrm>
            <a:off x="0" y="6477000"/>
            <a:ext cx="12192000" cy="381000"/>
          </a:xfrm>
          <a:prstGeom prst="rect">
            <a:avLst/>
          </a:prstGeom>
          <a:solidFill>
            <a:srgbClr val="F2F2F2"/>
          </a:solidFill>
          <a:ln>
            <a:noFill/>
          </a:ln>
        </p:spPr>
      </p:sp>
      <p:sp>
        <p:nvSpPr>
          <p:cNvPr id="11" name="Rectangle 11"/>
          <p:cNvSpPr/>
          <p:nvPr/>
        </p:nvSpPr>
        <p:spPr>
          <a:xfrm>
            <a:off x="0" y="6477000"/>
            <a:ext cx="38100" cy="381000"/>
          </a:xfrm>
          <a:prstGeom prst="rect">
            <a:avLst/>
          </a:prstGeom>
          <a:solidFill>
            <a:srgbClr val="C00000"/>
          </a:solidFill>
          <a:ln>
            <a:noFill/>
          </a:ln>
        </p:spPr>
      </p:sp>
      <p:sp>
        <p:nvSpPr>
          <p:cNvPr id="12" name="TextBox 12"/>
          <p:cNvSpPr txBox="1"/>
          <p:nvPr/>
        </p:nvSpPr>
        <p:spPr>
          <a:xfrm>
            <a:off x="558165" y="6611302"/>
            <a:ext cx="586740" cy="213360"/>
          </a:xfrm>
          <a:prstGeom prst="rect">
            <a:avLst/>
          </a:prstGeom>
          <a:noFill/>
          <a:ln>
            <a:noFill/>
          </a:ln>
        </p:spPr>
        <p:txBody>
          <a:bodyPr wrap="none" lIns="0" tIns="0" rIns="0" bIns="0" anchor="t" anchorCtr="0">
            <a:spAutoFit/>
          </a:bodyPr>
          <a:lstStyle/>
          <a:p>
            <a:pPr algn="l"/>
            <a:r>
              <a:rPr lang="zh-CN" sz="1050" dirty="0">
                <a:solidFill>
                  <a:srgbClr val="666666"/>
                </a:solidFill>
                <a:latin typeface="Arial"/>
                <a:ea typeface="Microsoft YaHei"/>
                <a:cs typeface="Arial"/>
              </a:rPr>
              <a:t>核心亮点</a:t>
            </a:r>
          </a:p>
        </p:txBody>
      </p:sp>
      <p:sp>
        <p:nvSpPr>
          <p:cNvPr id="13" name="Rectangle 13"/>
          <p:cNvSpPr/>
          <p:nvPr/>
        </p:nvSpPr>
        <p:spPr>
          <a:xfrm>
            <a:off x="11525250" y="6553200"/>
            <a:ext cx="285750" cy="228600"/>
          </a:xfrm>
          <a:prstGeom prst="rect">
            <a:avLst/>
          </a:prstGeom>
          <a:solidFill>
            <a:srgbClr val="C00000"/>
          </a:solidFill>
          <a:ln>
            <a:noFill/>
          </a:ln>
        </p:spPr>
      </p:sp>
      <p:sp>
        <p:nvSpPr>
          <p:cNvPr id="14" name="TextBox 14"/>
          <p:cNvSpPr txBox="1"/>
          <p:nvPr/>
        </p:nvSpPr>
        <p:spPr>
          <a:xfrm>
            <a:off x="11573930" y="6611302"/>
            <a:ext cx="188390"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Arial"/>
                <a:ea typeface="Microsoft YaHei"/>
                <a:cs typeface="Arial"/>
              </a:rPr>
              <a:t>12</a:t>
            </a:r>
          </a:p>
        </p:txBody>
      </p:sp>
      <p:sp>
        <p:nvSpPr>
          <p:cNvPr id="15" name="Rectangle 15"/>
          <p:cNvSpPr/>
          <p:nvPr/>
        </p:nvSpPr>
        <p:spPr>
          <a:xfrm>
            <a:off x="571500" y="1571625"/>
            <a:ext cx="5286375" cy="1238250"/>
          </a:xfrm>
          <a:prstGeom prst="roundRect">
            <a:avLst>
              <a:gd name="adj" fmla="val 3077"/>
            </a:avLst>
          </a:prstGeom>
          <a:solidFill>
            <a:srgbClr val="FFFFFF"/>
          </a:solidFill>
          <a:ln w="19050">
            <a:solidFill>
              <a:srgbClr val="E7E6E6"/>
            </a:solidFill>
          </a:ln>
        </p:spPr>
      </p:sp>
      <p:sp>
        <p:nvSpPr>
          <p:cNvPr id="16" name="Rectangle 16"/>
          <p:cNvSpPr/>
          <p:nvPr/>
        </p:nvSpPr>
        <p:spPr>
          <a:xfrm>
            <a:off x="571500" y="1571625"/>
            <a:ext cx="5286375" cy="333375"/>
          </a:xfrm>
          <a:prstGeom prst="roundRect">
            <a:avLst>
              <a:gd name="adj" fmla="val 11429"/>
            </a:avLst>
          </a:prstGeom>
          <a:solidFill>
            <a:srgbClr val="F2F2F2"/>
          </a:solidFill>
          <a:ln>
            <a:noFill/>
          </a:ln>
        </p:spPr>
      </p:sp>
      <p:sp>
        <p:nvSpPr>
          <p:cNvPr id="17" name="Rectangle 17"/>
          <p:cNvSpPr/>
          <p:nvPr/>
        </p:nvSpPr>
        <p:spPr>
          <a:xfrm>
            <a:off x="571500" y="1571625"/>
            <a:ext cx="76200" cy="333375"/>
          </a:xfrm>
          <a:prstGeom prst="rect">
            <a:avLst/>
          </a:prstGeom>
          <a:solidFill>
            <a:srgbClr val="999999"/>
          </a:solidFill>
          <a:ln>
            <a:noFill/>
          </a:ln>
        </p:spPr>
      </p:sp>
      <p:sp>
        <p:nvSpPr>
          <p:cNvPr id="18" name="TextBox 18"/>
          <p:cNvSpPr txBox="1"/>
          <p:nvPr/>
        </p:nvSpPr>
        <p:spPr>
          <a:xfrm>
            <a:off x="2438590" y="1670685"/>
            <a:ext cx="1542669" cy="243840"/>
          </a:xfrm>
          <a:prstGeom prst="rect">
            <a:avLst/>
          </a:prstGeom>
          <a:noFill/>
          <a:ln>
            <a:noFill/>
          </a:ln>
        </p:spPr>
        <p:txBody>
          <a:bodyPr wrap="none" lIns="0" tIns="0" rIns="0" bIns="0" anchor="t" anchorCtr="0">
            <a:spAutoFit/>
          </a:bodyPr>
          <a:lstStyle/>
          <a:p>
            <a:pPr algn="ctr"/>
            <a:r>
              <a:rPr lang="zh-CN" sz="1200" b="1" dirty="0">
                <a:solidFill>
                  <a:srgbClr val="666666"/>
                </a:solidFill>
                <a:latin typeface="Arial"/>
                <a:ea typeface="Microsoft YaHei"/>
                <a:cs typeface="Arial"/>
              </a:rPr>
              <a:t>传统方式：检索驱动</a:t>
            </a:r>
          </a:p>
        </p:txBody>
      </p:sp>
      <p:sp>
        <p:nvSpPr>
          <p:cNvPr id="19" name="TextBox 19"/>
          <p:cNvSpPr txBox="1"/>
          <p:nvPr/>
        </p:nvSpPr>
        <p:spPr>
          <a:xfrm>
            <a:off x="748665" y="2029778"/>
            <a:ext cx="2588990" cy="213360"/>
          </a:xfrm>
          <a:prstGeom prst="rect">
            <a:avLst/>
          </a:prstGeom>
          <a:noFill/>
          <a:ln>
            <a:noFill/>
          </a:ln>
        </p:spPr>
        <p:txBody>
          <a:bodyPr wrap="none" lIns="0" tIns="0" rIns="0" bIns="0" anchor="t" anchorCtr="0">
            <a:spAutoFit/>
          </a:bodyPr>
          <a:lstStyle/>
          <a:p>
            <a:pPr algn="l"/>
            <a:r>
              <a:rPr lang="zh-CN" sz="1050" dirty="0">
                <a:solidFill>
                  <a:srgbClr val="333333"/>
                </a:solidFill>
                <a:latin typeface="Arial"/>
                <a:ea typeface="Microsoft YaHei"/>
                <a:cs typeface="Arial"/>
              </a:rPr>
              <a:t>告警 → 历史案例检索 → 推荐步骤（黑盒）</a:t>
            </a:r>
          </a:p>
        </p:txBody>
      </p:sp>
      <p:sp>
        <p:nvSpPr>
          <p:cNvPr id="20" name="Polygon 20"/>
          <p:cNvSpPr/>
          <p:nvPr/>
        </p:nvSpPr>
        <p:spPr>
          <a:xfrm>
            <a:off x="6096000" y="1952625"/>
            <a:ext cx="285750" cy="190500"/>
          </a:xfrm>
          <a:custGeom>
            <a:avLst/>
            <a:gdLst/>
            <a:ahLst/>
            <a:cxnLst/>
            <a:rect l="l" t="t" r="r" b="b"/>
            <a:pathLst>
              <a:path w="285750" h="190500">
                <a:moveTo>
                  <a:pt x="0" y="0"/>
                </a:moveTo>
                <a:lnTo>
                  <a:pt x="285750" y="95250"/>
                </a:lnTo>
                <a:lnTo>
                  <a:pt x="0" y="190500"/>
                </a:lnTo>
                <a:close/>
              </a:path>
            </a:pathLst>
          </a:custGeom>
          <a:solidFill>
            <a:srgbClr val="C00000"/>
          </a:solidFill>
          <a:ln>
            <a:noFill/>
          </a:ln>
        </p:spPr>
      </p:sp>
      <p:sp>
        <p:nvSpPr>
          <p:cNvPr id="21" name="Line 21"/>
          <p:cNvSpPr/>
          <p:nvPr/>
        </p:nvSpPr>
        <p:spPr>
          <a:xfrm>
            <a:off x="5857875" y="2047875"/>
            <a:ext cx="523875" cy="9525"/>
          </a:xfrm>
          <a:custGeom>
            <a:avLst/>
            <a:gdLst/>
            <a:ahLst/>
            <a:cxnLst/>
            <a:rect l="l" t="t" r="r" b="b"/>
            <a:pathLst>
              <a:path w="523875" h="9525">
                <a:moveTo>
                  <a:pt x="0" y="0"/>
                </a:moveTo>
                <a:lnTo>
                  <a:pt x="523875" y="0"/>
                </a:lnTo>
              </a:path>
            </a:pathLst>
          </a:custGeom>
          <a:noFill/>
          <a:ln w="19050">
            <a:solidFill>
              <a:srgbClr val="C00000"/>
            </a:solidFill>
          </a:ln>
        </p:spPr>
      </p:sp>
      <p:sp>
        <p:nvSpPr>
          <p:cNvPr id="22" name="TextBox 22"/>
          <p:cNvSpPr txBox="1"/>
          <p:nvPr/>
        </p:nvSpPr>
        <p:spPr>
          <a:xfrm>
            <a:off x="6463665" y="1963102"/>
            <a:ext cx="320707" cy="213360"/>
          </a:xfrm>
          <a:prstGeom prst="rect">
            <a:avLst/>
          </a:prstGeom>
          <a:noFill/>
          <a:ln>
            <a:noFill/>
          </a:ln>
        </p:spPr>
        <p:txBody>
          <a:bodyPr wrap="none" lIns="0" tIns="0" rIns="0" bIns="0" anchor="t" anchorCtr="0">
            <a:spAutoFit/>
          </a:bodyPr>
          <a:lstStyle/>
          <a:p>
            <a:pPr algn="l"/>
            <a:r>
              <a:rPr lang="zh-CN" sz="1050" b="1" dirty="0">
                <a:solidFill>
                  <a:srgbClr val="C00000"/>
                </a:solidFill>
                <a:latin typeface="Arial"/>
                <a:ea typeface="Microsoft YaHei"/>
                <a:cs typeface="Arial"/>
              </a:rPr>
              <a:t>升级</a:t>
            </a:r>
          </a:p>
        </p:txBody>
      </p:sp>
      <p:sp>
        <p:nvSpPr>
          <p:cNvPr id="23" name="Rectangle 23"/>
          <p:cNvSpPr/>
          <p:nvPr/>
        </p:nvSpPr>
        <p:spPr>
          <a:xfrm>
            <a:off x="6953250" y="1571625"/>
            <a:ext cx="4667250" cy="1238250"/>
          </a:xfrm>
          <a:prstGeom prst="roundRect">
            <a:avLst>
              <a:gd name="adj" fmla="val 3077"/>
            </a:avLst>
          </a:prstGeom>
          <a:solidFill>
            <a:srgbClr val="FDF3EB"/>
          </a:solidFill>
          <a:ln w="19050">
            <a:solidFill>
              <a:srgbClr val="F8CBAD"/>
            </a:solidFill>
          </a:ln>
        </p:spPr>
      </p:sp>
      <p:sp>
        <p:nvSpPr>
          <p:cNvPr id="24" name="Rectangle 24"/>
          <p:cNvSpPr/>
          <p:nvPr/>
        </p:nvSpPr>
        <p:spPr>
          <a:xfrm>
            <a:off x="6953250" y="1571625"/>
            <a:ext cx="4667250" cy="333375"/>
          </a:xfrm>
          <a:prstGeom prst="roundRect">
            <a:avLst>
              <a:gd name="adj" fmla="val 11429"/>
            </a:avLst>
          </a:prstGeom>
          <a:solidFill>
            <a:srgbClr val="C00000"/>
          </a:solidFill>
          <a:ln>
            <a:noFill/>
          </a:ln>
        </p:spPr>
      </p:sp>
      <p:sp>
        <p:nvSpPr>
          <p:cNvPr id="25" name="TextBox 25"/>
          <p:cNvSpPr txBox="1"/>
          <p:nvPr/>
        </p:nvSpPr>
        <p:spPr>
          <a:xfrm>
            <a:off x="8456733" y="1670685"/>
            <a:ext cx="1660284" cy="243840"/>
          </a:xfrm>
          <a:prstGeom prst="rect">
            <a:avLst/>
          </a:prstGeom>
          <a:noFill/>
          <a:ln>
            <a:noFill/>
          </a:ln>
        </p:spPr>
        <p:txBody>
          <a:bodyPr wrap="none" lIns="0" tIns="0" rIns="0" bIns="0" anchor="t" anchorCtr="0">
            <a:spAutoFit/>
          </a:bodyPr>
          <a:lstStyle/>
          <a:p>
            <a:pPr algn="ctr"/>
            <a:r>
              <a:rPr lang="zh-CN" sz="1200" b="1" dirty="0">
                <a:solidFill>
                  <a:srgbClr val="FFFFFF"/>
                </a:solidFill>
                <a:latin typeface="Arial"/>
                <a:ea typeface="Microsoft YaHei"/>
                <a:cs typeface="Arial"/>
              </a:rPr>
              <a:t>IntelliOps：推理驱动</a:t>
            </a:r>
          </a:p>
        </p:txBody>
      </p:sp>
      <p:sp>
        <p:nvSpPr>
          <p:cNvPr id="26" name="TextBox 26"/>
          <p:cNvSpPr txBox="1"/>
          <p:nvPr/>
        </p:nvSpPr>
        <p:spPr>
          <a:xfrm>
            <a:off x="7131368" y="2037874"/>
            <a:ext cx="2644592" cy="198120"/>
          </a:xfrm>
          <a:prstGeom prst="rect">
            <a:avLst/>
          </a:prstGeom>
          <a:noFill/>
          <a:ln>
            <a:noFill/>
          </a:ln>
        </p:spPr>
        <p:txBody>
          <a:bodyPr wrap="none" lIns="0" tIns="0" rIns="0" bIns="0" anchor="t" anchorCtr="0">
            <a:spAutoFit/>
          </a:bodyPr>
          <a:lstStyle/>
          <a:p>
            <a:pPr algn="l"/>
            <a:r>
              <a:rPr lang="zh-CN" sz="975" dirty="0">
                <a:solidFill>
                  <a:srgbClr val="333333"/>
                </a:solidFill>
                <a:latin typeface="Arial"/>
                <a:ea typeface="Microsoft YaHei"/>
                <a:cs typeface="Arial"/>
              </a:rPr>
              <a:t>告警 + CMDB + 拓扑 + 变更 + 日志摘要 + 案例</a:t>
            </a:r>
          </a:p>
        </p:txBody>
      </p:sp>
      <p:sp>
        <p:nvSpPr>
          <p:cNvPr id="27" name="TextBox 27"/>
          <p:cNvSpPr txBox="1"/>
          <p:nvPr/>
        </p:nvSpPr>
        <p:spPr>
          <a:xfrm>
            <a:off x="7131368" y="2256949"/>
            <a:ext cx="1688973" cy="198120"/>
          </a:xfrm>
          <a:prstGeom prst="rect">
            <a:avLst/>
          </a:prstGeom>
          <a:noFill/>
          <a:ln>
            <a:noFill/>
          </a:ln>
        </p:spPr>
        <p:txBody>
          <a:bodyPr wrap="none" lIns="0" tIns="0" rIns="0" bIns="0" anchor="t" anchorCtr="0">
            <a:spAutoFit/>
          </a:bodyPr>
          <a:lstStyle/>
          <a:p>
            <a:pPr algn="l"/>
            <a:r>
              <a:rPr lang="zh-CN" sz="975" dirty="0">
                <a:solidFill>
                  <a:srgbClr val="333333"/>
                </a:solidFill>
                <a:latin typeface="Arial"/>
                <a:ea typeface="Microsoft YaHei"/>
                <a:cs typeface="Arial"/>
              </a:rPr>
              <a:t>→ Incident Graph → LLM推理</a:t>
            </a:r>
          </a:p>
        </p:txBody>
      </p:sp>
      <p:sp>
        <p:nvSpPr>
          <p:cNvPr id="28" name="TextBox 28"/>
          <p:cNvSpPr txBox="1"/>
          <p:nvPr/>
        </p:nvSpPr>
        <p:spPr>
          <a:xfrm>
            <a:off x="7131368" y="2476024"/>
            <a:ext cx="2124527" cy="198120"/>
          </a:xfrm>
          <a:prstGeom prst="rect">
            <a:avLst/>
          </a:prstGeom>
          <a:noFill/>
          <a:ln>
            <a:noFill/>
          </a:ln>
        </p:spPr>
        <p:txBody>
          <a:bodyPr wrap="none" lIns="0" tIns="0" rIns="0" bIns="0" anchor="t" anchorCtr="0">
            <a:spAutoFit/>
          </a:bodyPr>
          <a:lstStyle/>
          <a:p>
            <a:pPr algn="l"/>
            <a:r>
              <a:rPr lang="zh-CN" sz="975" dirty="0">
                <a:solidFill>
                  <a:srgbClr val="C00000"/>
                </a:solidFill>
                <a:latin typeface="Arial"/>
                <a:ea typeface="Microsoft YaHei"/>
                <a:cs typeface="Arial"/>
              </a:rPr>
              <a:t>→ 排序 + 置信度 + 依据链（可解释）</a:t>
            </a:r>
          </a:p>
        </p:txBody>
      </p:sp>
      <p:sp>
        <p:nvSpPr>
          <p:cNvPr id="29" name="Rectangle 29"/>
          <p:cNvSpPr/>
          <p:nvPr/>
        </p:nvSpPr>
        <p:spPr>
          <a:xfrm>
            <a:off x="571500" y="3000375"/>
            <a:ext cx="11049000" cy="1524000"/>
          </a:xfrm>
          <a:prstGeom prst="roundRect">
            <a:avLst>
              <a:gd name="adj" fmla="val 2500"/>
            </a:avLst>
          </a:prstGeom>
          <a:solidFill>
            <a:srgbClr val="FFFFFF"/>
          </a:solidFill>
          <a:ln w="19050">
            <a:solidFill>
              <a:srgbClr val="E7E6E6"/>
            </a:solidFill>
          </a:ln>
        </p:spPr>
      </p:sp>
      <p:sp>
        <p:nvSpPr>
          <p:cNvPr id="30" name="Rectangle 30"/>
          <p:cNvSpPr/>
          <p:nvPr/>
        </p:nvSpPr>
        <p:spPr>
          <a:xfrm>
            <a:off x="571500" y="3000375"/>
            <a:ext cx="381000" cy="381000"/>
          </a:xfrm>
          <a:prstGeom prst="rect">
            <a:avLst/>
          </a:prstGeom>
          <a:solidFill>
            <a:srgbClr val="C00000"/>
          </a:solidFill>
          <a:ln>
            <a:noFill/>
          </a:ln>
        </p:spPr>
      </p:sp>
      <p:sp>
        <p:nvSpPr>
          <p:cNvPr id="31" name="TextBox 31"/>
          <p:cNvSpPr txBox="1"/>
          <p:nvPr/>
        </p:nvSpPr>
        <p:spPr>
          <a:xfrm>
            <a:off x="711446" y="3086100"/>
            <a:ext cx="101108" cy="304800"/>
          </a:xfrm>
          <a:prstGeom prst="rect">
            <a:avLst/>
          </a:prstGeom>
          <a:noFill/>
          <a:ln>
            <a:noFill/>
          </a:ln>
        </p:spPr>
        <p:txBody>
          <a:bodyPr wrap="none" lIns="0" tIns="0" rIns="0" bIns="0" anchor="t" anchorCtr="0">
            <a:spAutoFit/>
          </a:bodyPr>
          <a:lstStyle/>
          <a:p>
            <a:pPr algn="ctr"/>
            <a:r>
              <a:rPr lang="zh-CN" sz="1500" b="1" dirty="0">
                <a:solidFill>
                  <a:srgbClr val="FFFFFF"/>
                </a:solidFill>
                <a:latin typeface="Arial"/>
                <a:ea typeface="Microsoft YaHei"/>
                <a:cs typeface="Arial"/>
              </a:rPr>
              <a:t>!</a:t>
            </a:r>
          </a:p>
        </p:txBody>
      </p:sp>
      <p:sp>
        <p:nvSpPr>
          <p:cNvPr id="32" name="TextBox 32"/>
          <p:cNvSpPr txBox="1"/>
          <p:nvPr/>
        </p:nvSpPr>
        <p:spPr>
          <a:xfrm>
            <a:off x="1078230" y="3121342"/>
            <a:ext cx="1168432" cy="274320"/>
          </a:xfrm>
          <a:prstGeom prst="rect">
            <a:avLst/>
          </a:prstGeom>
          <a:noFill/>
          <a:ln>
            <a:noFill/>
          </a:ln>
        </p:spPr>
        <p:txBody>
          <a:bodyPr wrap="none" lIns="0" tIns="0" rIns="0" bIns="0" anchor="t" anchorCtr="0">
            <a:spAutoFit/>
          </a:bodyPr>
          <a:lstStyle/>
          <a:p>
            <a:pPr algn="l"/>
            <a:r>
              <a:rPr lang="zh-CN" sz="1350" b="1" dirty="0">
                <a:solidFill>
                  <a:srgbClr val="C00000"/>
                </a:solidFill>
                <a:latin typeface="Arial"/>
                <a:ea typeface="Microsoft YaHei"/>
                <a:cs typeface="Arial"/>
              </a:rPr>
              <a:t>推理输出示例</a:t>
            </a:r>
          </a:p>
        </p:txBody>
      </p:sp>
      <p:sp>
        <p:nvSpPr>
          <p:cNvPr id="33" name="Rectangle 33"/>
          <p:cNvSpPr/>
          <p:nvPr/>
        </p:nvSpPr>
        <p:spPr>
          <a:xfrm>
            <a:off x="762000" y="3524250"/>
            <a:ext cx="5143500" cy="857250"/>
          </a:xfrm>
          <a:prstGeom prst="roundRect">
            <a:avLst>
              <a:gd name="adj" fmla="val 3333"/>
            </a:avLst>
          </a:prstGeom>
          <a:solidFill>
            <a:srgbClr val="F2F2F2"/>
          </a:solidFill>
          <a:ln>
            <a:noFill/>
          </a:ln>
        </p:spPr>
      </p:sp>
      <p:sp>
        <p:nvSpPr>
          <p:cNvPr id="34" name="TextBox 34"/>
          <p:cNvSpPr txBox="1"/>
          <p:nvPr/>
        </p:nvSpPr>
        <p:spPr>
          <a:xfrm>
            <a:off x="939165" y="3649028"/>
            <a:ext cx="2440305" cy="451485"/>
          </a:xfrm>
          <a:prstGeom prst="rect">
            <a:avLst/>
          </a:prstGeom>
          <a:noFill/>
          <a:ln>
            <a:noFill/>
          </a:ln>
        </p:spPr>
        <p:txBody>
          <a:bodyPr wrap="square" lIns="0" tIns="0" rIns="0" bIns="0" anchor="t" anchorCtr="0"/>
          <a:lstStyle/>
          <a:p>
            <a:pPr algn="l">
              <a:lnSpc>
                <a:spcPts val="1875"/>
              </a:lnSpc>
            </a:pPr>
            <a:r>
              <a:rPr lang="zh-CN" sz="1050" dirty="0">
                <a:solidFill>
                  <a:srgbClr val="333333"/>
                </a:solidFill>
                <a:latin typeface="Arial"/>
                <a:ea typeface="Microsoft YaHei"/>
                <a:cs typeface="Arial"/>
              </a:rPr>
              <a:t xml:space="preserve">根因：数据库连接池参数与国产DB不兼容 </a:t>
            </a:r>
            <a:r>
              <a:rPr lang="zh-CN" sz="1050" dirty="0">
                <a:solidFill>
                  <a:srgbClr val="333333"/>
                </a:solidFill>
                <a:latin typeface="Arial"/>
                <a:ea typeface="Microsoft YaHei"/>
                <a:cs typeface="Arial"/>
              </a:rPr>
              <a:t>置信度：82%</a:t>
            </a:r>
          </a:p>
        </p:txBody>
      </p:sp>
      <p:sp>
        <p:nvSpPr>
          <p:cNvPr id="35" name="Rectangle 35"/>
          <p:cNvSpPr/>
          <p:nvPr/>
        </p:nvSpPr>
        <p:spPr>
          <a:xfrm>
            <a:off x="6191250" y="3524250"/>
            <a:ext cx="5238750" cy="857250"/>
          </a:xfrm>
          <a:prstGeom prst="roundRect">
            <a:avLst>
              <a:gd name="adj" fmla="val 3333"/>
            </a:avLst>
          </a:prstGeom>
          <a:solidFill>
            <a:srgbClr val="F2F2F2"/>
          </a:solidFill>
          <a:ln>
            <a:noFill/>
          </a:ln>
        </p:spPr>
      </p:sp>
      <p:sp>
        <p:nvSpPr>
          <p:cNvPr id="36" name="TextBox 36"/>
          <p:cNvSpPr txBox="1"/>
          <p:nvPr/>
        </p:nvSpPr>
        <p:spPr>
          <a:xfrm>
            <a:off x="6368415" y="3649028"/>
            <a:ext cx="1966912" cy="842010"/>
          </a:xfrm>
          <a:prstGeom prst="rect">
            <a:avLst/>
          </a:prstGeom>
          <a:noFill/>
          <a:ln>
            <a:noFill/>
          </a:ln>
        </p:spPr>
        <p:txBody>
          <a:bodyPr wrap="square" lIns="0" tIns="0" rIns="0" bIns="0" anchor="t" anchorCtr="0"/>
          <a:lstStyle/>
          <a:p>
            <a:pPr algn="l">
              <a:lnSpc>
                <a:spcPts val="1650"/>
              </a:lnSpc>
            </a:pPr>
            <a:r>
              <a:rPr lang="zh-CN" sz="1050" dirty="0">
                <a:solidFill>
                  <a:srgbClr val="333333"/>
                </a:solidFill>
                <a:latin typeface="Arial"/>
                <a:ea typeface="Microsoft YaHei"/>
                <a:cs typeface="Arial"/>
              </a:rPr>
              <a:t xml:space="preserve">依据链： </a:t>
            </a:r>
            <a:r>
              <a:rPr lang="zh-CN" sz="1050" dirty="0">
                <a:solidFill>
                  <a:srgbClr val="333333"/>
                </a:solidFill>
                <a:latin typeface="Arial"/>
                <a:ea typeface="Microsoft YaHei"/>
                <a:cs typeface="Arial"/>
              </a:rPr>
              <a:t xml:space="preserve">1. 最近变更 → 连接超时参数降低 </a:t>
            </a:r>
            <a:r>
              <a:rPr lang="zh-CN" sz="1050" dirty="0">
                <a:solidFill>
                  <a:srgbClr val="333333"/>
                </a:solidFill>
                <a:latin typeface="Arial"/>
                <a:ea typeface="Microsoft YaHei"/>
                <a:cs typeface="Arial"/>
              </a:rPr>
              <a:t xml:space="preserve">2. 3个历史相似案例 </a:t>
            </a:r>
            <a:r>
              <a:rPr lang="zh-CN" sz="1050" dirty="0">
                <a:solidFill>
                  <a:srgbClr val="333333"/>
                </a:solidFill>
                <a:latin typeface="Arial"/>
                <a:ea typeface="Microsoft YaHei"/>
                <a:cs typeface="Arial"/>
              </a:rPr>
              <a:t>3. 当前连接等待时间 &gt; 5s</a:t>
            </a:r>
          </a:p>
        </p:txBody>
      </p:sp>
      <p:sp>
        <p:nvSpPr>
          <p:cNvPr id="37" name="Rectangle 37"/>
          <p:cNvSpPr/>
          <p:nvPr/>
        </p:nvSpPr>
        <p:spPr>
          <a:xfrm>
            <a:off x="571500" y="4762500"/>
            <a:ext cx="11049000" cy="523875"/>
          </a:xfrm>
          <a:prstGeom prst="roundRect">
            <a:avLst>
              <a:gd name="adj" fmla="val 7273"/>
            </a:avLst>
          </a:prstGeom>
          <a:solidFill>
            <a:srgbClr val="FDF3EB"/>
          </a:solidFill>
          <a:ln w="19050">
            <a:solidFill>
              <a:srgbClr val="F8CBAD"/>
            </a:solidFill>
          </a:ln>
        </p:spPr>
      </p:sp>
      <p:sp>
        <p:nvSpPr>
          <p:cNvPr id="38" name="Rectangle 38"/>
          <p:cNvSpPr/>
          <p:nvPr/>
        </p:nvSpPr>
        <p:spPr>
          <a:xfrm>
            <a:off x="571500" y="4762500"/>
            <a:ext cx="57150" cy="523875"/>
          </a:xfrm>
          <a:prstGeom prst="rect">
            <a:avLst/>
          </a:prstGeom>
          <a:solidFill>
            <a:srgbClr val="C00000"/>
          </a:solidFill>
          <a:ln>
            <a:noFill/>
          </a:ln>
        </p:spPr>
      </p:sp>
      <p:sp>
        <p:nvSpPr>
          <p:cNvPr id="39" name="TextBox 39"/>
          <p:cNvSpPr txBox="1"/>
          <p:nvPr/>
        </p:nvSpPr>
        <p:spPr>
          <a:xfrm>
            <a:off x="3543643" y="4899660"/>
            <a:ext cx="5104714" cy="243840"/>
          </a:xfrm>
          <a:prstGeom prst="rect">
            <a:avLst/>
          </a:prstGeom>
          <a:noFill/>
          <a:ln>
            <a:noFill/>
          </a:ln>
        </p:spPr>
        <p:txBody>
          <a:bodyPr wrap="none" lIns="0" tIns="0" rIns="0" bIns="0" anchor="t" anchorCtr="0">
            <a:spAutoFit/>
          </a:bodyPr>
          <a:lstStyle/>
          <a:p>
            <a:pPr algn="ctr"/>
            <a:r>
              <a:rPr lang="zh-CN" sz="1200" b="1" dirty="0">
                <a:solidFill>
                  <a:srgbClr val="C00000"/>
                </a:solidFill>
                <a:latin typeface="Arial"/>
                <a:ea typeface="Microsoft YaHei"/>
                <a:cs typeface="Arial"/>
              </a:rPr>
              <a:t>效果：可解释的AI决策 — 运维人员从"被动执行者"变为"主动决策者"</a:t>
            </a:r>
          </a:p>
        </p:txBody>
      </p:sp>
      <p:sp>
        <p:nvSpPr>
          <p:cNvPr id="40" name="TextBox 40"/>
          <p:cNvSpPr txBox="1"/>
          <p:nvPr/>
        </p:nvSpPr>
        <p:spPr>
          <a:xfrm>
            <a:off x="4555927" y="5114449"/>
            <a:ext cx="3080147" cy="198120"/>
          </a:xfrm>
          <a:prstGeom prst="rect">
            <a:avLst/>
          </a:prstGeom>
          <a:noFill/>
          <a:ln>
            <a:noFill/>
          </a:ln>
        </p:spPr>
        <p:txBody>
          <a:bodyPr wrap="none" lIns="0" tIns="0" rIns="0" bIns="0" anchor="t" anchorCtr="0">
            <a:spAutoFit/>
          </a:bodyPr>
          <a:lstStyle/>
          <a:p>
            <a:pPr algn="ctr"/>
            <a:r>
              <a:rPr lang="zh-CN" sz="975" dirty="0">
                <a:solidFill>
                  <a:srgbClr val="666666"/>
                </a:solidFill>
                <a:latin typeface="Arial"/>
                <a:ea typeface="Microsoft YaHei"/>
                <a:cs typeface="Arial"/>
              </a:rPr>
              <a:t>置信度 ≥70% | 依据链完整可追溯 | 风险等级明确提示</a:t>
            </a:r>
          </a:p>
        </p:txBody>
      </p:sp>
      <p:sp>
        <p:nvSpPr>
          <p:cNvPr id="41" name="Rectangle 41"/>
          <p:cNvSpPr/>
          <p:nvPr/>
        </p:nvSpPr>
        <p:spPr>
          <a:xfrm>
            <a:off x="571500" y="5524500"/>
            <a:ext cx="2476500" cy="762000"/>
          </a:xfrm>
          <a:prstGeom prst="roundRect">
            <a:avLst>
              <a:gd name="adj" fmla="val 5000"/>
            </a:avLst>
          </a:prstGeom>
          <a:solidFill>
            <a:srgbClr val="FFFFFF"/>
          </a:solidFill>
          <a:ln w="19050">
            <a:solidFill>
              <a:srgbClr val="E7E6E6"/>
            </a:solidFill>
          </a:ln>
        </p:spPr>
      </p:sp>
      <p:sp>
        <p:nvSpPr>
          <p:cNvPr id="42" name="TextBox 42"/>
          <p:cNvSpPr txBox="1"/>
          <p:nvPr/>
        </p:nvSpPr>
        <p:spPr>
          <a:xfrm>
            <a:off x="1337858" y="5696902"/>
            <a:ext cx="943785" cy="213360"/>
          </a:xfrm>
          <a:prstGeom prst="rect">
            <a:avLst/>
          </a:prstGeom>
          <a:noFill/>
          <a:ln>
            <a:noFill/>
          </a:ln>
        </p:spPr>
        <p:txBody>
          <a:bodyPr wrap="none" lIns="0" tIns="0" rIns="0" bIns="0" anchor="t" anchorCtr="0">
            <a:spAutoFit/>
          </a:bodyPr>
          <a:lstStyle/>
          <a:p>
            <a:pPr algn="ctr"/>
            <a:r>
              <a:rPr lang="zh-CN" sz="1050" dirty="0">
                <a:solidFill>
                  <a:srgbClr val="666666"/>
                </a:solidFill>
                <a:latin typeface="Arial"/>
                <a:ea typeface="Microsoft YaHei"/>
                <a:cs typeface="Arial"/>
              </a:rPr>
              <a:t>阶段B预期效果</a:t>
            </a:r>
          </a:p>
        </p:txBody>
      </p:sp>
      <p:sp>
        <p:nvSpPr>
          <p:cNvPr id="43" name="TextBox 43"/>
          <p:cNvSpPr txBox="1"/>
          <p:nvPr/>
        </p:nvSpPr>
        <p:spPr>
          <a:xfrm>
            <a:off x="961096" y="5981700"/>
            <a:ext cx="1697307" cy="304800"/>
          </a:xfrm>
          <a:prstGeom prst="rect">
            <a:avLst/>
          </a:prstGeom>
          <a:noFill/>
          <a:ln>
            <a:noFill/>
          </a:ln>
        </p:spPr>
        <p:txBody>
          <a:bodyPr wrap="none" lIns="0" tIns="0" rIns="0" bIns="0" anchor="t" anchorCtr="0">
            <a:spAutoFit/>
          </a:bodyPr>
          <a:lstStyle/>
          <a:p>
            <a:pPr algn="ctr"/>
            <a:r>
              <a:rPr lang="zh-CN" sz="1500" b="1" dirty="0">
                <a:solidFill>
                  <a:srgbClr val="C00000"/>
                </a:solidFill>
                <a:latin typeface="Arial"/>
                <a:ea typeface="Microsoft YaHei"/>
                <a:cs typeface="Arial"/>
              </a:rPr>
              <a:t>MTTR降低30-40%</a:t>
            </a:r>
          </a:p>
        </p:txBody>
      </p:sp>
      <p:sp>
        <p:nvSpPr>
          <p:cNvPr id="44" name="Rectangle 44"/>
          <p:cNvSpPr/>
          <p:nvPr/>
        </p:nvSpPr>
        <p:spPr>
          <a:xfrm>
            <a:off x="3333750" y="5524500"/>
            <a:ext cx="2476500" cy="762000"/>
          </a:xfrm>
          <a:prstGeom prst="roundRect">
            <a:avLst>
              <a:gd name="adj" fmla="val 5000"/>
            </a:avLst>
          </a:prstGeom>
          <a:solidFill>
            <a:srgbClr val="FFFFFF"/>
          </a:solidFill>
          <a:ln w="19050">
            <a:solidFill>
              <a:srgbClr val="E7E6E6"/>
            </a:solidFill>
          </a:ln>
        </p:spPr>
      </p:sp>
      <p:sp>
        <p:nvSpPr>
          <p:cNvPr id="45" name="TextBox 45"/>
          <p:cNvSpPr txBox="1"/>
          <p:nvPr/>
        </p:nvSpPr>
        <p:spPr>
          <a:xfrm>
            <a:off x="4208621" y="5696902"/>
            <a:ext cx="726758" cy="213360"/>
          </a:xfrm>
          <a:prstGeom prst="rect">
            <a:avLst/>
          </a:prstGeom>
          <a:noFill/>
          <a:ln>
            <a:noFill/>
          </a:ln>
        </p:spPr>
        <p:txBody>
          <a:bodyPr wrap="none" lIns="0" tIns="0" rIns="0" bIns="0" anchor="t" anchorCtr="0">
            <a:spAutoFit/>
          </a:bodyPr>
          <a:lstStyle/>
          <a:p>
            <a:pPr algn="ctr"/>
            <a:r>
              <a:rPr lang="zh-CN" sz="1050" dirty="0">
                <a:solidFill>
                  <a:srgbClr val="666666"/>
                </a:solidFill>
                <a:latin typeface="Arial"/>
                <a:ea typeface="Microsoft YaHei"/>
                <a:cs typeface="Arial"/>
              </a:rPr>
              <a:t>诊断准确率</a:t>
            </a:r>
          </a:p>
        </p:txBody>
      </p:sp>
      <p:sp>
        <p:nvSpPr>
          <p:cNvPr id="46" name="TextBox 46"/>
          <p:cNvSpPr txBox="1"/>
          <p:nvPr/>
        </p:nvSpPr>
        <p:spPr>
          <a:xfrm>
            <a:off x="4090892" y="5981700"/>
            <a:ext cx="962216" cy="304800"/>
          </a:xfrm>
          <a:prstGeom prst="rect">
            <a:avLst/>
          </a:prstGeom>
          <a:noFill/>
          <a:ln>
            <a:noFill/>
          </a:ln>
        </p:spPr>
        <p:txBody>
          <a:bodyPr wrap="none" lIns="0" tIns="0" rIns="0" bIns="0" anchor="t" anchorCtr="0">
            <a:spAutoFit/>
          </a:bodyPr>
          <a:lstStyle/>
          <a:p>
            <a:pPr algn="ctr"/>
            <a:r>
              <a:rPr lang="zh-CN" sz="1500" b="1" dirty="0">
                <a:solidFill>
                  <a:srgbClr val="C00000"/>
                </a:solidFill>
                <a:latin typeface="Arial"/>
                <a:ea typeface="Microsoft YaHei"/>
                <a:cs typeface="Arial"/>
              </a:rPr>
              <a:t>提升40%+</a:t>
            </a:r>
          </a:p>
        </p:txBody>
      </p:sp>
      <p:sp>
        <p:nvSpPr>
          <p:cNvPr id="47" name="Rectangle 47"/>
          <p:cNvSpPr/>
          <p:nvPr/>
        </p:nvSpPr>
        <p:spPr>
          <a:xfrm>
            <a:off x="6096000" y="5524500"/>
            <a:ext cx="2476500" cy="762000"/>
          </a:xfrm>
          <a:prstGeom prst="roundRect">
            <a:avLst>
              <a:gd name="adj" fmla="val 5000"/>
            </a:avLst>
          </a:prstGeom>
          <a:solidFill>
            <a:srgbClr val="FFFFFF"/>
          </a:solidFill>
          <a:ln w="19050">
            <a:solidFill>
              <a:srgbClr val="E7E6E6"/>
            </a:solidFill>
          </a:ln>
        </p:spPr>
      </p:sp>
      <p:sp>
        <p:nvSpPr>
          <p:cNvPr id="48" name="TextBox 48"/>
          <p:cNvSpPr txBox="1"/>
          <p:nvPr/>
        </p:nvSpPr>
        <p:spPr>
          <a:xfrm>
            <a:off x="6970871" y="5696902"/>
            <a:ext cx="726758" cy="213360"/>
          </a:xfrm>
          <a:prstGeom prst="rect">
            <a:avLst/>
          </a:prstGeom>
          <a:noFill/>
          <a:ln>
            <a:noFill/>
          </a:ln>
        </p:spPr>
        <p:txBody>
          <a:bodyPr wrap="none" lIns="0" tIns="0" rIns="0" bIns="0" anchor="t" anchorCtr="0">
            <a:spAutoFit/>
          </a:bodyPr>
          <a:lstStyle/>
          <a:p>
            <a:pPr algn="ctr"/>
            <a:r>
              <a:rPr lang="zh-CN" sz="1050" dirty="0">
                <a:solidFill>
                  <a:srgbClr val="666666"/>
                </a:solidFill>
                <a:latin typeface="Arial"/>
                <a:ea typeface="Microsoft YaHei"/>
                <a:cs typeface="Arial"/>
              </a:rPr>
              <a:t>推荐置信度</a:t>
            </a:r>
          </a:p>
        </p:txBody>
      </p:sp>
      <p:sp>
        <p:nvSpPr>
          <p:cNvPr id="49" name="TextBox 49"/>
          <p:cNvSpPr txBox="1"/>
          <p:nvPr/>
        </p:nvSpPr>
        <p:spPr>
          <a:xfrm>
            <a:off x="7063168" y="5981700"/>
            <a:ext cx="542163" cy="304800"/>
          </a:xfrm>
          <a:prstGeom prst="rect">
            <a:avLst/>
          </a:prstGeom>
          <a:noFill/>
          <a:ln>
            <a:noFill/>
          </a:ln>
        </p:spPr>
        <p:txBody>
          <a:bodyPr wrap="none" lIns="0" tIns="0" rIns="0" bIns="0" anchor="t" anchorCtr="0">
            <a:spAutoFit/>
          </a:bodyPr>
          <a:lstStyle/>
          <a:p>
            <a:pPr algn="ctr"/>
            <a:r>
              <a:rPr lang="zh-CN" sz="1500" b="1" dirty="0">
                <a:solidFill>
                  <a:srgbClr val="C00000"/>
                </a:solidFill>
                <a:latin typeface="Arial"/>
                <a:ea typeface="Microsoft YaHei"/>
                <a:cs typeface="Arial"/>
              </a:rPr>
              <a:t>≥70%</a:t>
            </a:r>
          </a:p>
        </p:txBody>
      </p:sp>
      <p:sp>
        <p:nvSpPr>
          <p:cNvPr id="50" name="Rectangle 50"/>
          <p:cNvSpPr/>
          <p:nvPr/>
        </p:nvSpPr>
        <p:spPr>
          <a:xfrm>
            <a:off x="8858250" y="5524500"/>
            <a:ext cx="2762250" cy="762000"/>
          </a:xfrm>
          <a:prstGeom prst="roundRect">
            <a:avLst>
              <a:gd name="adj" fmla="val 5000"/>
            </a:avLst>
          </a:prstGeom>
          <a:solidFill>
            <a:srgbClr val="FFFFFF"/>
          </a:solidFill>
          <a:ln w="19050">
            <a:solidFill>
              <a:srgbClr val="E7E6E6"/>
            </a:solidFill>
          </a:ln>
        </p:spPr>
      </p:sp>
      <p:sp>
        <p:nvSpPr>
          <p:cNvPr id="51" name="TextBox 51"/>
          <p:cNvSpPr txBox="1"/>
          <p:nvPr/>
        </p:nvSpPr>
        <p:spPr>
          <a:xfrm>
            <a:off x="9805988" y="5696902"/>
            <a:ext cx="866775" cy="213360"/>
          </a:xfrm>
          <a:prstGeom prst="rect">
            <a:avLst/>
          </a:prstGeom>
          <a:noFill/>
          <a:ln>
            <a:noFill/>
          </a:ln>
        </p:spPr>
        <p:txBody>
          <a:bodyPr wrap="none" lIns="0" tIns="0" rIns="0" bIns="0" anchor="t" anchorCtr="0">
            <a:spAutoFit/>
          </a:bodyPr>
          <a:lstStyle/>
          <a:p>
            <a:pPr algn="ctr"/>
            <a:r>
              <a:rPr lang="zh-CN" sz="1050" dirty="0">
                <a:solidFill>
                  <a:srgbClr val="666666"/>
                </a:solidFill>
                <a:latin typeface="Arial"/>
                <a:ea typeface="Microsoft YaHei"/>
                <a:cs typeface="Arial"/>
              </a:rPr>
              <a:t>排查沟通成本</a:t>
            </a:r>
          </a:p>
        </p:txBody>
      </p:sp>
      <p:sp>
        <p:nvSpPr>
          <p:cNvPr id="52" name="TextBox 52"/>
          <p:cNvSpPr txBox="1"/>
          <p:nvPr/>
        </p:nvSpPr>
        <p:spPr>
          <a:xfrm>
            <a:off x="9800272" y="5981700"/>
            <a:ext cx="878205" cy="304800"/>
          </a:xfrm>
          <a:prstGeom prst="rect">
            <a:avLst/>
          </a:prstGeom>
          <a:noFill/>
          <a:ln>
            <a:noFill/>
          </a:ln>
        </p:spPr>
        <p:txBody>
          <a:bodyPr wrap="none" lIns="0" tIns="0" rIns="0" bIns="0" anchor="t" anchorCtr="0">
            <a:spAutoFit/>
          </a:bodyPr>
          <a:lstStyle/>
          <a:p>
            <a:pPr algn="ctr"/>
            <a:r>
              <a:rPr lang="zh-CN" sz="1500" b="1" dirty="0">
                <a:solidFill>
                  <a:srgbClr val="C00000"/>
                </a:solidFill>
                <a:latin typeface="Arial"/>
                <a:ea typeface="Microsoft YaHei"/>
                <a:cs typeface="Arial"/>
              </a:rPr>
              <a:t>显著降低</a:t>
            </a:r>
          </a:p>
        </p:txBody>
      </p:sp>
    </p:spTree>
  </p:cSld>
  <p:clrMapOvr>
    <a:masterClrMapping/>
  </p:clrMapOvr>
  <p:transition xmlns:p14="http://schemas.microsoft.com/office/powerpoint/2010/main" p14:dur="400">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38100"/>
          </a:xfrm>
          <a:prstGeom prst="rect">
            <a:avLst/>
          </a:prstGeom>
          <a:solidFill>
            <a:srgbClr val="C00000"/>
          </a:solidFill>
          <a:ln>
            <a:noFill/>
          </a:ln>
        </p:spPr>
      </p:sp>
      <p:sp>
        <p:nvSpPr>
          <p:cNvPr id="4" name="Rectangle 4"/>
          <p:cNvSpPr/>
          <p:nvPr/>
        </p:nvSpPr>
        <p:spPr>
          <a:xfrm>
            <a:off x="0" y="38100"/>
            <a:ext cx="12192000" cy="723900"/>
          </a:xfrm>
          <a:prstGeom prst="rect">
            <a:avLst/>
          </a:prstGeom>
          <a:solidFill>
            <a:srgbClr val="FFFFFF"/>
          </a:solidFill>
          <a:ln>
            <a:noFill/>
          </a:ln>
        </p:spPr>
      </p:sp>
      <p:sp>
        <p:nvSpPr>
          <p:cNvPr id="5" name="Line 5"/>
          <p:cNvSpPr/>
          <p:nvPr/>
        </p:nvSpPr>
        <p:spPr>
          <a:xfrm>
            <a:off x="0" y="762000"/>
            <a:ext cx="12192000" cy="9525"/>
          </a:xfrm>
          <a:custGeom>
            <a:avLst/>
            <a:gdLst/>
            <a:ahLst/>
            <a:cxnLst/>
            <a:rect l="l" t="t" r="r" b="b"/>
            <a:pathLst>
              <a:path w="12192000" h="9525">
                <a:moveTo>
                  <a:pt x="0" y="0"/>
                </a:moveTo>
                <a:lnTo>
                  <a:pt x="12192000" y="0"/>
                </a:lnTo>
              </a:path>
            </a:pathLst>
          </a:custGeom>
          <a:noFill/>
          <a:ln w="9525">
            <a:solidFill>
              <a:srgbClr val="E7E6E6"/>
            </a:solidFill>
          </a:ln>
        </p:spPr>
      </p:sp>
      <p:sp>
        <p:nvSpPr>
          <p:cNvPr id="6" name="Rectangle 6"/>
          <p:cNvSpPr/>
          <p:nvPr/>
        </p:nvSpPr>
        <p:spPr>
          <a:xfrm>
            <a:off x="476250" y="190500"/>
            <a:ext cx="76200" cy="381000"/>
          </a:xfrm>
          <a:prstGeom prst="rect">
            <a:avLst/>
          </a:prstGeom>
          <a:solidFill>
            <a:srgbClr val="C00000"/>
          </a:solidFill>
          <a:ln>
            <a:noFill/>
          </a:ln>
        </p:spPr>
      </p:sp>
      <p:sp>
        <p:nvSpPr>
          <p:cNvPr id="7" name="TextBox 7"/>
          <p:cNvSpPr txBox="1"/>
          <p:nvPr/>
        </p:nvSpPr>
        <p:spPr>
          <a:xfrm>
            <a:off x="655320" y="236220"/>
            <a:ext cx="7117842" cy="487680"/>
          </a:xfrm>
          <a:prstGeom prst="rect">
            <a:avLst/>
          </a:prstGeom>
          <a:noFill/>
          <a:ln>
            <a:noFill/>
          </a:ln>
        </p:spPr>
        <p:txBody>
          <a:bodyPr wrap="none" lIns="0" tIns="0" rIns="0" bIns="0" anchor="t" anchorCtr="0">
            <a:spAutoFit/>
          </a:bodyPr>
          <a:lstStyle/>
          <a:p>
            <a:pPr algn="l"/>
            <a:r>
              <a:rPr lang="zh-CN" sz="2400" b="1" dirty="0">
                <a:solidFill>
                  <a:srgbClr val="000000"/>
                </a:solidFill>
                <a:latin typeface="Arial"/>
                <a:ea typeface="Microsoft YaHei"/>
                <a:cs typeface="Arial"/>
              </a:rPr>
              <a:t>亮点二：多角色协同智能体 (War Room Agent)</a:t>
            </a:r>
          </a:p>
        </p:txBody>
      </p:sp>
      <p:sp>
        <p:nvSpPr>
          <p:cNvPr id="8" name="Rectangle 8"/>
          <p:cNvSpPr/>
          <p:nvPr/>
        </p:nvSpPr>
        <p:spPr>
          <a:xfrm>
            <a:off x="476250" y="904875"/>
            <a:ext cx="11239500" cy="476250"/>
          </a:xfrm>
          <a:prstGeom prst="rect">
            <a:avLst/>
          </a:prstGeom>
          <a:solidFill>
            <a:srgbClr val="F2F2F2"/>
          </a:solidFill>
          <a:ln>
            <a:noFill/>
          </a:ln>
        </p:spPr>
      </p:sp>
      <p:sp>
        <p:nvSpPr>
          <p:cNvPr id="9" name="TextBox 9"/>
          <p:cNvSpPr txBox="1"/>
          <p:nvPr/>
        </p:nvSpPr>
        <p:spPr>
          <a:xfrm>
            <a:off x="4012502" y="1061085"/>
            <a:ext cx="4166997" cy="243840"/>
          </a:xfrm>
          <a:prstGeom prst="rect">
            <a:avLst/>
          </a:prstGeom>
          <a:noFill/>
          <a:ln>
            <a:noFill/>
          </a:ln>
        </p:spPr>
        <p:txBody>
          <a:bodyPr wrap="none" lIns="0" tIns="0" rIns="0" bIns="0" anchor="t" anchorCtr="0">
            <a:spAutoFit/>
          </a:bodyPr>
          <a:lstStyle/>
          <a:p>
            <a:pPr algn="ctr"/>
            <a:r>
              <a:rPr lang="zh-CN" sz="1200" dirty="0">
                <a:solidFill>
                  <a:srgbClr val="333333"/>
                </a:solidFill>
                <a:latin typeface="Arial"/>
                <a:ea typeface="Microsoft YaHei"/>
                <a:cs typeface="Arial"/>
              </a:rPr>
              <a:t>AI驱动的虚拟作战室，自动同步状态、推送信息、协调角色</a:t>
            </a:r>
          </a:p>
        </p:txBody>
      </p:sp>
      <p:sp>
        <p:nvSpPr>
          <p:cNvPr id="10" name="Rectangle 10"/>
          <p:cNvSpPr/>
          <p:nvPr/>
        </p:nvSpPr>
        <p:spPr>
          <a:xfrm>
            <a:off x="0" y="6477000"/>
            <a:ext cx="12192000" cy="381000"/>
          </a:xfrm>
          <a:prstGeom prst="rect">
            <a:avLst/>
          </a:prstGeom>
          <a:solidFill>
            <a:srgbClr val="F2F2F2"/>
          </a:solidFill>
          <a:ln>
            <a:noFill/>
          </a:ln>
        </p:spPr>
      </p:sp>
      <p:sp>
        <p:nvSpPr>
          <p:cNvPr id="11" name="Rectangle 11"/>
          <p:cNvSpPr/>
          <p:nvPr/>
        </p:nvSpPr>
        <p:spPr>
          <a:xfrm>
            <a:off x="0" y="6477000"/>
            <a:ext cx="38100" cy="381000"/>
          </a:xfrm>
          <a:prstGeom prst="rect">
            <a:avLst/>
          </a:prstGeom>
          <a:solidFill>
            <a:srgbClr val="C00000"/>
          </a:solidFill>
          <a:ln>
            <a:noFill/>
          </a:ln>
        </p:spPr>
      </p:sp>
      <p:sp>
        <p:nvSpPr>
          <p:cNvPr id="12" name="TextBox 12"/>
          <p:cNvSpPr txBox="1"/>
          <p:nvPr/>
        </p:nvSpPr>
        <p:spPr>
          <a:xfrm>
            <a:off x="558165" y="6611302"/>
            <a:ext cx="586740" cy="213360"/>
          </a:xfrm>
          <a:prstGeom prst="rect">
            <a:avLst/>
          </a:prstGeom>
          <a:noFill/>
          <a:ln>
            <a:noFill/>
          </a:ln>
        </p:spPr>
        <p:txBody>
          <a:bodyPr wrap="none" lIns="0" tIns="0" rIns="0" bIns="0" anchor="t" anchorCtr="0">
            <a:spAutoFit/>
          </a:bodyPr>
          <a:lstStyle/>
          <a:p>
            <a:pPr algn="l"/>
            <a:r>
              <a:rPr lang="zh-CN" sz="1050" dirty="0">
                <a:solidFill>
                  <a:srgbClr val="666666"/>
                </a:solidFill>
                <a:latin typeface="Arial"/>
                <a:ea typeface="Microsoft YaHei"/>
                <a:cs typeface="Arial"/>
              </a:rPr>
              <a:t>核心亮点</a:t>
            </a:r>
          </a:p>
        </p:txBody>
      </p:sp>
      <p:sp>
        <p:nvSpPr>
          <p:cNvPr id="13" name="Rectangle 13"/>
          <p:cNvSpPr/>
          <p:nvPr/>
        </p:nvSpPr>
        <p:spPr>
          <a:xfrm>
            <a:off x="11525250" y="6553200"/>
            <a:ext cx="285750" cy="228600"/>
          </a:xfrm>
          <a:prstGeom prst="rect">
            <a:avLst/>
          </a:prstGeom>
          <a:solidFill>
            <a:srgbClr val="C00000"/>
          </a:solidFill>
          <a:ln>
            <a:noFill/>
          </a:ln>
        </p:spPr>
      </p:sp>
      <p:sp>
        <p:nvSpPr>
          <p:cNvPr id="14" name="TextBox 14"/>
          <p:cNvSpPr txBox="1"/>
          <p:nvPr/>
        </p:nvSpPr>
        <p:spPr>
          <a:xfrm>
            <a:off x="11573930" y="6611302"/>
            <a:ext cx="188390"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Arial"/>
                <a:ea typeface="Microsoft YaHei"/>
                <a:cs typeface="Arial"/>
              </a:rPr>
              <a:t>13</a:t>
            </a:r>
          </a:p>
        </p:txBody>
      </p:sp>
      <p:sp>
        <p:nvSpPr>
          <p:cNvPr id="15" name="Rectangle 15"/>
          <p:cNvSpPr/>
          <p:nvPr/>
        </p:nvSpPr>
        <p:spPr>
          <a:xfrm>
            <a:off x="571500" y="1571625"/>
            <a:ext cx="5286375" cy="1143000"/>
          </a:xfrm>
          <a:prstGeom prst="roundRect">
            <a:avLst>
              <a:gd name="adj" fmla="val 3333"/>
            </a:avLst>
          </a:prstGeom>
          <a:solidFill>
            <a:srgbClr val="FFFFFF"/>
          </a:solidFill>
          <a:ln w="19050">
            <a:solidFill>
              <a:srgbClr val="E7E6E6"/>
            </a:solidFill>
          </a:ln>
        </p:spPr>
      </p:sp>
      <p:sp>
        <p:nvSpPr>
          <p:cNvPr id="16" name="Rectangle 16"/>
          <p:cNvSpPr/>
          <p:nvPr/>
        </p:nvSpPr>
        <p:spPr>
          <a:xfrm>
            <a:off x="571500" y="1571625"/>
            <a:ext cx="5286375" cy="333375"/>
          </a:xfrm>
          <a:prstGeom prst="roundRect">
            <a:avLst>
              <a:gd name="adj" fmla="val 11429"/>
            </a:avLst>
          </a:prstGeom>
          <a:solidFill>
            <a:srgbClr val="F2F2F2"/>
          </a:solidFill>
          <a:ln>
            <a:noFill/>
          </a:ln>
        </p:spPr>
      </p:sp>
      <p:sp>
        <p:nvSpPr>
          <p:cNvPr id="17" name="Rectangle 17"/>
          <p:cNvSpPr/>
          <p:nvPr/>
        </p:nvSpPr>
        <p:spPr>
          <a:xfrm>
            <a:off x="571500" y="1571625"/>
            <a:ext cx="76200" cy="333375"/>
          </a:xfrm>
          <a:prstGeom prst="rect">
            <a:avLst/>
          </a:prstGeom>
          <a:solidFill>
            <a:srgbClr val="999999"/>
          </a:solidFill>
          <a:ln>
            <a:noFill/>
          </a:ln>
        </p:spPr>
      </p:sp>
      <p:sp>
        <p:nvSpPr>
          <p:cNvPr id="18" name="TextBox 18"/>
          <p:cNvSpPr txBox="1"/>
          <p:nvPr/>
        </p:nvSpPr>
        <p:spPr>
          <a:xfrm>
            <a:off x="2858643" y="1670685"/>
            <a:ext cx="702564" cy="243840"/>
          </a:xfrm>
          <a:prstGeom prst="rect">
            <a:avLst/>
          </a:prstGeom>
          <a:noFill/>
          <a:ln>
            <a:noFill/>
          </a:ln>
        </p:spPr>
        <p:txBody>
          <a:bodyPr wrap="none" lIns="0" tIns="0" rIns="0" bIns="0" anchor="t" anchorCtr="0">
            <a:spAutoFit/>
          </a:bodyPr>
          <a:lstStyle/>
          <a:p>
            <a:pPr algn="ctr"/>
            <a:r>
              <a:rPr lang="zh-CN" sz="1200" b="1" dirty="0">
                <a:solidFill>
                  <a:srgbClr val="666666"/>
                </a:solidFill>
                <a:latin typeface="Arial"/>
                <a:ea typeface="Microsoft YaHei"/>
                <a:cs typeface="Arial"/>
              </a:rPr>
              <a:t>传统方式</a:t>
            </a:r>
          </a:p>
        </p:txBody>
      </p:sp>
      <p:sp>
        <p:nvSpPr>
          <p:cNvPr id="19" name="TextBox 19"/>
          <p:cNvSpPr txBox="1"/>
          <p:nvPr/>
        </p:nvSpPr>
        <p:spPr>
          <a:xfrm>
            <a:off x="748665" y="2029778"/>
            <a:ext cx="2448973" cy="213360"/>
          </a:xfrm>
          <a:prstGeom prst="rect">
            <a:avLst/>
          </a:prstGeom>
          <a:noFill/>
          <a:ln>
            <a:noFill/>
          </a:ln>
        </p:spPr>
        <p:txBody>
          <a:bodyPr wrap="none" lIns="0" tIns="0" rIns="0" bIns="0" anchor="t" anchorCtr="0">
            <a:spAutoFit/>
          </a:bodyPr>
          <a:lstStyle/>
          <a:p>
            <a:pPr algn="l"/>
            <a:r>
              <a:rPr lang="zh-CN" sz="1050" dirty="0">
                <a:solidFill>
                  <a:srgbClr val="333333"/>
                </a:solidFill>
                <a:latin typeface="Arial"/>
                <a:ea typeface="Microsoft YaHei"/>
                <a:cs typeface="Arial"/>
              </a:rPr>
              <a:t>人工建群 → 反复询问状态 → 信息碎片化</a:t>
            </a:r>
          </a:p>
        </p:txBody>
      </p:sp>
      <p:sp>
        <p:nvSpPr>
          <p:cNvPr id="20" name="TextBox 20"/>
          <p:cNvSpPr txBox="1"/>
          <p:nvPr/>
        </p:nvSpPr>
        <p:spPr>
          <a:xfrm>
            <a:off x="748665" y="2315528"/>
            <a:ext cx="2644997" cy="213360"/>
          </a:xfrm>
          <a:prstGeom prst="rect">
            <a:avLst/>
          </a:prstGeom>
          <a:noFill/>
          <a:ln>
            <a:noFill/>
          </a:ln>
        </p:spPr>
        <p:txBody>
          <a:bodyPr wrap="none" lIns="0" tIns="0" rIns="0" bIns="0" anchor="t" anchorCtr="0">
            <a:spAutoFit/>
          </a:bodyPr>
          <a:lstStyle/>
          <a:p>
            <a:pPr algn="l"/>
            <a:r>
              <a:rPr lang="zh-CN" sz="1050" dirty="0">
                <a:solidFill>
                  <a:srgbClr val="333333"/>
                </a:solidFill>
                <a:latin typeface="Arial"/>
                <a:ea typeface="Microsoft YaHei"/>
                <a:cs typeface="Arial"/>
              </a:rPr>
              <a:t>角色混乱 → 各角色信息不同步 → MTTR延长</a:t>
            </a:r>
          </a:p>
        </p:txBody>
      </p:sp>
      <p:sp>
        <p:nvSpPr>
          <p:cNvPr id="21" name="Polygon 21"/>
          <p:cNvSpPr/>
          <p:nvPr/>
        </p:nvSpPr>
        <p:spPr>
          <a:xfrm>
            <a:off x="6096000" y="1905000"/>
            <a:ext cx="285750" cy="190500"/>
          </a:xfrm>
          <a:custGeom>
            <a:avLst/>
            <a:gdLst/>
            <a:ahLst/>
            <a:cxnLst/>
            <a:rect l="l" t="t" r="r" b="b"/>
            <a:pathLst>
              <a:path w="285750" h="190500">
                <a:moveTo>
                  <a:pt x="0" y="0"/>
                </a:moveTo>
                <a:lnTo>
                  <a:pt x="285750" y="95250"/>
                </a:lnTo>
                <a:lnTo>
                  <a:pt x="0" y="190500"/>
                </a:lnTo>
                <a:close/>
              </a:path>
            </a:pathLst>
          </a:custGeom>
          <a:solidFill>
            <a:srgbClr val="C00000"/>
          </a:solidFill>
          <a:ln>
            <a:noFill/>
          </a:ln>
        </p:spPr>
      </p:sp>
      <p:sp>
        <p:nvSpPr>
          <p:cNvPr id="22" name="Line 22"/>
          <p:cNvSpPr/>
          <p:nvPr/>
        </p:nvSpPr>
        <p:spPr>
          <a:xfrm>
            <a:off x="5857875" y="2000250"/>
            <a:ext cx="523875" cy="9525"/>
          </a:xfrm>
          <a:custGeom>
            <a:avLst/>
            <a:gdLst/>
            <a:ahLst/>
            <a:cxnLst/>
            <a:rect l="l" t="t" r="r" b="b"/>
            <a:pathLst>
              <a:path w="523875" h="9525">
                <a:moveTo>
                  <a:pt x="0" y="0"/>
                </a:moveTo>
                <a:lnTo>
                  <a:pt x="523875" y="0"/>
                </a:lnTo>
              </a:path>
            </a:pathLst>
          </a:custGeom>
          <a:noFill/>
          <a:ln w="19050">
            <a:solidFill>
              <a:srgbClr val="C00000"/>
            </a:solidFill>
          </a:ln>
        </p:spPr>
      </p:sp>
      <p:sp>
        <p:nvSpPr>
          <p:cNvPr id="23" name="TextBox 23"/>
          <p:cNvSpPr txBox="1"/>
          <p:nvPr/>
        </p:nvSpPr>
        <p:spPr>
          <a:xfrm>
            <a:off x="6463665" y="1915478"/>
            <a:ext cx="320707" cy="213360"/>
          </a:xfrm>
          <a:prstGeom prst="rect">
            <a:avLst/>
          </a:prstGeom>
          <a:noFill/>
          <a:ln>
            <a:noFill/>
          </a:ln>
        </p:spPr>
        <p:txBody>
          <a:bodyPr wrap="none" lIns="0" tIns="0" rIns="0" bIns="0" anchor="t" anchorCtr="0">
            <a:spAutoFit/>
          </a:bodyPr>
          <a:lstStyle/>
          <a:p>
            <a:pPr algn="l"/>
            <a:r>
              <a:rPr lang="zh-CN" sz="1050" b="1" dirty="0">
                <a:solidFill>
                  <a:srgbClr val="C00000"/>
                </a:solidFill>
                <a:latin typeface="Arial"/>
                <a:ea typeface="Microsoft YaHei"/>
                <a:cs typeface="Arial"/>
              </a:rPr>
              <a:t>升级</a:t>
            </a:r>
          </a:p>
        </p:txBody>
      </p:sp>
      <p:sp>
        <p:nvSpPr>
          <p:cNvPr id="24" name="Rectangle 24"/>
          <p:cNvSpPr/>
          <p:nvPr/>
        </p:nvSpPr>
        <p:spPr>
          <a:xfrm>
            <a:off x="6953250" y="1571625"/>
            <a:ext cx="4667250" cy="1143000"/>
          </a:xfrm>
          <a:prstGeom prst="roundRect">
            <a:avLst>
              <a:gd name="adj" fmla="val 3333"/>
            </a:avLst>
          </a:prstGeom>
          <a:solidFill>
            <a:srgbClr val="FDF3EB"/>
          </a:solidFill>
          <a:ln w="19050">
            <a:solidFill>
              <a:srgbClr val="F8CBAD"/>
            </a:solidFill>
          </a:ln>
        </p:spPr>
      </p:sp>
      <p:sp>
        <p:nvSpPr>
          <p:cNvPr id="25" name="Rectangle 25"/>
          <p:cNvSpPr/>
          <p:nvPr/>
        </p:nvSpPr>
        <p:spPr>
          <a:xfrm>
            <a:off x="6953250" y="1571625"/>
            <a:ext cx="4667250" cy="333375"/>
          </a:xfrm>
          <a:prstGeom prst="roundRect">
            <a:avLst>
              <a:gd name="adj" fmla="val 11429"/>
            </a:avLst>
          </a:prstGeom>
          <a:solidFill>
            <a:srgbClr val="C00000"/>
          </a:solidFill>
          <a:ln>
            <a:noFill/>
          </a:ln>
        </p:spPr>
      </p:sp>
      <p:sp>
        <p:nvSpPr>
          <p:cNvPr id="26" name="TextBox 26"/>
          <p:cNvSpPr txBox="1"/>
          <p:nvPr/>
        </p:nvSpPr>
        <p:spPr>
          <a:xfrm>
            <a:off x="8213103" y="1670685"/>
            <a:ext cx="2147545" cy="243840"/>
          </a:xfrm>
          <a:prstGeom prst="rect">
            <a:avLst/>
          </a:prstGeom>
          <a:noFill/>
          <a:ln>
            <a:noFill/>
          </a:ln>
        </p:spPr>
        <p:txBody>
          <a:bodyPr wrap="none" lIns="0" tIns="0" rIns="0" bIns="0" anchor="t" anchorCtr="0">
            <a:spAutoFit/>
          </a:bodyPr>
          <a:lstStyle/>
          <a:p>
            <a:pPr algn="ctr"/>
            <a:r>
              <a:rPr lang="zh-CN" sz="1200" b="1" dirty="0">
                <a:solidFill>
                  <a:srgbClr val="FFFFFF"/>
                </a:solidFill>
                <a:latin typeface="Arial"/>
                <a:ea typeface="Microsoft YaHei"/>
                <a:cs typeface="Arial"/>
              </a:rPr>
              <a:t>IntelliOps War Room Agent</a:t>
            </a:r>
          </a:p>
        </p:txBody>
      </p:sp>
      <p:sp>
        <p:nvSpPr>
          <p:cNvPr id="27" name="TextBox 27"/>
          <p:cNvSpPr txBox="1"/>
          <p:nvPr/>
        </p:nvSpPr>
        <p:spPr>
          <a:xfrm>
            <a:off x="7130415" y="2029778"/>
            <a:ext cx="1286828" cy="213360"/>
          </a:xfrm>
          <a:prstGeom prst="rect">
            <a:avLst/>
          </a:prstGeom>
          <a:noFill/>
          <a:ln>
            <a:noFill/>
          </a:ln>
        </p:spPr>
        <p:txBody>
          <a:bodyPr wrap="none" lIns="0" tIns="0" rIns="0" bIns="0" anchor="t" anchorCtr="0">
            <a:spAutoFit/>
          </a:bodyPr>
          <a:lstStyle/>
          <a:p>
            <a:pPr algn="l"/>
            <a:r>
              <a:rPr lang="zh-CN" sz="1050" dirty="0">
                <a:solidFill>
                  <a:srgbClr val="333333"/>
                </a:solidFill>
                <a:latin typeface="Arial"/>
                <a:ea typeface="Microsoft YaHei"/>
                <a:cs typeface="Arial"/>
              </a:rPr>
              <a:t>自动创建虚拟作战室</a:t>
            </a:r>
          </a:p>
        </p:txBody>
      </p:sp>
      <p:sp>
        <p:nvSpPr>
          <p:cNvPr id="28" name="TextBox 28"/>
          <p:cNvSpPr txBox="1"/>
          <p:nvPr/>
        </p:nvSpPr>
        <p:spPr>
          <a:xfrm>
            <a:off x="7130415" y="2267902"/>
            <a:ext cx="3408093" cy="213360"/>
          </a:xfrm>
          <a:prstGeom prst="rect">
            <a:avLst/>
          </a:prstGeom>
          <a:noFill/>
          <a:ln>
            <a:noFill/>
          </a:ln>
        </p:spPr>
        <p:txBody>
          <a:bodyPr wrap="none" lIns="0" tIns="0" rIns="0" bIns="0" anchor="t" anchorCtr="0">
            <a:spAutoFit/>
          </a:bodyPr>
          <a:lstStyle/>
          <a:p>
            <a:pPr algn="l"/>
            <a:r>
              <a:rPr lang="zh-CN" sz="1050" dirty="0">
                <a:solidFill>
                  <a:srgbClr val="333333"/>
                </a:solidFill>
                <a:latin typeface="Arial"/>
                <a:ea typeface="Microsoft YaHei"/>
                <a:cs typeface="Arial"/>
              </a:rPr>
              <a:t>State Machine同步进度 → 自动时间线 → 角色适配推送</a:t>
            </a:r>
          </a:p>
        </p:txBody>
      </p:sp>
      <p:sp>
        <p:nvSpPr>
          <p:cNvPr id="29" name="TextBox 29"/>
          <p:cNvSpPr txBox="1"/>
          <p:nvPr/>
        </p:nvSpPr>
        <p:spPr>
          <a:xfrm>
            <a:off x="744855" y="3045142"/>
            <a:ext cx="1168432" cy="274320"/>
          </a:xfrm>
          <a:prstGeom prst="rect">
            <a:avLst/>
          </a:prstGeom>
          <a:noFill/>
          <a:ln>
            <a:noFill/>
          </a:ln>
        </p:spPr>
        <p:txBody>
          <a:bodyPr wrap="none" lIns="0" tIns="0" rIns="0" bIns="0" anchor="t" anchorCtr="0">
            <a:spAutoFit/>
          </a:bodyPr>
          <a:lstStyle/>
          <a:p>
            <a:pPr algn="l"/>
            <a:r>
              <a:rPr lang="zh-CN" sz="1350" b="1" dirty="0">
                <a:solidFill>
                  <a:srgbClr val="C00000"/>
                </a:solidFill>
                <a:latin typeface="Arial"/>
                <a:ea typeface="Microsoft YaHei"/>
                <a:cs typeface="Arial"/>
              </a:rPr>
              <a:t>三大受益角色</a:t>
            </a:r>
          </a:p>
        </p:txBody>
      </p:sp>
      <p:sp>
        <p:nvSpPr>
          <p:cNvPr id="30" name="Rectangle 30"/>
          <p:cNvSpPr/>
          <p:nvPr/>
        </p:nvSpPr>
        <p:spPr>
          <a:xfrm>
            <a:off x="571500" y="3381375"/>
            <a:ext cx="3524250" cy="1381125"/>
          </a:xfrm>
          <a:prstGeom prst="roundRect">
            <a:avLst>
              <a:gd name="adj" fmla="val 2759"/>
            </a:avLst>
          </a:prstGeom>
          <a:solidFill>
            <a:srgbClr val="FFFFFF"/>
          </a:solidFill>
          <a:ln w="19050">
            <a:solidFill>
              <a:srgbClr val="E7E6E6"/>
            </a:solidFill>
          </a:ln>
        </p:spPr>
      </p:sp>
      <p:sp>
        <p:nvSpPr>
          <p:cNvPr id="31" name="Rectangle 31"/>
          <p:cNvSpPr/>
          <p:nvPr/>
        </p:nvSpPr>
        <p:spPr>
          <a:xfrm>
            <a:off x="571500" y="3381375"/>
            <a:ext cx="3524250" cy="381000"/>
          </a:xfrm>
          <a:prstGeom prst="roundRect">
            <a:avLst>
              <a:gd name="adj" fmla="val 10000"/>
            </a:avLst>
          </a:prstGeom>
          <a:solidFill>
            <a:srgbClr val="C00000"/>
          </a:solidFill>
          <a:ln>
            <a:noFill/>
          </a:ln>
        </p:spPr>
      </p:sp>
      <p:sp>
        <p:nvSpPr>
          <p:cNvPr id="32" name="TextBox 32"/>
          <p:cNvSpPr txBox="1"/>
          <p:nvPr/>
        </p:nvSpPr>
        <p:spPr>
          <a:xfrm>
            <a:off x="1549689" y="3489960"/>
            <a:ext cx="1567872" cy="243840"/>
          </a:xfrm>
          <a:prstGeom prst="rect">
            <a:avLst/>
          </a:prstGeom>
          <a:noFill/>
          <a:ln>
            <a:noFill/>
          </a:ln>
        </p:spPr>
        <p:txBody>
          <a:bodyPr wrap="none" lIns="0" tIns="0" rIns="0" bIns="0" anchor="t" anchorCtr="0">
            <a:spAutoFit/>
          </a:bodyPr>
          <a:lstStyle/>
          <a:p>
            <a:pPr algn="ctr"/>
            <a:r>
              <a:rPr lang="zh-CN" sz="1200" b="1" dirty="0">
                <a:solidFill>
                  <a:srgbClr val="FFFFFF"/>
                </a:solidFill>
                <a:latin typeface="Arial"/>
                <a:ea typeface="Microsoft YaHei"/>
                <a:cs typeface="Arial"/>
              </a:rPr>
              <a:t>运维值班 / 一线人员</a:t>
            </a:r>
          </a:p>
        </p:txBody>
      </p:sp>
      <p:sp>
        <p:nvSpPr>
          <p:cNvPr id="33" name="TextBox 33"/>
          <p:cNvSpPr txBox="1"/>
          <p:nvPr/>
        </p:nvSpPr>
        <p:spPr>
          <a:xfrm>
            <a:off x="748665" y="3839528"/>
            <a:ext cx="2253615" cy="689610"/>
          </a:xfrm>
          <a:prstGeom prst="rect">
            <a:avLst/>
          </a:prstGeom>
          <a:noFill/>
          <a:ln>
            <a:noFill/>
          </a:ln>
        </p:spPr>
        <p:txBody>
          <a:bodyPr wrap="square" lIns="0" tIns="0" rIns="0" bIns="0" anchor="t" anchorCtr="0"/>
          <a:lstStyle/>
          <a:p>
            <a:pPr algn="l">
              <a:lnSpc>
                <a:spcPts val="1875"/>
              </a:lnSpc>
            </a:pPr>
            <a:r>
              <a:rPr lang="zh-CN" sz="1050" dirty="0">
                <a:solidFill>
                  <a:srgbClr val="333333"/>
                </a:solidFill>
                <a:latin typeface="Arial"/>
                <a:ea typeface="Microsoft YaHei"/>
                <a:cs typeface="Arial"/>
              </a:rPr>
              <a:t xml:space="preserve">Incident Copilot AI助手实时引导排查 </a:t>
            </a:r>
            <a:r>
              <a:rPr lang="zh-CN" sz="1050" dirty="0">
                <a:solidFill>
                  <a:srgbClr val="333333"/>
                </a:solidFill>
                <a:latin typeface="Arial"/>
                <a:ea typeface="Microsoft YaHei"/>
                <a:cs typeface="Arial"/>
              </a:rPr>
              <a:t xml:space="preserve">自动执行命令，减少手工操作 </a:t>
            </a:r>
            <a:r>
              <a:rPr lang="zh-CN" sz="1050" dirty="0">
                <a:solidFill>
                  <a:srgbClr val="333333"/>
                </a:solidFill>
                <a:latin typeface="Arial"/>
                <a:ea typeface="Microsoft YaHei"/>
                <a:cs typeface="Arial"/>
              </a:rPr>
              <a:t>置信度标注，辅助决策判断</a:t>
            </a:r>
          </a:p>
        </p:txBody>
      </p:sp>
      <p:sp>
        <p:nvSpPr>
          <p:cNvPr id="34" name="Rectangle 34"/>
          <p:cNvSpPr/>
          <p:nvPr/>
        </p:nvSpPr>
        <p:spPr>
          <a:xfrm>
            <a:off x="4333875" y="3381375"/>
            <a:ext cx="3524250" cy="1381125"/>
          </a:xfrm>
          <a:prstGeom prst="roundRect">
            <a:avLst>
              <a:gd name="adj" fmla="val 2759"/>
            </a:avLst>
          </a:prstGeom>
          <a:solidFill>
            <a:srgbClr val="FFFFFF"/>
          </a:solidFill>
          <a:ln w="19050">
            <a:solidFill>
              <a:srgbClr val="E7E6E6"/>
            </a:solidFill>
          </a:ln>
        </p:spPr>
      </p:sp>
      <p:sp>
        <p:nvSpPr>
          <p:cNvPr id="35" name="Rectangle 35"/>
          <p:cNvSpPr/>
          <p:nvPr/>
        </p:nvSpPr>
        <p:spPr>
          <a:xfrm>
            <a:off x="4333875" y="3381375"/>
            <a:ext cx="3524250" cy="381000"/>
          </a:xfrm>
          <a:prstGeom prst="roundRect">
            <a:avLst>
              <a:gd name="adj" fmla="val 10000"/>
            </a:avLst>
          </a:prstGeom>
          <a:solidFill>
            <a:srgbClr val="2E75B6"/>
          </a:solidFill>
          <a:ln>
            <a:noFill/>
          </a:ln>
        </p:spPr>
      </p:sp>
      <p:sp>
        <p:nvSpPr>
          <p:cNvPr id="36" name="TextBox 36"/>
          <p:cNvSpPr txBox="1"/>
          <p:nvPr/>
        </p:nvSpPr>
        <p:spPr>
          <a:xfrm>
            <a:off x="5677510" y="3489960"/>
            <a:ext cx="836981" cy="243840"/>
          </a:xfrm>
          <a:prstGeom prst="rect">
            <a:avLst/>
          </a:prstGeom>
          <a:noFill/>
          <a:ln>
            <a:noFill/>
          </a:ln>
        </p:spPr>
        <p:txBody>
          <a:bodyPr wrap="none" lIns="0" tIns="0" rIns="0" bIns="0" anchor="t" anchorCtr="0">
            <a:spAutoFit/>
          </a:bodyPr>
          <a:lstStyle/>
          <a:p>
            <a:pPr algn="ctr"/>
            <a:r>
              <a:rPr lang="zh-CN" sz="1200" b="1" dirty="0">
                <a:solidFill>
                  <a:srgbClr val="FFFFFF"/>
                </a:solidFill>
                <a:latin typeface="Arial"/>
                <a:ea typeface="Microsoft YaHei"/>
                <a:cs typeface="Arial"/>
              </a:rPr>
              <a:t>开发 / DBA</a:t>
            </a:r>
          </a:p>
        </p:txBody>
      </p:sp>
      <p:sp>
        <p:nvSpPr>
          <p:cNvPr id="37" name="TextBox 37"/>
          <p:cNvSpPr txBox="1"/>
          <p:nvPr/>
        </p:nvSpPr>
        <p:spPr>
          <a:xfrm>
            <a:off x="4511040" y="3839528"/>
            <a:ext cx="2366962" cy="689610"/>
          </a:xfrm>
          <a:prstGeom prst="rect">
            <a:avLst/>
          </a:prstGeom>
          <a:noFill/>
          <a:ln>
            <a:noFill/>
          </a:ln>
        </p:spPr>
        <p:txBody>
          <a:bodyPr wrap="square" lIns="0" tIns="0" rIns="0" bIns="0" anchor="t" anchorCtr="0"/>
          <a:lstStyle/>
          <a:p>
            <a:pPr algn="l">
              <a:lnSpc>
                <a:spcPts val="1875"/>
              </a:lnSpc>
            </a:pPr>
            <a:r>
              <a:rPr lang="zh-CN" sz="1050" dirty="0">
                <a:solidFill>
                  <a:srgbClr val="333333"/>
                </a:solidFill>
                <a:latin typeface="Arial"/>
                <a:ea typeface="Microsoft YaHei"/>
                <a:cs typeface="Arial"/>
              </a:rPr>
              <a:t xml:space="preserve">Investigation State Machine进度透明 </a:t>
            </a:r>
            <a:r>
              <a:rPr lang="zh-CN" sz="1050" dirty="0">
                <a:solidFill>
                  <a:srgbClr val="333333"/>
                </a:solidFill>
                <a:latin typeface="Arial"/>
                <a:ea typeface="Microsoft YaHei"/>
                <a:cs typeface="Arial"/>
              </a:rPr>
              <a:t xml:space="preserve">日志自动摘要推送至作战室 </a:t>
            </a:r>
            <a:r>
              <a:rPr lang="zh-CN" sz="1050" dirty="0">
                <a:solidFill>
                  <a:srgbClr val="333333"/>
                </a:solidFill>
                <a:latin typeface="Arial"/>
                <a:ea typeface="Microsoft YaHei"/>
                <a:cs typeface="Arial"/>
              </a:rPr>
              <a:t>无需反复询问，集中精力排查</a:t>
            </a:r>
          </a:p>
        </p:txBody>
      </p:sp>
      <p:sp>
        <p:nvSpPr>
          <p:cNvPr id="38" name="Rectangle 38"/>
          <p:cNvSpPr/>
          <p:nvPr/>
        </p:nvSpPr>
        <p:spPr>
          <a:xfrm>
            <a:off x="8096250" y="3381375"/>
            <a:ext cx="3524250" cy="1381125"/>
          </a:xfrm>
          <a:prstGeom prst="roundRect">
            <a:avLst>
              <a:gd name="adj" fmla="val 2759"/>
            </a:avLst>
          </a:prstGeom>
          <a:solidFill>
            <a:srgbClr val="FFFFFF"/>
          </a:solidFill>
          <a:ln w="19050">
            <a:solidFill>
              <a:srgbClr val="E7E6E6"/>
            </a:solidFill>
          </a:ln>
        </p:spPr>
      </p:sp>
      <p:sp>
        <p:nvSpPr>
          <p:cNvPr id="39" name="Rectangle 39"/>
          <p:cNvSpPr/>
          <p:nvPr/>
        </p:nvSpPr>
        <p:spPr>
          <a:xfrm>
            <a:off x="8096250" y="3381375"/>
            <a:ext cx="3524250" cy="381000"/>
          </a:xfrm>
          <a:prstGeom prst="roundRect">
            <a:avLst>
              <a:gd name="adj" fmla="val 10000"/>
            </a:avLst>
          </a:prstGeom>
          <a:solidFill>
            <a:srgbClr val="5B9BD5"/>
          </a:solidFill>
          <a:ln>
            <a:noFill/>
          </a:ln>
        </p:spPr>
      </p:sp>
      <p:sp>
        <p:nvSpPr>
          <p:cNvPr id="40" name="TextBox 40"/>
          <p:cNvSpPr txBox="1"/>
          <p:nvPr/>
        </p:nvSpPr>
        <p:spPr>
          <a:xfrm>
            <a:off x="9591104" y="3489960"/>
            <a:ext cx="534543" cy="243840"/>
          </a:xfrm>
          <a:prstGeom prst="rect">
            <a:avLst/>
          </a:prstGeom>
          <a:noFill/>
          <a:ln>
            <a:noFill/>
          </a:ln>
        </p:spPr>
        <p:txBody>
          <a:bodyPr wrap="none" lIns="0" tIns="0" rIns="0" bIns="0" anchor="t" anchorCtr="0">
            <a:spAutoFit/>
          </a:bodyPr>
          <a:lstStyle/>
          <a:p>
            <a:pPr algn="ctr"/>
            <a:r>
              <a:rPr lang="zh-CN" sz="1200" b="1" dirty="0">
                <a:solidFill>
                  <a:srgbClr val="FFFFFF"/>
                </a:solidFill>
                <a:latin typeface="Arial"/>
                <a:ea typeface="Microsoft YaHei"/>
                <a:cs typeface="Arial"/>
              </a:rPr>
              <a:t>管理层</a:t>
            </a:r>
          </a:p>
        </p:txBody>
      </p:sp>
      <p:sp>
        <p:nvSpPr>
          <p:cNvPr id="41" name="TextBox 41"/>
          <p:cNvSpPr txBox="1"/>
          <p:nvPr/>
        </p:nvSpPr>
        <p:spPr>
          <a:xfrm>
            <a:off x="8273415" y="3839528"/>
            <a:ext cx="1760220" cy="689610"/>
          </a:xfrm>
          <a:prstGeom prst="rect">
            <a:avLst/>
          </a:prstGeom>
          <a:noFill/>
          <a:ln>
            <a:noFill/>
          </a:ln>
        </p:spPr>
        <p:txBody>
          <a:bodyPr wrap="square" lIns="0" tIns="0" rIns="0" bIns="0" anchor="t" anchorCtr="0"/>
          <a:lstStyle/>
          <a:p>
            <a:pPr algn="l">
              <a:lnSpc>
                <a:spcPts val="1875"/>
              </a:lnSpc>
            </a:pPr>
            <a:r>
              <a:rPr lang="zh-CN" sz="1050" dirty="0">
                <a:solidFill>
                  <a:srgbClr val="333333"/>
                </a:solidFill>
                <a:latin typeface="Arial"/>
                <a:ea typeface="Microsoft YaHei"/>
                <a:cs typeface="Arial"/>
              </a:rPr>
              <a:t xml:space="preserve">自动时间线，全链路可审计 </a:t>
            </a:r>
            <a:r>
              <a:rPr lang="zh-CN" sz="1050" dirty="0">
                <a:solidFill>
                  <a:srgbClr val="333333"/>
                </a:solidFill>
                <a:latin typeface="Arial"/>
                <a:ea typeface="Microsoft YaHei"/>
                <a:cs typeface="Arial"/>
              </a:rPr>
              <a:t xml:space="preserve">事故看板实时状态更新 </a:t>
            </a:r>
            <a:r>
              <a:rPr lang="zh-CN" sz="1050" dirty="0">
                <a:solidFill>
                  <a:srgbClr val="333333"/>
                </a:solidFill>
                <a:latin typeface="Arial"/>
                <a:ea typeface="Microsoft YaHei"/>
                <a:cs typeface="Arial"/>
              </a:rPr>
              <a:t>复盘报告自动生成，闭环跟踪</a:t>
            </a:r>
          </a:p>
        </p:txBody>
      </p:sp>
      <p:sp>
        <p:nvSpPr>
          <p:cNvPr id="42" name="Rectangle 42"/>
          <p:cNvSpPr/>
          <p:nvPr/>
        </p:nvSpPr>
        <p:spPr>
          <a:xfrm>
            <a:off x="571500" y="5048250"/>
            <a:ext cx="11049000" cy="571500"/>
          </a:xfrm>
          <a:prstGeom prst="roundRect">
            <a:avLst>
              <a:gd name="adj" fmla="val 6667"/>
            </a:avLst>
          </a:prstGeom>
          <a:solidFill>
            <a:srgbClr val="FDF3EB"/>
          </a:solidFill>
          <a:ln w="19050">
            <a:solidFill>
              <a:srgbClr val="F8CBAD"/>
            </a:solidFill>
          </a:ln>
        </p:spPr>
      </p:sp>
      <p:sp>
        <p:nvSpPr>
          <p:cNvPr id="43" name="Rectangle 43"/>
          <p:cNvSpPr/>
          <p:nvPr/>
        </p:nvSpPr>
        <p:spPr>
          <a:xfrm>
            <a:off x="571500" y="5048250"/>
            <a:ext cx="57150" cy="571500"/>
          </a:xfrm>
          <a:prstGeom prst="rect">
            <a:avLst/>
          </a:prstGeom>
          <a:solidFill>
            <a:srgbClr val="C00000"/>
          </a:solidFill>
          <a:ln>
            <a:noFill/>
          </a:ln>
        </p:spPr>
      </p:sp>
      <p:sp>
        <p:nvSpPr>
          <p:cNvPr id="44" name="TextBox 44"/>
          <p:cNvSpPr txBox="1"/>
          <p:nvPr/>
        </p:nvSpPr>
        <p:spPr>
          <a:xfrm>
            <a:off x="3783073" y="5156835"/>
            <a:ext cx="4625854" cy="243840"/>
          </a:xfrm>
          <a:prstGeom prst="rect">
            <a:avLst/>
          </a:prstGeom>
          <a:noFill/>
          <a:ln>
            <a:noFill/>
          </a:ln>
        </p:spPr>
        <p:txBody>
          <a:bodyPr wrap="none" lIns="0" tIns="0" rIns="0" bIns="0" anchor="t" anchorCtr="0">
            <a:spAutoFit/>
          </a:bodyPr>
          <a:lstStyle/>
          <a:p>
            <a:pPr algn="ctr"/>
            <a:r>
              <a:rPr lang="zh-CN" sz="1200" b="1" dirty="0">
                <a:solidFill>
                  <a:srgbClr val="C00000"/>
                </a:solidFill>
                <a:latin typeface="Arial"/>
                <a:ea typeface="Microsoft YaHei"/>
                <a:cs typeface="Arial"/>
              </a:rPr>
              <a:t>从"被动等待"到"主动推送" — 每个角色各取所需，全链路协同</a:t>
            </a:r>
          </a:p>
        </p:txBody>
      </p:sp>
      <p:sp>
        <p:nvSpPr>
          <p:cNvPr id="45" name="TextBox 45"/>
          <p:cNvSpPr txBox="1"/>
          <p:nvPr/>
        </p:nvSpPr>
        <p:spPr>
          <a:xfrm>
            <a:off x="4718447" y="5371624"/>
            <a:ext cx="2755106" cy="198120"/>
          </a:xfrm>
          <a:prstGeom prst="rect">
            <a:avLst/>
          </a:prstGeom>
          <a:noFill/>
          <a:ln>
            <a:noFill/>
          </a:ln>
        </p:spPr>
        <p:txBody>
          <a:bodyPr wrap="none" lIns="0" tIns="0" rIns="0" bIns="0" anchor="t" anchorCtr="0">
            <a:spAutoFit/>
          </a:bodyPr>
          <a:lstStyle/>
          <a:p>
            <a:pPr algn="ctr"/>
            <a:r>
              <a:rPr lang="zh-CN" sz="975" dirty="0">
                <a:solidFill>
                  <a:srgbClr val="666666"/>
                </a:solidFill>
                <a:latin typeface="Arial"/>
                <a:ea typeface="Microsoft YaHei"/>
                <a:cs typeface="Arial"/>
              </a:rPr>
              <a:t>信息不再碎片化，排查不再孤立，沟通不再重复</a:t>
            </a:r>
          </a:p>
        </p:txBody>
      </p:sp>
      <p:sp>
        <p:nvSpPr>
          <p:cNvPr id="46" name="Rectangle 46"/>
          <p:cNvSpPr/>
          <p:nvPr/>
        </p:nvSpPr>
        <p:spPr>
          <a:xfrm>
            <a:off x="571500" y="5810250"/>
            <a:ext cx="3524250" cy="523875"/>
          </a:xfrm>
          <a:prstGeom prst="roundRect">
            <a:avLst>
              <a:gd name="adj" fmla="val 7273"/>
            </a:avLst>
          </a:prstGeom>
          <a:solidFill>
            <a:srgbClr val="FFFFFF"/>
          </a:solidFill>
          <a:ln w="19050">
            <a:solidFill>
              <a:srgbClr val="E7E6E6"/>
            </a:solidFill>
          </a:ln>
        </p:spPr>
      </p:sp>
      <p:sp>
        <p:nvSpPr>
          <p:cNvPr id="47" name="TextBox 47"/>
          <p:cNvSpPr txBox="1"/>
          <p:nvPr/>
        </p:nvSpPr>
        <p:spPr>
          <a:xfrm>
            <a:off x="2040255" y="5944552"/>
            <a:ext cx="586740" cy="213360"/>
          </a:xfrm>
          <a:prstGeom prst="rect">
            <a:avLst/>
          </a:prstGeom>
          <a:noFill/>
          <a:ln>
            <a:noFill/>
          </a:ln>
        </p:spPr>
        <p:txBody>
          <a:bodyPr wrap="none" lIns="0" tIns="0" rIns="0" bIns="0" anchor="t" anchorCtr="0">
            <a:spAutoFit/>
          </a:bodyPr>
          <a:lstStyle/>
          <a:p>
            <a:pPr algn="ctr"/>
            <a:r>
              <a:rPr lang="zh-CN" sz="1050" dirty="0">
                <a:solidFill>
                  <a:srgbClr val="666666"/>
                </a:solidFill>
                <a:latin typeface="Arial"/>
                <a:ea typeface="Microsoft YaHei"/>
                <a:cs typeface="Arial"/>
              </a:rPr>
              <a:t>协同效率</a:t>
            </a:r>
          </a:p>
        </p:txBody>
      </p:sp>
      <p:sp>
        <p:nvSpPr>
          <p:cNvPr id="48" name="TextBox 48"/>
          <p:cNvSpPr txBox="1"/>
          <p:nvPr/>
        </p:nvSpPr>
        <p:spPr>
          <a:xfrm>
            <a:off x="1982343" y="6118860"/>
            <a:ext cx="702564" cy="243840"/>
          </a:xfrm>
          <a:prstGeom prst="rect">
            <a:avLst/>
          </a:prstGeom>
          <a:noFill/>
          <a:ln>
            <a:noFill/>
          </a:ln>
        </p:spPr>
        <p:txBody>
          <a:bodyPr wrap="none" lIns="0" tIns="0" rIns="0" bIns="0" anchor="t" anchorCtr="0">
            <a:spAutoFit/>
          </a:bodyPr>
          <a:lstStyle/>
          <a:p>
            <a:pPr algn="ctr"/>
            <a:r>
              <a:rPr lang="zh-CN" sz="1200" b="1" dirty="0">
                <a:solidFill>
                  <a:srgbClr val="C00000"/>
                </a:solidFill>
                <a:latin typeface="Arial"/>
                <a:ea typeface="Microsoft YaHei"/>
                <a:cs typeface="Arial"/>
              </a:rPr>
              <a:t>显著提升</a:t>
            </a:r>
          </a:p>
        </p:txBody>
      </p:sp>
      <p:sp>
        <p:nvSpPr>
          <p:cNvPr id="49" name="Rectangle 49"/>
          <p:cNvSpPr/>
          <p:nvPr/>
        </p:nvSpPr>
        <p:spPr>
          <a:xfrm>
            <a:off x="4333875" y="5810250"/>
            <a:ext cx="3524250" cy="523875"/>
          </a:xfrm>
          <a:prstGeom prst="roundRect">
            <a:avLst>
              <a:gd name="adj" fmla="val 7273"/>
            </a:avLst>
          </a:prstGeom>
          <a:solidFill>
            <a:srgbClr val="FFFFFF"/>
          </a:solidFill>
          <a:ln w="19050">
            <a:solidFill>
              <a:srgbClr val="E7E6E6"/>
            </a:solidFill>
          </a:ln>
        </p:spPr>
      </p:sp>
      <p:sp>
        <p:nvSpPr>
          <p:cNvPr id="50" name="TextBox 50"/>
          <p:cNvSpPr txBox="1"/>
          <p:nvPr/>
        </p:nvSpPr>
        <p:spPr>
          <a:xfrm>
            <a:off x="5662612" y="5944552"/>
            <a:ext cx="866775" cy="213360"/>
          </a:xfrm>
          <a:prstGeom prst="rect">
            <a:avLst/>
          </a:prstGeom>
          <a:noFill/>
          <a:ln>
            <a:noFill/>
          </a:ln>
        </p:spPr>
        <p:txBody>
          <a:bodyPr wrap="none" lIns="0" tIns="0" rIns="0" bIns="0" anchor="t" anchorCtr="0">
            <a:spAutoFit/>
          </a:bodyPr>
          <a:lstStyle/>
          <a:p>
            <a:pPr algn="ctr"/>
            <a:r>
              <a:rPr lang="zh-CN" sz="1050" dirty="0">
                <a:solidFill>
                  <a:srgbClr val="666666"/>
                </a:solidFill>
                <a:latin typeface="Arial"/>
                <a:ea typeface="Microsoft YaHei"/>
                <a:cs typeface="Arial"/>
              </a:rPr>
              <a:t>排查沟通成本</a:t>
            </a:r>
          </a:p>
        </p:txBody>
      </p:sp>
      <p:sp>
        <p:nvSpPr>
          <p:cNvPr id="51" name="TextBox 51"/>
          <p:cNvSpPr txBox="1"/>
          <p:nvPr/>
        </p:nvSpPr>
        <p:spPr>
          <a:xfrm>
            <a:off x="5711114" y="6118860"/>
            <a:ext cx="769772" cy="243840"/>
          </a:xfrm>
          <a:prstGeom prst="rect">
            <a:avLst/>
          </a:prstGeom>
          <a:noFill/>
          <a:ln>
            <a:noFill/>
          </a:ln>
        </p:spPr>
        <p:txBody>
          <a:bodyPr wrap="none" lIns="0" tIns="0" rIns="0" bIns="0" anchor="t" anchorCtr="0">
            <a:spAutoFit/>
          </a:bodyPr>
          <a:lstStyle/>
          <a:p>
            <a:pPr algn="ctr"/>
            <a:r>
              <a:rPr lang="zh-CN" sz="1200" b="1" dirty="0">
                <a:solidFill>
                  <a:srgbClr val="C00000"/>
                </a:solidFill>
                <a:latin typeface="Arial"/>
                <a:ea typeface="Microsoft YaHei"/>
                <a:cs typeface="Arial"/>
              </a:rPr>
              <a:t>降低60%+</a:t>
            </a:r>
          </a:p>
        </p:txBody>
      </p:sp>
      <p:sp>
        <p:nvSpPr>
          <p:cNvPr id="52" name="Rectangle 52"/>
          <p:cNvSpPr/>
          <p:nvPr/>
        </p:nvSpPr>
        <p:spPr>
          <a:xfrm>
            <a:off x="8096250" y="5810250"/>
            <a:ext cx="3524250" cy="523875"/>
          </a:xfrm>
          <a:prstGeom prst="roundRect">
            <a:avLst>
              <a:gd name="adj" fmla="val 7273"/>
            </a:avLst>
          </a:prstGeom>
          <a:solidFill>
            <a:srgbClr val="FFFFFF"/>
          </a:solidFill>
          <a:ln w="19050">
            <a:solidFill>
              <a:srgbClr val="E7E6E6"/>
            </a:solidFill>
          </a:ln>
        </p:spPr>
      </p:sp>
      <p:sp>
        <p:nvSpPr>
          <p:cNvPr id="53" name="TextBox 53"/>
          <p:cNvSpPr txBox="1"/>
          <p:nvPr/>
        </p:nvSpPr>
        <p:spPr>
          <a:xfrm>
            <a:off x="9537002" y="5944552"/>
            <a:ext cx="642747" cy="213360"/>
          </a:xfrm>
          <a:prstGeom prst="rect">
            <a:avLst/>
          </a:prstGeom>
          <a:noFill/>
          <a:ln>
            <a:noFill/>
          </a:ln>
        </p:spPr>
        <p:txBody>
          <a:bodyPr wrap="none" lIns="0" tIns="0" rIns="0" bIns="0" anchor="t" anchorCtr="0">
            <a:spAutoFit/>
          </a:bodyPr>
          <a:lstStyle/>
          <a:p>
            <a:pPr algn="ctr"/>
            <a:r>
              <a:rPr lang="zh-CN" sz="1050" dirty="0">
                <a:solidFill>
                  <a:srgbClr val="666666"/>
                </a:solidFill>
                <a:latin typeface="Arial"/>
                <a:ea typeface="Microsoft YaHei"/>
                <a:cs typeface="Arial"/>
              </a:rPr>
              <a:t>MTTR预期</a:t>
            </a:r>
          </a:p>
        </p:txBody>
      </p:sp>
      <p:sp>
        <p:nvSpPr>
          <p:cNvPr id="54" name="TextBox 54"/>
          <p:cNvSpPr txBox="1"/>
          <p:nvPr/>
        </p:nvSpPr>
        <p:spPr>
          <a:xfrm>
            <a:off x="9381077" y="6118860"/>
            <a:ext cx="954596" cy="243840"/>
          </a:xfrm>
          <a:prstGeom prst="rect">
            <a:avLst/>
          </a:prstGeom>
          <a:noFill/>
          <a:ln>
            <a:noFill/>
          </a:ln>
        </p:spPr>
        <p:txBody>
          <a:bodyPr wrap="none" lIns="0" tIns="0" rIns="0" bIns="0" anchor="t" anchorCtr="0">
            <a:spAutoFit/>
          </a:bodyPr>
          <a:lstStyle/>
          <a:p>
            <a:pPr algn="ctr"/>
            <a:r>
              <a:rPr lang="zh-CN" sz="1200" b="1" dirty="0">
                <a:solidFill>
                  <a:srgbClr val="C00000"/>
                </a:solidFill>
                <a:latin typeface="Arial"/>
                <a:ea typeface="Microsoft YaHei"/>
                <a:cs typeface="Arial"/>
              </a:rPr>
              <a:t>降低30-40%</a:t>
            </a:r>
          </a:p>
        </p:txBody>
      </p:sp>
    </p:spTree>
  </p:cSld>
  <p:clrMapOvr>
    <a:masterClrMapping/>
  </p:clrMapOvr>
  <p:transition xmlns:p14="http://schemas.microsoft.com/office/powerpoint/2010/main" p14:dur="400">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38100"/>
          </a:xfrm>
          <a:prstGeom prst="rect">
            <a:avLst/>
          </a:prstGeom>
          <a:solidFill>
            <a:srgbClr val="C00000"/>
          </a:solidFill>
          <a:ln>
            <a:noFill/>
          </a:ln>
        </p:spPr>
      </p:sp>
      <p:sp>
        <p:nvSpPr>
          <p:cNvPr id="4" name="Rectangle 4"/>
          <p:cNvSpPr/>
          <p:nvPr/>
        </p:nvSpPr>
        <p:spPr>
          <a:xfrm>
            <a:off x="0" y="38100"/>
            <a:ext cx="12192000" cy="723900"/>
          </a:xfrm>
          <a:prstGeom prst="rect">
            <a:avLst/>
          </a:prstGeom>
          <a:solidFill>
            <a:srgbClr val="FFFFFF"/>
          </a:solidFill>
          <a:ln>
            <a:noFill/>
          </a:ln>
        </p:spPr>
      </p:sp>
      <p:sp>
        <p:nvSpPr>
          <p:cNvPr id="5" name="Line 5"/>
          <p:cNvSpPr/>
          <p:nvPr/>
        </p:nvSpPr>
        <p:spPr>
          <a:xfrm>
            <a:off x="0" y="762000"/>
            <a:ext cx="12192000" cy="9525"/>
          </a:xfrm>
          <a:custGeom>
            <a:avLst/>
            <a:gdLst/>
            <a:ahLst/>
            <a:cxnLst/>
            <a:rect l="l" t="t" r="r" b="b"/>
            <a:pathLst>
              <a:path w="12192000" h="9525">
                <a:moveTo>
                  <a:pt x="0" y="0"/>
                </a:moveTo>
                <a:lnTo>
                  <a:pt x="12192000" y="0"/>
                </a:lnTo>
              </a:path>
            </a:pathLst>
          </a:custGeom>
          <a:noFill/>
          <a:ln w="9525">
            <a:solidFill>
              <a:srgbClr val="E7E6E6"/>
            </a:solidFill>
          </a:ln>
        </p:spPr>
      </p:sp>
      <p:sp>
        <p:nvSpPr>
          <p:cNvPr id="6" name="Rectangle 6"/>
          <p:cNvSpPr/>
          <p:nvPr/>
        </p:nvSpPr>
        <p:spPr>
          <a:xfrm>
            <a:off x="476250" y="190500"/>
            <a:ext cx="76200" cy="381000"/>
          </a:xfrm>
          <a:prstGeom prst="rect">
            <a:avLst/>
          </a:prstGeom>
          <a:solidFill>
            <a:srgbClr val="C00000"/>
          </a:solidFill>
          <a:ln>
            <a:noFill/>
          </a:ln>
        </p:spPr>
      </p:sp>
      <p:sp>
        <p:nvSpPr>
          <p:cNvPr id="7" name="TextBox 7"/>
          <p:cNvSpPr txBox="1"/>
          <p:nvPr/>
        </p:nvSpPr>
        <p:spPr>
          <a:xfrm>
            <a:off x="655320" y="236220"/>
            <a:ext cx="5101590" cy="487680"/>
          </a:xfrm>
          <a:prstGeom prst="rect">
            <a:avLst/>
          </a:prstGeom>
          <a:noFill/>
          <a:ln>
            <a:noFill/>
          </a:ln>
        </p:spPr>
        <p:txBody>
          <a:bodyPr wrap="none" lIns="0" tIns="0" rIns="0" bIns="0" anchor="t" anchorCtr="0">
            <a:spAutoFit/>
          </a:bodyPr>
          <a:lstStyle/>
          <a:p>
            <a:pPr algn="l"/>
            <a:r>
              <a:rPr lang="zh-CN" sz="2400" b="1" dirty="0">
                <a:solidFill>
                  <a:srgbClr val="000000"/>
                </a:solidFill>
                <a:latin typeface="Arial"/>
                <a:ea typeface="Microsoft YaHei"/>
                <a:cs typeface="Arial"/>
              </a:rPr>
              <a:t>亮点三：知识自动蒸馏与闭环学习</a:t>
            </a:r>
          </a:p>
        </p:txBody>
      </p:sp>
      <p:sp>
        <p:nvSpPr>
          <p:cNvPr id="8" name="Rectangle 8"/>
          <p:cNvSpPr/>
          <p:nvPr/>
        </p:nvSpPr>
        <p:spPr>
          <a:xfrm>
            <a:off x="476250" y="904875"/>
            <a:ext cx="11239500" cy="476250"/>
          </a:xfrm>
          <a:prstGeom prst="rect">
            <a:avLst/>
          </a:prstGeom>
          <a:solidFill>
            <a:srgbClr val="F2F2F2"/>
          </a:solidFill>
          <a:ln>
            <a:noFill/>
          </a:ln>
        </p:spPr>
      </p:sp>
      <p:sp>
        <p:nvSpPr>
          <p:cNvPr id="9" name="TextBox 9"/>
          <p:cNvSpPr txBox="1"/>
          <p:nvPr/>
        </p:nvSpPr>
        <p:spPr>
          <a:xfrm>
            <a:off x="3840480" y="1061085"/>
            <a:ext cx="4511040" cy="243840"/>
          </a:xfrm>
          <a:prstGeom prst="rect">
            <a:avLst/>
          </a:prstGeom>
          <a:noFill/>
          <a:ln>
            <a:noFill/>
          </a:ln>
        </p:spPr>
        <p:txBody>
          <a:bodyPr wrap="none" lIns="0" tIns="0" rIns="0" bIns="0" anchor="t" anchorCtr="0">
            <a:spAutoFit/>
          </a:bodyPr>
          <a:lstStyle/>
          <a:p>
            <a:pPr algn="ctr"/>
            <a:r>
              <a:rPr lang="zh-CN" sz="1200" dirty="0">
                <a:solidFill>
                  <a:srgbClr val="333333"/>
                </a:solidFill>
                <a:latin typeface="Arial"/>
                <a:ea typeface="Microsoft YaHei"/>
                <a:cs typeface="Arial"/>
              </a:rPr>
              <a:t>每次故障都是一次学习机会，系统自动沉淀为可复用的知识资产</a:t>
            </a:r>
          </a:p>
        </p:txBody>
      </p:sp>
      <p:sp>
        <p:nvSpPr>
          <p:cNvPr id="10" name="Rectangle 10"/>
          <p:cNvSpPr/>
          <p:nvPr/>
        </p:nvSpPr>
        <p:spPr>
          <a:xfrm>
            <a:off x="0" y="6477000"/>
            <a:ext cx="12192000" cy="381000"/>
          </a:xfrm>
          <a:prstGeom prst="rect">
            <a:avLst/>
          </a:prstGeom>
          <a:solidFill>
            <a:srgbClr val="F2F2F2"/>
          </a:solidFill>
          <a:ln>
            <a:noFill/>
          </a:ln>
        </p:spPr>
      </p:sp>
      <p:sp>
        <p:nvSpPr>
          <p:cNvPr id="11" name="Rectangle 11"/>
          <p:cNvSpPr/>
          <p:nvPr/>
        </p:nvSpPr>
        <p:spPr>
          <a:xfrm>
            <a:off x="0" y="6477000"/>
            <a:ext cx="38100" cy="381000"/>
          </a:xfrm>
          <a:prstGeom prst="rect">
            <a:avLst/>
          </a:prstGeom>
          <a:solidFill>
            <a:srgbClr val="C00000"/>
          </a:solidFill>
          <a:ln>
            <a:noFill/>
          </a:ln>
        </p:spPr>
      </p:sp>
      <p:sp>
        <p:nvSpPr>
          <p:cNvPr id="12" name="TextBox 12"/>
          <p:cNvSpPr txBox="1"/>
          <p:nvPr/>
        </p:nvSpPr>
        <p:spPr>
          <a:xfrm>
            <a:off x="558165" y="6611302"/>
            <a:ext cx="586740" cy="213360"/>
          </a:xfrm>
          <a:prstGeom prst="rect">
            <a:avLst/>
          </a:prstGeom>
          <a:noFill/>
          <a:ln>
            <a:noFill/>
          </a:ln>
        </p:spPr>
        <p:txBody>
          <a:bodyPr wrap="none" lIns="0" tIns="0" rIns="0" bIns="0" anchor="t" anchorCtr="0">
            <a:spAutoFit/>
          </a:bodyPr>
          <a:lstStyle/>
          <a:p>
            <a:pPr algn="l"/>
            <a:r>
              <a:rPr lang="zh-CN" sz="1050" dirty="0">
                <a:solidFill>
                  <a:srgbClr val="666666"/>
                </a:solidFill>
                <a:latin typeface="Arial"/>
                <a:ea typeface="Microsoft YaHei"/>
                <a:cs typeface="Arial"/>
              </a:rPr>
              <a:t>核心亮点</a:t>
            </a:r>
          </a:p>
        </p:txBody>
      </p:sp>
      <p:sp>
        <p:nvSpPr>
          <p:cNvPr id="13" name="Rectangle 13"/>
          <p:cNvSpPr/>
          <p:nvPr/>
        </p:nvSpPr>
        <p:spPr>
          <a:xfrm>
            <a:off x="11525250" y="6553200"/>
            <a:ext cx="285750" cy="228600"/>
          </a:xfrm>
          <a:prstGeom prst="rect">
            <a:avLst/>
          </a:prstGeom>
          <a:solidFill>
            <a:srgbClr val="C00000"/>
          </a:solidFill>
          <a:ln>
            <a:noFill/>
          </a:ln>
        </p:spPr>
      </p:sp>
      <p:sp>
        <p:nvSpPr>
          <p:cNvPr id="14" name="TextBox 14"/>
          <p:cNvSpPr txBox="1"/>
          <p:nvPr/>
        </p:nvSpPr>
        <p:spPr>
          <a:xfrm>
            <a:off x="11573930" y="6611302"/>
            <a:ext cx="188390"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Arial"/>
                <a:ea typeface="Microsoft YaHei"/>
                <a:cs typeface="Arial"/>
              </a:rPr>
              <a:t>14</a:t>
            </a:r>
          </a:p>
        </p:txBody>
      </p:sp>
      <p:sp>
        <p:nvSpPr>
          <p:cNvPr id="15" name="Rectangle 15"/>
          <p:cNvSpPr/>
          <p:nvPr/>
        </p:nvSpPr>
        <p:spPr>
          <a:xfrm>
            <a:off x="571500" y="1571625"/>
            <a:ext cx="5286375" cy="952500"/>
          </a:xfrm>
          <a:prstGeom prst="roundRect">
            <a:avLst>
              <a:gd name="adj" fmla="val 4000"/>
            </a:avLst>
          </a:prstGeom>
          <a:solidFill>
            <a:srgbClr val="FFFFFF"/>
          </a:solidFill>
          <a:ln w="19050">
            <a:solidFill>
              <a:srgbClr val="E7E6E6"/>
            </a:solidFill>
          </a:ln>
        </p:spPr>
      </p:sp>
      <p:sp>
        <p:nvSpPr>
          <p:cNvPr id="16" name="Rectangle 16"/>
          <p:cNvSpPr/>
          <p:nvPr/>
        </p:nvSpPr>
        <p:spPr>
          <a:xfrm>
            <a:off x="571500" y="1571625"/>
            <a:ext cx="5286375" cy="333375"/>
          </a:xfrm>
          <a:prstGeom prst="roundRect">
            <a:avLst>
              <a:gd name="adj" fmla="val 11429"/>
            </a:avLst>
          </a:prstGeom>
          <a:solidFill>
            <a:srgbClr val="F2F2F2"/>
          </a:solidFill>
          <a:ln>
            <a:noFill/>
          </a:ln>
        </p:spPr>
      </p:sp>
      <p:sp>
        <p:nvSpPr>
          <p:cNvPr id="17" name="Rectangle 17"/>
          <p:cNvSpPr/>
          <p:nvPr/>
        </p:nvSpPr>
        <p:spPr>
          <a:xfrm>
            <a:off x="571500" y="1571625"/>
            <a:ext cx="76200" cy="333375"/>
          </a:xfrm>
          <a:prstGeom prst="rect">
            <a:avLst/>
          </a:prstGeom>
          <a:solidFill>
            <a:srgbClr val="999999"/>
          </a:solidFill>
          <a:ln>
            <a:noFill/>
          </a:ln>
        </p:spPr>
      </p:sp>
      <p:sp>
        <p:nvSpPr>
          <p:cNvPr id="18" name="TextBox 18"/>
          <p:cNvSpPr txBox="1"/>
          <p:nvPr/>
        </p:nvSpPr>
        <p:spPr>
          <a:xfrm>
            <a:off x="2858643" y="1670685"/>
            <a:ext cx="702564" cy="243840"/>
          </a:xfrm>
          <a:prstGeom prst="rect">
            <a:avLst/>
          </a:prstGeom>
          <a:noFill/>
          <a:ln>
            <a:noFill/>
          </a:ln>
        </p:spPr>
        <p:txBody>
          <a:bodyPr wrap="none" lIns="0" tIns="0" rIns="0" bIns="0" anchor="t" anchorCtr="0">
            <a:spAutoFit/>
          </a:bodyPr>
          <a:lstStyle/>
          <a:p>
            <a:pPr algn="ctr"/>
            <a:r>
              <a:rPr lang="zh-CN" sz="1200" b="1" dirty="0">
                <a:solidFill>
                  <a:srgbClr val="666666"/>
                </a:solidFill>
                <a:latin typeface="Arial"/>
                <a:ea typeface="Microsoft YaHei"/>
                <a:cs typeface="Arial"/>
              </a:rPr>
              <a:t>传统方式</a:t>
            </a:r>
          </a:p>
        </p:txBody>
      </p:sp>
      <p:sp>
        <p:nvSpPr>
          <p:cNvPr id="19" name="TextBox 19"/>
          <p:cNvSpPr txBox="1"/>
          <p:nvPr/>
        </p:nvSpPr>
        <p:spPr>
          <a:xfrm>
            <a:off x="748665" y="2077402"/>
            <a:ext cx="3030045" cy="213360"/>
          </a:xfrm>
          <a:prstGeom prst="rect">
            <a:avLst/>
          </a:prstGeom>
          <a:noFill/>
          <a:ln>
            <a:noFill/>
          </a:ln>
        </p:spPr>
        <p:txBody>
          <a:bodyPr wrap="none" lIns="0" tIns="0" rIns="0" bIns="0" anchor="t" anchorCtr="0">
            <a:spAutoFit/>
          </a:bodyPr>
          <a:lstStyle/>
          <a:p>
            <a:pPr algn="l"/>
            <a:r>
              <a:rPr lang="zh-CN" sz="1050" dirty="0">
                <a:solidFill>
                  <a:srgbClr val="333333"/>
                </a:solidFill>
                <a:latin typeface="Arial"/>
                <a:ea typeface="Microsoft YaHei"/>
                <a:cs typeface="Arial"/>
              </a:rPr>
              <a:t>复盘会 → 改进措施 → 文档沉淀（无跟踪 → 沉没）</a:t>
            </a:r>
          </a:p>
        </p:txBody>
      </p:sp>
      <p:sp>
        <p:nvSpPr>
          <p:cNvPr id="20" name="Polygon 20"/>
          <p:cNvSpPr/>
          <p:nvPr/>
        </p:nvSpPr>
        <p:spPr>
          <a:xfrm>
            <a:off x="6096000" y="1809750"/>
            <a:ext cx="285750" cy="190500"/>
          </a:xfrm>
          <a:custGeom>
            <a:avLst/>
            <a:gdLst/>
            <a:ahLst/>
            <a:cxnLst/>
            <a:rect l="l" t="t" r="r" b="b"/>
            <a:pathLst>
              <a:path w="285750" h="190500">
                <a:moveTo>
                  <a:pt x="0" y="0"/>
                </a:moveTo>
                <a:lnTo>
                  <a:pt x="285750" y="95250"/>
                </a:lnTo>
                <a:lnTo>
                  <a:pt x="0" y="190500"/>
                </a:lnTo>
                <a:close/>
              </a:path>
            </a:pathLst>
          </a:custGeom>
          <a:solidFill>
            <a:srgbClr val="C00000"/>
          </a:solidFill>
          <a:ln>
            <a:noFill/>
          </a:ln>
        </p:spPr>
      </p:sp>
      <p:sp>
        <p:nvSpPr>
          <p:cNvPr id="21" name="Line 21"/>
          <p:cNvSpPr/>
          <p:nvPr/>
        </p:nvSpPr>
        <p:spPr>
          <a:xfrm>
            <a:off x="5857875" y="1905000"/>
            <a:ext cx="523875" cy="9525"/>
          </a:xfrm>
          <a:custGeom>
            <a:avLst/>
            <a:gdLst/>
            <a:ahLst/>
            <a:cxnLst/>
            <a:rect l="l" t="t" r="r" b="b"/>
            <a:pathLst>
              <a:path w="523875" h="9525">
                <a:moveTo>
                  <a:pt x="0" y="0"/>
                </a:moveTo>
                <a:lnTo>
                  <a:pt x="523875" y="0"/>
                </a:lnTo>
              </a:path>
            </a:pathLst>
          </a:custGeom>
          <a:noFill/>
          <a:ln w="19050">
            <a:solidFill>
              <a:srgbClr val="C00000"/>
            </a:solidFill>
          </a:ln>
        </p:spPr>
      </p:sp>
      <p:sp>
        <p:nvSpPr>
          <p:cNvPr id="22" name="TextBox 22"/>
          <p:cNvSpPr txBox="1"/>
          <p:nvPr/>
        </p:nvSpPr>
        <p:spPr>
          <a:xfrm>
            <a:off x="6463665" y="1820228"/>
            <a:ext cx="320707" cy="213360"/>
          </a:xfrm>
          <a:prstGeom prst="rect">
            <a:avLst/>
          </a:prstGeom>
          <a:noFill/>
          <a:ln>
            <a:noFill/>
          </a:ln>
        </p:spPr>
        <p:txBody>
          <a:bodyPr wrap="none" lIns="0" tIns="0" rIns="0" bIns="0" anchor="t" anchorCtr="0">
            <a:spAutoFit/>
          </a:bodyPr>
          <a:lstStyle/>
          <a:p>
            <a:pPr algn="l"/>
            <a:r>
              <a:rPr lang="zh-CN" sz="1050" b="1" dirty="0">
                <a:solidFill>
                  <a:srgbClr val="C00000"/>
                </a:solidFill>
                <a:latin typeface="Arial"/>
                <a:ea typeface="Microsoft YaHei"/>
                <a:cs typeface="Arial"/>
              </a:rPr>
              <a:t>升级</a:t>
            </a:r>
          </a:p>
        </p:txBody>
      </p:sp>
      <p:sp>
        <p:nvSpPr>
          <p:cNvPr id="23" name="Rectangle 23"/>
          <p:cNvSpPr/>
          <p:nvPr/>
        </p:nvSpPr>
        <p:spPr>
          <a:xfrm>
            <a:off x="6953250" y="1571625"/>
            <a:ext cx="4667250" cy="952500"/>
          </a:xfrm>
          <a:prstGeom prst="roundRect">
            <a:avLst>
              <a:gd name="adj" fmla="val 4000"/>
            </a:avLst>
          </a:prstGeom>
          <a:solidFill>
            <a:srgbClr val="FDF3EB"/>
          </a:solidFill>
          <a:ln w="19050">
            <a:solidFill>
              <a:srgbClr val="F8CBAD"/>
            </a:solidFill>
          </a:ln>
        </p:spPr>
      </p:sp>
      <p:sp>
        <p:nvSpPr>
          <p:cNvPr id="24" name="Rectangle 24"/>
          <p:cNvSpPr/>
          <p:nvPr/>
        </p:nvSpPr>
        <p:spPr>
          <a:xfrm>
            <a:off x="6953250" y="1571625"/>
            <a:ext cx="4667250" cy="333375"/>
          </a:xfrm>
          <a:prstGeom prst="roundRect">
            <a:avLst>
              <a:gd name="adj" fmla="val 11429"/>
            </a:avLst>
          </a:prstGeom>
          <a:solidFill>
            <a:srgbClr val="C00000"/>
          </a:solidFill>
          <a:ln>
            <a:noFill/>
          </a:ln>
        </p:spPr>
      </p:sp>
      <p:sp>
        <p:nvSpPr>
          <p:cNvPr id="25" name="TextBox 25"/>
          <p:cNvSpPr txBox="1"/>
          <p:nvPr/>
        </p:nvSpPr>
        <p:spPr>
          <a:xfrm>
            <a:off x="8515540" y="1670685"/>
            <a:ext cx="1542669" cy="243840"/>
          </a:xfrm>
          <a:prstGeom prst="rect">
            <a:avLst/>
          </a:prstGeom>
          <a:noFill/>
          <a:ln>
            <a:noFill/>
          </a:ln>
        </p:spPr>
        <p:txBody>
          <a:bodyPr wrap="none" lIns="0" tIns="0" rIns="0" bIns="0" anchor="t" anchorCtr="0">
            <a:spAutoFit/>
          </a:bodyPr>
          <a:lstStyle/>
          <a:p>
            <a:pPr algn="ctr"/>
            <a:r>
              <a:rPr lang="zh-CN" sz="1200" b="1" dirty="0">
                <a:solidFill>
                  <a:srgbClr val="FFFFFF"/>
                </a:solidFill>
                <a:latin typeface="Arial"/>
                <a:ea typeface="Microsoft YaHei"/>
                <a:cs typeface="Arial"/>
              </a:rPr>
              <a:t>IntelliOps 闭环学习</a:t>
            </a:r>
          </a:p>
        </p:txBody>
      </p:sp>
      <p:sp>
        <p:nvSpPr>
          <p:cNvPr id="26" name="TextBox 26"/>
          <p:cNvSpPr txBox="1"/>
          <p:nvPr/>
        </p:nvSpPr>
        <p:spPr>
          <a:xfrm>
            <a:off x="7130415" y="2077402"/>
            <a:ext cx="4542234" cy="213360"/>
          </a:xfrm>
          <a:prstGeom prst="rect">
            <a:avLst/>
          </a:prstGeom>
          <a:noFill/>
          <a:ln>
            <a:noFill/>
          </a:ln>
        </p:spPr>
        <p:txBody>
          <a:bodyPr wrap="none" lIns="0" tIns="0" rIns="0" bIns="0" anchor="t" anchorCtr="0">
            <a:spAutoFit/>
          </a:bodyPr>
          <a:lstStyle/>
          <a:p>
            <a:pPr algn="l"/>
            <a:r>
              <a:rPr lang="zh-CN" sz="1050" dirty="0">
                <a:solidFill>
                  <a:srgbClr val="333333"/>
                </a:solidFill>
                <a:latin typeface="Arial"/>
                <a:ea typeface="Microsoft YaHei"/>
                <a:cs typeface="Arial"/>
              </a:rPr>
              <a:t>故障发生 → Knowledge Distiller蒸馏 → 去重聚合 → 模式精炼 → SKILL注入</a:t>
            </a:r>
          </a:p>
        </p:txBody>
      </p:sp>
      <p:sp>
        <p:nvSpPr>
          <p:cNvPr id="27" name="Rectangle 27"/>
          <p:cNvSpPr/>
          <p:nvPr/>
        </p:nvSpPr>
        <p:spPr>
          <a:xfrm>
            <a:off x="571500" y="2809875"/>
            <a:ext cx="2286000" cy="523875"/>
          </a:xfrm>
          <a:prstGeom prst="roundRect">
            <a:avLst>
              <a:gd name="adj" fmla="val 7273"/>
            </a:avLst>
          </a:prstGeom>
          <a:solidFill>
            <a:srgbClr val="C00000"/>
          </a:solidFill>
          <a:ln>
            <a:noFill/>
          </a:ln>
        </p:spPr>
      </p:sp>
      <p:sp>
        <p:nvSpPr>
          <p:cNvPr id="28" name="TextBox 28"/>
          <p:cNvSpPr txBox="1"/>
          <p:nvPr/>
        </p:nvSpPr>
        <p:spPr>
          <a:xfrm>
            <a:off x="1274909" y="3012281"/>
            <a:ext cx="879181" cy="228600"/>
          </a:xfrm>
          <a:prstGeom prst="rect">
            <a:avLst/>
          </a:prstGeom>
          <a:noFill/>
          <a:ln>
            <a:noFill/>
          </a:ln>
        </p:spPr>
        <p:txBody>
          <a:bodyPr wrap="none" lIns="0" tIns="0" rIns="0" bIns="0" anchor="t" anchorCtr="0">
            <a:spAutoFit/>
          </a:bodyPr>
          <a:lstStyle/>
          <a:p>
            <a:pPr algn="ctr"/>
            <a:r>
              <a:rPr lang="zh-CN" sz="1125" b="1" dirty="0">
                <a:solidFill>
                  <a:srgbClr val="FFFFFF"/>
                </a:solidFill>
                <a:latin typeface="Arial"/>
                <a:ea typeface="Microsoft YaHei"/>
                <a:cs typeface="Arial"/>
              </a:rPr>
              <a:t>1. 知识蒸馏</a:t>
            </a:r>
          </a:p>
        </p:txBody>
      </p:sp>
      <p:sp>
        <p:nvSpPr>
          <p:cNvPr id="29" name="Polygon 29"/>
          <p:cNvSpPr/>
          <p:nvPr/>
        </p:nvSpPr>
        <p:spPr>
          <a:xfrm>
            <a:off x="2952750" y="2952750"/>
            <a:ext cx="190500" cy="228600"/>
          </a:xfrm>
          <a:custGeom>
            <a:avLst/>
            <a:gdLst/>
            <a:ahLst/>
            <a:cxnLst/>
            <a:rect l="l" t="t" r="r" b="b"/>
            <a:pathLst>
              <a:path w="190500" h="228600">
                <a:moveTo>
                  <a:pt x="0" y="0"/>
                </a:moveTo>
                <a:lnTo>
                  <a:pt x="190500" y="114300"/>
                </a:lnTo>
                <a:lnTo>
                  <a:pt x="0" y="228600"/>
                </a:lnTo>
                <a:close/>
              </a:path>
            </a:pathLst>
          </a:custGeom>
          <a:solidFill>
            <a:srgbClr val="C00000"/>
          </a:solidFill>
          <a:ln>
            <a:noFill/>
          </a:ln>
        </p:spPr>
      </p:sp>
      <p:sp>
        <p:nvSpPr>
          <p:cNvPr id="30" name="Rectangle 30"/>
          <p:cNvSpPr/>
          <p:nvPr/>
        </p:nvSpPr>
        <p:spPr>
          <a:xfrm>
            <a:off x="3238500" y="2809875"/>
            <a:ext cx="2286000" cy="523875"/>
          </a:xfrm>
          <a:prstGeom prst="roundRect">
            <a:avLst>
              <a:gd name="adj" fmla="val 7273"/>
            </a:avLst>
          </a:prstGeom>
          <a:solidFill>
            <a:srgbClr val="2E75B6"/>
          </a:solidFill>
          <a:ln>
            <a:noFill/>
          </a:ln>
        </p:spPr>
      </p:sp>
      <p:sp>
        <p:nvSpPr>
          <p:cNvPr id="31" name="TextBox 31"/>
          <p:cNvSpPr txBox="1"/>
          <p:nvPr/>
        </p:nvSpPr>
        <p:spPr>
          <a:xfrm>
            <a:off x="3941909" y="3012281"/>
            <a:ext cx="879181" cy="228600"/>
          </a:xfrm>
          <a:prstGeom prst="rect">
            <a:avLst/>
          </a:prstGeom>
          <a:noFill/>
          <a:ln>
            <a:noFill/>
          </a:ln>
        </p:spPr>
        <p:txBody>
          <a:bodyPr wrap="none" lIns="0" tIns="0" rIns="0" bIns="0" anchor="t" anchorCtr="0">
            <a:spAutoFit/>
          </a:bodyPr>
          <a:lstStyle/>
          <a:p>
            <a:pPr algn="ctr"/>
            <a:r>
              <a:rPr lang="zh-CN" sz="1125" b="1" dirty="0">
                <a:solidFill>
                  <a:srgbClr val="FFFFFF"/>
                </a:solidFill>
                <a:latin typeface="Arial"/>
                <a:ea typeface="Microsoft YaHei"/>
                <a:cs typeface="Arial"/>
              </a:rPr>
              <a:t>2. 语义去重</a:t>
            </a:r>
          </a:p>
        </p:txBody>
      </p:sp>
      <p:sp>
        <p:nvSpPr>
          <p:cNvPr id="32" name="Polygon 32"/>
          <p:cNvSpPr/>
          <p:nvPr/>
        </p:nvSpPr>
        <p:spPr>
          <a:xfrm>
            <a:off x="5619750" y="2952750"/>
            <a:ext cx="190500" cy="228600"/>
          </a:xfrm>
          <a:custGeom>
            <a:avLst/>
            <a:gdLst/>
            <a:ahLst/>
            <a:cxnLst/>
            <a:rect l="l" t="t" r="r" b="b"/>
            <a:pathLst>
              <a:path w="190500" h="228600">
                <a:moveTo>
                  <a:pt x="0" y="0"/>
                </a:moveTo>
                <a:lnTo>
                  <a:pt x="190500" y="114300"/>
                </a:lnTo>
                <a:lnTo>
                  <a:pt x="0" y="228600"/>
                </a:lnTo>
                <a:close/>
              </a:path>
            </a:pathLst>
          </a:custGeom>
          <a:solidFill>
            <a:srgbClr val="2E75B6"/>
          </a:solidFill>
          <a:ln>
            <a:noFill/>
          </a:ln>
        </p:spPr>
      </p:sp>
      <p:sp>
        <p:nvSpPr>
          <p:cNvPr id="33" name="Rectangle 33"/>
          <p:cNvSpPr/>
          <p:nvPr/>
        </p:nvSpPr>
        <p:spPr>
          <a:xfrm>
            <a:off x="5905500" y="2809875"/>
            <a:ext cx="2286000" cy="523875"/>
          </a:xfrm>
          <a:prstGeom prst="roundRect">
            <a:avLst>
              <a:gd name="adj" fmla="val 7273"/>
            </a:avLst>
          </a:prstGeom>
          <a:solidFill>
            <a:srgbClr val="5B9BD5"/>
          </a:solidFill>
          <a:ln>
            <a:noFill/>
          </a:ln>
        </p:spPr>
      </p:sp>
      <p:sp>
        <p:nvSpPr>
          <p:cNvPr id="34" name="TextBox 34"/>
          <p:cNvSpPr txBox="1"/>
          <p:nvPr/>
        </p:nvSpPr>
        <p:spPr>
          <a:xfrm>
            <a:off x="6608909" y="3012281"/>
            <a:ext cx="879181" cy="228600"/>
          </a:xfrm>
          <a:prstGeom prst="rect">
            <a:avLst/>
          </a:prstGeom>
          <a:noFill/>
          <a:ln>
            <a:noFill/>
          </a:ln>
        </p:spPr>
        <p:txBody>
          <a:bodyPr wrap="none" lIns="0" tIns="0" rIns="0" bIns="0" anchor="t" anchorCtr="0">
            <a:spAutoFit/>
          </a:bodyPr>
          <a:lstStyle/>
          <a:p>
            <a:pPr algn="ctr"/>
            <a:r>
              <a:rPr lang="zh-CN" sz="1125" b="1" dirty="0">
                <a:solidFill>
                  <a:srgbClr val="FFFFFF"/>
                </a:solidFill>
                <a:latin typeface="Arial"/>
                <a:ea typeface="Microsoft YaHei"/>
                <a:cs typeface="Arial"/>
              </a:rPr>
              <a:t>3. 高频精炼</a:t>
            </a:r>
          </a:p>
        </p:txBody>
      </p:sp>
      <p:sp>
        <p:nvSpPr>
          <p:cNvPr id="35" name="Polygon 35"/>
          <p:cNvSpPr/>
          <p:nvPr/>
        </p:nvSpPr>
        <p:spPr>
          <a:xfrm>
            <a:off x="8286750" y="2952750"/>
            <a:ext cx="190500" cy="228600"/>
          </a:xfrm>
          <a:custGeom>
            <a:avLst/>
            <a:gdLst/>
            <a:ahLst/>
            <a:cxnLst/>
            <a:rect l="l" t="t" r="r" b="b"/>
            <a:pathLst>
              <a:path w="190500" h="228600">
                <a:moveTo>
                  <a:pt x="0" y="0"/>
                </a:moveTo>
                <a:lnTo>
                  <a:pt x="190500" y="114300"/>
                </a:lnTo>
                <a:lnTo>
                  <a:pt x="0" y="228600"/>
                </a:lnTo>
                <a:close/>
              </a:path>
            </a:pathLst>
          </a:custGeom>
          <a:solidFill>
            <a:srgbClr val="5B9BD5"/>
          </a:solidFill>
          <a:ln>
            <a:noFill/>
          </a:ln>
        </p:spPr>
      </p:sp>
      <p:sp>
        <p:nvSpPr>
          <p:cNvPr id="36" name="Rectangle 36"/>
          <p:cNvSpPr/>
          <p:nvPr/>
        </p:nvSpPr>
        <p:spPr>
          <a:xfrm>
            <a:off x="8572500" y="2809875"/>
            <a:ext cx="3048000" cy="523875"/>
          </a:xfrm>
          <a:prstGeom prst="roundRect">
            <a:avLst>
              <a:gd name="adj" fmla="val 7273"/>
            </a:avLst>
          </a:prstGeom>
          <a:solidFill>
            <a:srgbClr val="C00000"/>
          </a:solidFill>
          <a:ln>
            <a:noFill/>
          </a:ln>
        </p:spPr>
      </p:sp>
      <p:sp>
        <p:nvSpPr>
          <p:cNvPr id="37" name="TextBox 37"/>
          <p:cNvSpPr txBox="1"/>
          <p:nvPr/>
        </p:nvSpPr>
        <p:spPr>
          <a:xfrm>
            <a:off x="9381250" y="3012281"/>
            <a:ext cx="1430500" cy="228600"/>
          </a:xfrm>
          <a:prstGeom prst="rect">
            <a:avLst/>
          </a:prstGeom>
          <a:noFill/>
          <a:ln>
            <a:noFill/>
          </a:ln>
        </p:spPr>
        <p:txBody>
          <a:bodyPr wrap="none" lIns="0" tIns="0" rIns="0" bIns="0" anchor="t" anchorCtr="0">
            <a:spAutoFit/>
          </a:bodyPr>
          <a:lstStyle/>
          <a:p>
            <a:pPr algn="ctr"/>
            <a:r>
              <a:rPr lang="zh-CN" sz="1125" b="1" dirty="0">
                <a:solidFill>
                  <a:srgbClr val="FFFFFF"/>
                </a:solidFill>
                <a:latin typeface="Arial"/>
                <a:ea typeface="Microsoft YaHei"/>
                <a:cs typeface="Arial"/>
              </a:rPr>
              <a:t>4. SKILL热更新注入</a:t>
            </a:r>
          </a:p>
        </p:txBody>
      </p:sp>
      <p:sp>
        <p:nvSpPr>
          <p:cNvPr id="38" name="Rectangle 38"/>
          <p:cNvSpPr/>
          <p:nvPr/>
        </p:nvSpPr>
        <p:spPr>
          <a:xfrm>
            <a:off x="571500" y="3571875"/>
            <a:ext cx="11049000" cy="523875"/>
          </a:xfrm>
          <a:prstGeom prst="roundRect">
            <a:avLst>
              <a:gd name="adj" fmla="val 7273"/>
            </a:avLst>
          </a:prstGeom>
          <a:solidFill>
            <a:srgbClr val="F2F2F2"/>
          </a:solidFill>
          <a:ln>
            <a:noFill/>
          </a:ln>
        </p:spPr>
      </p:sp>
      <p:sp>
        <p:nvSpPr>
          <p:cNvPr id="39" name="TextBox 39"/>
          <p:cNvSpPr txBox="1"/>
          <p:nvPr/>
        </p:nvSpPr>
        <p:spPr>
          <a:xfrm>
            <a:off x="747712" y="3755231"/>
            <a:ext cx="2005447" cy="228600"/>
          </a:xfrm>
          <a:prstGeom prst="rect">
            <a:avLst/>
          </a:prstGeom>
          <a:noFill/>
          <a:ln>
            <a:noFill/>
          </a:ln>
        </p:spPr>
        <p:txBody>
          <a:bodyPr wrap="none" lIns="0" tIns="0" rIns="0" bIns="0" anchor="t" anchorCtr="0">
            <a:spAutoFit/>
          </a:bodyPr>
          <a:lstStyle/>
          <a:p>
            <a:pPr algn="l"/>
            <a:r>
              <a:rPr lang="zh-CN" sz="1125" b="1" dirty="0">
                <a:solidFill>
                  <a:srgbClr val="C00000"/>
                </a:solidFill>
                <a:latin typeface="Arial"/>
                <a:ea typeface="Microsoft YaHei"/>
                <a:cs typeface="Arial"/>
              </a:rPr>
              <a:t>蒸馏产物（5种知识资产）：</a:t>
            </a:r>
          </a:p>
        </p:txBody>
      </p:sp>
      <p:sp>
        <p:nvSpPr>
          <p:cNvPr id="40" name="Rectangle 40"/>
          <p:cNvSpPr/>
          <p:nvPr/>
        </p:nvSpPr>
        <p:spPr>
          <a:xfrm>
            <a:off x="2667000" y="3714750"/>
            <a:ext cx="1238250" cy="238125"/>
          </a:xfrm>
          <a:prstGeom prst="roundRect">
            <a:avLst>
              <a:gd name="adj" fmla="val 12000"/>
            </a:avLst>
          </a:prstGeom>
          <a:solidFill>
            <a:srgbClr val="FFFFFF"/>
          </a:solidFill>
          <a:ln w="9525">
            <a:solidFill>
              <a:srgbClr val="D9D9D9"/>
            </a:solidFill>
          </a:ln>
        </p:spPr>
      </p:sp>
      <p:sp>
        <p:nvSpPr>
          <p:cNvPr id="41" name="TextBox 41"/>
          <p:cNvSpPr txBox="1"/>
          <p:nvPr/>
        </p:nvSpPr>
        <p:spPr>
          <a:xfrm>
            <a:off x="3034665" y="3789045"/>
            <a:ext cx="502920" cy="182880"/>
          </a:xfrm>
          <a:prstGeom prst="rect">
            <a:avLst/>
          </a:prstGeom>
          <a:noFill/>
          <a:ln>
            <a:noFill/>
          </a:ln>
        </p:spPr>
        <p:txBody>
          <a:bodyPr wrap="none" lIns="0" tIns="0" rIns="0" bIns="0" anchor="t" anchorCtr="0">
            <a:spAutoFit/>
          </a:bodyPr>
          <a:lstStyle/>
          <a:p>
            <a:pPr algn="ctr"/>
            <a:r>
              <a:rPr lang="zh-CN" sz="900" dirty="0">
                <a:solidFill>
                  <a:srgbClr val="333333"/>
                </a:solidFill>
                <a:latin typeface="Arial"/>
                <a:ea typeface="Microsoft YaHei"/>
                <a:cs typeface="Arial"/>
              </a:rPr>
              <a:t>根因规则</a:t>
            </a:r>
          </a:p>
        </p:txBody>
      </p:sp>
      <p:sp>
        <p:nvSpPr>
          <p:cNvPr id="42" name="Rectangle 42"/>
          <p:cNvSpPr/>
          <p:nvPr/>
        </p:nvSpPr>
        <p:spPr>
          <a:xfrm>
            <a:off x="4048125" y="3714750"/>
            <a:ext cx="1238250" cy="238125"/>
          </a:xfrm>
          <a:prstGeom prst="roundRect">
            <a:avLst>
              <a:gd name="adj" fmla="val 12000"/>
            </a:avLst>
          </a:prstGeom>
          <a:solidFill>
            <a:srgbClr val="FFFFFF"/>
          </a:solidFill>
          <a:ln w="9525">
            <a:solidFill>
              <a:srgbClr val="D9D9D9"/>
            </a:solidFill>
          </a:ln>
        </p:spPr>
      </p:sp>
      <p:sp>
        <p:nvSpPr>
          <p:cNvPr id="43" name="TextBox 43"/>
          <p:cNvSpPr txBox="1"/>
          <p:nvPr/>
        </p:nvSpPr>
        <p:spPr>
          <a:xfrm>
            <a:off x="4424791" y="3789045"/>
            <a:ext cx="484918" cy="182880"/>
          </a:xfrm>
          <a:prstGeom prst="rect">
            <a:avLst/>
          </a:prstGeom>
          <a:noFill/>
          <a:ln>
            <a:noFill/>
          </a:ln>
        </p:spPr>
        <p:txBody>
          <a:bodyPr wrap="none" lIns="0" tIns="0" rIns="0" bIns="0" anchor="t" anchorCtr="0">
            <a:spAutoFit/>
          </a:bodyPr>
          <a:lstStyle/>
          <a:p>
            <a:pPr algn="ctr"/>
            <a:r>
              <a:rPr lang="zh-CN" sz="900" dirty="0">
                <a:solidFill>
                  <a:srgbClr val="333333"/>
                </a:solidFill>
                <a:latin typeface="Arial"/>
                <a:ea typeface="Microsoft YaHei"/>
                <a:cs typeface="Arial"/>
              </a:rPr>
              <a:t>SOP模板</a:t>
            </a:r>
          </a:p>
        </p:txBody>
      </p:sp>
      <p:sp>
        <p:nvSpPr>
          <p:cNvPr id="44" name="Rectangle 44"/>
          <p:cNvSpPr/>
          <p:nvPr/>
        </p:nvSpPr>
        <p:spPr>
          <a:xfrm>
            <a:off x="5429250" y="3714750"/>
            <a:ext cx="1238250" cy="238125"/>
          </a:xfrm>
          <a:prstGeom prst="roundRect">
            <a:avLst>
              <a:gd name="adj" fmla="val 12000"/>
            </a:avLst>
          </a:prstGeom>
          <a:solidFill>
            <a:srgbClr val="FFFFFF"/>
          </a:solidFill>
          <a:ln w="9525">
            <a:solidFill>
              <a:srgbClr val="D9D9D9"/>
            </a:solidFill>
          </a:ln>
        </p:spPr>
      </p:sp>
      <p:sp>
        <p:nvSpPr>
          <p:cNvPr id="45" name="TextBox 45"/>
          <p:cNvSpPr txBox="1"/>
          <p:nvPr/>
        </p:nvSpPr>
        <p:spPr>
          <a:xfrm>
            <a:off x="5796915" y="3789045"/>
            <a:ext cx="502920" cy="182880"/>
          </a:xfrm>
          <a:prstGeom prst="rect">
            <a:avLst/>
          </a:prstGeom>
          <a:noFill/>
          <a:ln>
            <a:noFill/>
          </a:ln>
        </p:spPr>
        <p:txBody>
          <a:bodyPr wrap="none" lIns="0" tIns="0" rIns="0" bIns="0" anchor="t" anchorCtr="0">
            <a:spAutoFit/>
          </a:bodyPr>
          <a:lstStyle/>
          <a:p>
            <a:pPr algn="ctr"/>
            <a:r>
              <a:rPr lang="zh-CN" sz="900" dirty="0">
                <a:solidFill>
                  <a:srgbClr val="333333"/>
                </a:solidFill>
                <a:latin typeface="Arial"/>
                <a:ea typeface="Microsoft YaHei"/>
                <a:cs typeface="Arial"/>
              </a:rPr>
              <a:t>预警信号</a:t>
            </a:r>
          </a:p>
        </p:txBody>
      </p:sp>
      <p:sp>
        <p:nvSpPr>
          <p:cNvPr id="46" name="Rectangle 46"/>
          <p:cNvSpPr/>
          <p:nvPr/>
        </p:nvSpPr>
        <p:spPr>
          <a:xfrm>
            <a:off x="6810375" y="3714750"/>
            <a:ext cx="1238250" cy="238125"/>
          </a:xfrm>
          <a:prstGeom prst="roundRect">
            <a:avLst>
              <a:gd name="adj" fmla="val 12000"/>
            </a:avLst>
          </a:prstGeom>
          <a:solidFill>
            <a:srgbClr val="FFFFFF"/>
          </a:solidFill>
          <a:ln w="9525">
            <a:solidFill>
              <a:srgbClr val="D9D9D9"/>
            </a:solidFill>
          </a:ln>
        </p:spPr>
      </p:sp>
      <p:sp>
        <p:nvSpPr>
          <p:cNvPr id="47" name="TextBox 47"/>
          <p:cNvSpPr txBox="1"/>
          <p:nvPr/>
        </p:nvSpPr>
        <p:spPr>
          <a:xfrm>
            <a:off x="7178040" y="3789045"/>
            <a:ext cx="502920" cy="182880"/>
          </a:xfrm>
          <a:prstGeom prst="rect">
            <a:avLst/>
          </a:prstGeom>
          <a:noFill/>
          <a:ln>
            <a:noFill/>
          </a:ln>
        </p:spPr>
        <p:txBody>
          <a:bodyPr wrap="none" lIns="0" tIns="0" rIns="0" bIns="0" anchor="t" anchorCtr="0">
            <a:spAutoFit/>
          </a:bodyPr>
          <a:lstStyle/>
          <a:p>
            <a:pPr algn="ctr"/>
            <a:r>
              <a:rPr lang="zh-CN" sz="900" dirty="0">
                <a:solidFill>
                  <a:srgbClr val="333333"/>
                </a:solidFill>
                <a:latin typeface="Arial"/>
                <a:ea typeface="Microsoft YaHei"/>
                <a:cs typeface="Arial"/>
              </a:rPr>
              <a:t>脚本推荐</a:t>
            </a:r>
          </a:p>
        </p:txBody>
      </p:sp>
      <p:sp>
        <p:nvSpPr>
          <p:cNvPr id="48" name="Rectangle 48"/>
          <p:cNvSpPr/>
          <p:nvPr/>
        </p:nvSpPr>
        <p:spPr>
          <a:xfrm>
            <a:off x="8191500" y="3714750"/>
            <a:ext cx="1238250" cy="238125"/>
          </a:xfrm>
          <a:prstGeom prst="roundRect">
            <a:avLst>
              <a:gd name="adj" fmla="val 12000"/>
            </a:avLst>
          </a:prstGeom>
          <a:solidFill>
            <a:srgbClr val="FFFFFF"/>
          </a:solidFill>
          <a:ln w="9525">
            <a:solidFill>
              <a:srgbClr val="D9D9D9"/>
            </a:solidFill>
          </a:ln>
        </p:spPr>
      </p:sp>
      <p:sp>
        <p:nvSpPr>
          <p:cNvPr id="49" name="TextBox 49"/>
          <p:cNvSpPr txBox="1"/>
          <p:nvPr/>
        </p:nvSpPr>
        <p:spPr>
          <a:xfrm>
            <a:off x="8559165" y="3789045"/>
            <a:ext cx="502920" cy="182880"/>
          </a:xfrm>
          <a:prstGeom prst="rect">
            <a:avLst/>
          </a:prstGeom>
          <a:noFill/>
          <a:ln>
            <a:noFill/>
          </a:ln>
        </p:spPr>
        <p:txBody>
          <a:bodyPr wrap="none" lIns="0" tIns="0" rIns="0" bIns="0" anchor="t" anchorCtr="0">
            <a:spAutoFit/>
          </a:bodyPr>
          <a:lstStyle/>
          <a:p>
            <a:pPr algn="ctr"/>
            <a:r>
              <a:rPr lang="zh-CN" sz="900" dirty="0">
                <a:solidFill>
                  <a:srgbClr val="333333"/>
                </a:solidFill>
                <a:latin typeface="Arial"/>
                <a:ea typeface="Microsoft YaHei"/>
                <a:cs typeface="Arial"/>
              </a:rPr>
              <a:t>关键经验</a:t>
            </a:r>
          </a:p>
        </p:txBody>
      </p:sp>
      <p:sp>
        <p:nvSpPr>
          <p:cNvPr id="50" name="Rectangle 50"/>
          <p:cNvSpPr/>
          <p:nvPr/>
        </p:nvSpPr>
        <p:spPr>
          <a:xfrm>
            <a:off x="571500" y="4333875"/>
            <a:ext cx="4381500" cy="952500"/>
          </a:xfrm>
          <a:prstGeom prst="roundRect">
            <a:avLst>
              <a:gd name="adj" fmla="val 4000"/>
            </a:avLst>
          </a:prstGeom>
          <a:solidFill>
            <a:srgbClr val="FFFFFF"/>
          </a:solidFill>
          <a:ln w="19050">
            <a:solidFill>
              <a:srgbClr val="E7E6E6"/>
            </a:solidFill>
          </a:ln>
        </p:spPr>
      </p:sp>
      <p:sp>
        <p:nvSpPr>
          <p:cNvPr id="51" name="TextBox 51"/>
          <p:cNvSpPr txBox="1"/>
          <p:nvPr/>
        </p:nvSpPr>
        <p:spPr>
          <a:xfrm>
            <a:off x="2074566" y="4450556"/>
            <a:ext cx="1375368" cy="228600"/>
          </a:xfrm>
          <a:prstGeom prst="rect">
            <a:avLst/>
          </a:prstGeom>
          <a:noFill/>
          <a:ln>
            <a:noFill/>
          </a:ln>
        </p:spPr>
        <p:txBody>
          <a:bodyPr wrap="none" lIns="0" tIns="0" rIns="0" bIns="0" anchor="t" anchorCtr="0">
            <a:spAutoFit/>
          </a:bodyPr>
          <a:lstStyle/>
          <a:p>
            <a:pPr algn="ctr"/>
            <a:r>
              <a:rPr lang="zh-CN" sz="1125" b="1" dirty="0">
                <a:solidFill>
                  <a:srgbClr val="666666"/>
                </a:solidFill>
                <a:latin typeface="Arial"/>
                <a:ea typeface="Microsoft YaHei"/>
                <a:cs typeface="Arial"/>
              </a:rPr>
              <a:t>传统：N次同类故障</a:t>
            </a:r>
          </a:p>
        </p:txBody>
      </p:sp>
      <p:sp>
        <p:nvSpPr>
          <p:cNvPr id="52" name="TextBox 52"/>
          <p:cNvSpPr txBox="1"/>
          <p:nvPr/>
        </p:nvSpPr>
        <p:spPr>
          <a:xfrm>
            <a:off x="749618" y="4752499"/>
            <a:ext cx="1584960" cy="198120"/>
          </a:xfrm>
          <a:prstGeom prst="rect">
            <a:avLst/>
          </a:prstGeom>
          <a:noFill/>
          <a:ln>
            <a:noFill/>
          </a:ln>
        </p:spPr>
        <p:txBody>
          <a:bodyPr wrap="none" lIns="0" tIns="0" rIns="0" bIns="0" anchor="t" anchorCtr="0">
            <a:spAutoFit/>
          </a:bodyPr>
          <a:lstStyle/>
          <a:p>
            <a:pPr algn="l"/>
            <a:r>
              <a:rPr lang="zh-CN" sz="975" dirty="0">
                <a:solidFill>
                  <a:srgbClr val="333333"/>
                </a:solidFill>
                <a:latin typeface="Arial"/>
                <a:ea typeface="Microsoft YaHei"/>
                <a:cs typeface="Arial"/>
              </a:rPr>
              <a:t>每次产生独立记录，无去重</a:t>
            </a:r>
          </a:p>
        </p:txBody>
      </p:sp>
      <p:sp>
        <p:nvSpPr>
          <p:cNvPr id="53" name="TextBox 53"/>
          <p:cNvSpPr txBox="1"/>
          <p:nvPr/>
        </p:nvSpPr>
        <p:spPr>
          <a:xfrm>
            <a:off x="749618" y="4942999"/>
            <a:ext cx="1344430" cy="198120"/>
          </a:xfrm>
          <a:prstGeom prst="rect">
            <a:avLst/>
          </a:prstGeom>
          <a:noFill/>
          <a:ln>
            <a:noFill/>
          </a:ln>
        </p:spPr>
        <p:txBody>
          <a:bodyPr wrap="none" lIns="0" tIns="0" rIns="0" bIns="0" anchor="t" anchorCtr="0">
            <a:spAutoFit/>
          </a:bodyPr>
          <a:lstStyle/>
          <a:p>
            <a:pPr algn="l"/>
            <a:r>
              <a:rPr lang="zh-CN" sz="975" dirty="0">
                <a:solidFill>
                  <a:srgbClr val="333333"/>
                </a:solidFill>
                <a:latin typeface="Arial"/>
                <a:ea typeface="Microsoft YaHei"/>
                <a:cs typeface="Arial"/>
              </a:rPr>
              <a:t>知识冗余 → 信噪比下降</a:t>
            </a:r>
          </a:p>
        </p:txBody>
      </p:sp>
      <p:sp>
        <p:nvSpPr>
          <p:cNvPr id="54" name="Polygon 54"/>
          <p:cNvSpPr/>
          <p:nvPr/>
        </p:nvSpPr>
        <p:spPr>
          <a:xfrm>
            <a:off x="5143500" y="4572000"/>
            <a:ext cx="190500" cy="285750"/>
          </a:xfrm>
          <a:custGeom>
            <a:avLst/>
            <a:gdLst/>
            <a:ahLst/>
            <a:cxnLst/>
            <a:rect l="l" t="t" r="r" b="b"/>
            <a:pathLst>
              <a:path w="190500" h="285750">
                <a:moveTo>
                  <a:pt x="0" y="0"/>
                </a:moveTo>
                <a:lnTo>
                  <a:pt x="190500" y="142875"/>
                </a:lnTo>
                <a:lnTo>
                  <a:pt x="0" y="285750"/>
                </a:lnTo>
                <a:close/>
              </a:path>
            </a:pathLst>
          </a:custGeom>
          <a:solidFill>
            <a:srgbClr val="2E75B6"/>
          </a:solidFill>
          <a:ln>
            <a:noFill/>
          </a:ln>
        </p:spPr>
      </p:sp>
      <p:sp>
        <p:nvSpPr>
          <p:cNvPr id="55" name="Rectangle 55"/>
          <p:cNvSpPr/>
          <p:nvPr/>
        </p:nvSpPr>
        <p:spPr>
          <a:xfrm>
            <a:off x="5524500" y="4333875"/>
            <a:ext cx="6096000" cy="952500"/>
          </a:xfrm>
          <a:prstGeom prst="roundRect">
            <a:avLst>
              <a:gd name="adj" fmla="val 4000"/>
            </a:avLst>
          </a:prstGeom>
          <a:solidFill>
            <a:srgbClr val="FDF3EB"/>
          </a:solidFill>
          <a:ln w="19050">
            <a:solidFill>
              <a:srgbClr val="F8CBAD"/>
            </a:solidFill>
          </a:ln>
        </p:spPr>
      </p:sp>
      <p:sp>
        <p:nvSpPr>
          <p:cNvPr id="56" name="TextBox 56"/>
          <p:cNvSpPr txBox="1"/>
          <p:nvPr/>
        </p:nvSpPr>
        <p:spPr>
          <a:xfrm>
            <a:off x="7144473" y="4450556"/>
            <a:ext cx="2856053" cy="228600"/>
          </a:xfrm>
          <a:prstGeom prst="rect">
            <a:avLst/>
          </a:prstGeom>
          <a:noFill/>
          <a:ln>
            <a:noFill/>
          </a:ln>
        </p:spPr>
        <p:txBody>
          <a:bodyPr wrap="none" lIns="0" tIns="0" rIns="0" bIns="0" anchor="t" anchorCtr="0">
            <a:spAutoFit/>
          </a:bodyPr>
          <a:lstStyle/>
          <a:p>
            <a:pPr algn="ctr"/>
            <a:r>
              <a:rPr lang="zh-CN" sz="1125" b="1" dirty="0">
                <a:solidFill>
                  <a:srgbClr val="C00000"/>
                </a:solidFill>
                <a:latin typeface="Arial"/>
                <a:ea typeface="Microsoft YaHei"/>
                <a:cs typeface="Arial"/>
              </a:rPr>
              <a:t>IntelliOps：N次同类故障 → 1个权威模式</a:t>
            </a:r>
          </a:p>
        </p:txBody>
      </p:sp>
      <p:sp>
        <p:nvSpPr>
          <p:cNvPr id="57" name="Rectangle 57"/>
          <p:cNvSpPr/>
          <p:nvPr/>
        </p:nvSpPr>
        <p:spPr>
          <a:xfrm>
            <a:off x="8572500" y="4743450"/>
            <a:ext cx="1238250" cy="238125"/>
          </a:xfrm>
          <a:prstGeom prst="roundRect">
            <a:avLst>
              <a:gd name="adj" fmla="val 12000"/>
            </a:avLst>
          </a:prstGeom>
          <a:solidFill>
            <a:srgbClr val="C00000"/>
          </a:solidFill>
          <a:ln>
            <a:noFill/>
          </a:ln>
        </p:spPr>
      </p:sp>
      <p:sp>
        <p:nvSpPr>
          <p:cNvPr id="58" name="TextBox 58"/>
          <p:cNvSpPr txBox="1"/>
          <p:nvPr/>
        </p:nvSpPr>
        <p:spPr>
          <a:xfrm>
            <a:off x="8698185" y="4817745"/>
            <a:ext cx="986880" cy="182880"/>
          </a:xfrm>
          <a:prstGeom prst="rect">
            <a:avLst/>
          </a:prstGeom>
          <a:noFill/>
          <a:ln>
            <a:noFill/>
          </a:ln>
        </p:spPr>
        <p:txBody>
          <a:bodyPr wrap="none" lIns="0" tIns="0" rIns="0" bIns="0" anchor="t" anchorCtr="0">
            <a:spAutoFit/>
          </a:bodyPr>
          <a:lstStyle/>
          <a:p>
            <a:pPr algn="ctr"/>
            <a:r>
              <a:rPr lang="zh-CN" sz="900" b="1" dirty="0">
                <a:solidFill>
                  <a:srgbClr val="FFFFFF"/>
                </a:solidFill>
                <a:latin typeface="Arial"/>
                <a:ea typeface="Microsoft YaHei"/>
                <a:cs typeface="Arial"/>
              </a:rPr>
              <a:t>约N/3个精炼模式</a:t>
            </a:r>
          </a:p>
        </p:txBody>
      </p:sp>
      <p:sp>
        <p:nvSpPr>
          <p:cNvPr id="59" name="TextBox 59"/>
          <p:cNvSpPr txBox="1"/>
          <p:nvPr/>
        </p:nvSpPr>
        <p:spPr>
          <a:xfrm>
            <a:off x="5702618" y="4942999"/>
            <a:ext cx="2436566" cy="198120"/>
          </a:xfrm>
          <a:prstGeom prst="rect">
            <a:avLst/>
          </a:prstGeom>
          <a:noFill/>
          <a:ln>
            <a:noFill/>
          </a:ln>
        </p:spPr>
        <p:txBody>
          <a:bodyPr wrap="none" lIns="0" tIns="0" rIns="0" bIns="0" anchor="t" anchorCtr="0">
            <a:spAutoFit/>
          </a:bodyPr>
          <a:lstStyle/>
          <a:p>
            <a:pPr algn="l"/>
            <a:r>
              <a:rPr lang="zh-CN" sz="975" dirty="0">
                <a:solidFill>
                  <a:srgbClr val="333333"/>
                </a:solidFill>
                <a:latin typeface="Arial"/>
                <a:ea typeface="Microsoft YaHei"/>
                <a:cs typeface="Arial"/>
              </a:rPr>
              <a:t>语义去重+LLM精炼 → 高质量高信噪比知识</a:t>
            </a:r>
          </a:p>
        </p:txBody>
      </p:sp>
      <p:sp>
        <p:nvSpPr>
          <p:cNvPr id="60" name="Rectangle 60"/>
          <p:cNvSpPr/>
          <p:nvPr/>
        </p:nvSpPr>
        <p:spPr>
          <a:xfrm>
            <a:off x="571500" y="5524500"/>
            <a:ext cx="3524250" cy="809625"/>
          </a:xfrm>
          <a:prstGeom prst="roundRect">
            <a:avLst>
              <a:gd name="adj" fmla="val 4706"/>
            </a:avLst>
          </a:prstGeom>
          <a:solidFill>
            <a:srgbClr val="FFFFFF"/>
          </a:solidFill>
          <a:ln w="19050">
            <a:solidFill>
              <a:srgbClr val="E7E6E6"/>
            </a:solidFill>
          </a:ln>
        </p:spPr>
      </p:sp>
      <p:sp>
        <p:nvSpPr>
          <p:cNvPr id="61" name="Rectangle 61"/>
          <p:cNvSpPr/>
          <p:nvPr/>
        </p:nvSpPr>
        <p:spPr>
          <a:xfrm>
            <a:off x="571500" y="5524500"/>
            <a:ext cx="3524250" cy="285750"/>
          </a:xfrm>
          <a:prstGeom prst="roundRect">
            <a:avLst>
              <a:gd name="adj" fmla="val 13333"/>
            </a:avLst>
          </a:prstGeom>
          <a:solidFill>
            <a:srgbClr val="C00000"/>
          </a:solidFill>
          <a:ln>
            <a:noFill/>
          </a:ln>
        </p:spPr>
      </p:sp>
      <p:sp>
        <p:nvSpPr>
          <p:cNvPr id="62" name="TextBox 62"/>
          <p:cNvSpPr txBox="1"/>
          <p:nvPr/>
        </p:nvSpPr>
        <p:spPr>
          <a:xfrm>
            <a:off x="1838805" y="5611178"/>
            <a:ext cx="989640"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Arial"/>
                <a:ea typeface="Microsoft YaHei"/>
                <a:cs typeface="Arial"/>
              </a:rPr>
              <a:t>阶段C预期效果</a:t>
            </a:r>
          </a:p>
        </p:txBody>
      </p:sp>
      <p:sp>
        <p:nvSpPr>
          <p:cNvPr id="63" name="TextBox 63"/>
          <p:cNvSpPr txBox="1"/>
          <p:nvPr/>
        </p:nvSpPr>
        <p:spPr>
          <a:xfrm>
            <a:off x="861879" y="5966460"/>
            <a:ext cx="1324242" cy="243840"/>
          </a:xfrm>
          <a:prstGeom prst="rect">
            <a:avLst/>
          </a:prstGeom>
          <a:noFill/>
          <a:ln>
            <a:noFill/>
          </a:ln>
        </p:spPr>
        <p:txBody>
          <a:bodyPr wrap="none" lIns="0" tIns="0" rIns="0" bIns="0" anchor="t" anchorCtr="0">
            <a:spAutoFit/>
          </a:bodyPr>
          <a:lstStyle/>
          <a:p>
            <a:pPr algn="ctr"/>
            <a:r>
              <a:rPr lang="zh-CN" sz="1200" b="1" dirty="0">
                <a:solidFill>
                  <a:srgbClr val="C00000"/>
                </a:solidFill>
                <a:latin typeface="Arial"/>
                <a:ea typeface="Microsoft YaHei"/>
                <a:cs typeface="Arial"/>
              </a:rPr>
              <a:t>复盘完成率 ≥80%</a:t>
            </a:r>
          </a:p>
        </p:txBody>
      </p:sp>
      <p:sp>
        <p:nvSpPr>
          <p:cNvPr id="64" name="TextBox 64"/>
          <p:cNvSpPr txBox="1"/>
          <p:nvPr/>
        </p:nvSpPr>
        <p:spPr>
          <a:xfrm>
            <a:off x="2862129" y="5966460"/>
            <a:ext cx="1324242" cy="243840"/>
          </a:xfrm>
          <a:prstGeom prst="rect">
            <a:avLst/>
          </a:prstGeom>
          <a:noFill/>
          <a:ln>
            <a:noFill/>
          </a:ln>
        </p:spPr>
        <p:txBody>
          <a:bodyPr wrap="none" lIns="0" tIns="0" rIns="0" bIns="0" anchor="t" anchorCtr="0">
            <a:spAutoFit/>
          </a:bodyPr>
          <a:lstStyle/>
          <a:p>
            <a:pPr algn="ctr"/>
            <a:r>
              <a:rPr lang="zh-CN" sz="1200" b="1" dirty="0">
                <a:solidFill>
                  <a:srgbClr val="C00000"/>
                </a:solidFill>
                <a:latin typeface="Arial"/>
                <a:ea typeface="Microsoft YaHei"/>
                <a:cs typeface="Arial"/>
              </a:rPr>
              <a:t>措施落实率 ≥80%</a:t>
            </a:r>
          </a:p>
        </p:txBody>
      </p:sp>
      <p:sp>
        <p:nvSpPr>
          <p:cNvPr id="65" name="Rectangle 65"/>
          <p:cNvSpPr/>
          <p:nvPr/>
        </p:nvSpPr>
        <p:spPr>
          <a:xfrm>
            <a:off x="4333875" y="5524500"/>
            <a:ext cx="3524250" cy="809625"/>
          </a:xfrm>
          <a:prstGeom prst="roundRect">
            <a:avLst>
              <a:gd name="adj" fmla="val 4706"/>
            </a:avLst>
          </a:prstGeom>
          <a:solidFill>
            <a:srgbClr val="FFFFFF"/>
          </a:solidFill>
          <a:ln w="19050">
            <a:solidFill>
              <a:srgbClr val="E7E6E6"/>
            </a:solidFill>
          </a:ln>
        </p:spPr>
      </p:sp>
      <p:sp>
        <p:nvSpPr>
          <p:cNvPr id="66" name="Rectangle 66"/>
          <p:cNvSpPr/>
          <p:nvPr/>
        </p:nvSpPr>
        <p:spPr>
          <a:xfrm>
            <a:off x="4333875" y="5524500"/>
            <a:ext cx="3524250" cy="285750"/>
          </a:xfrm>
          <a:prstGeom prst="roundRect">
            <a:avLst>
              <a:gd name="adj" fmla="val 13333"/>
            </a:avLst>
          </a:prstGeom>
          <a:solidFill>
            <a:srgbClr val="2E75B6"/>
          </a:solidFill>
          <a:ln>
            <a:noFill/>
          </a:ln>
        </p:spPr>
      </p:sp>
      <p:sp>
        <p:nvSpPr>
          <p:cNvPr id="67" name="TextBox 67"/>
          <p:cNvSpPr txBox="1"/>
          <p:nvPr/>
        </p:nvSpPr>
        <p:spPr>
          <a:xfrm>
            <a:off x="5788628" y="5611178"/>
            <a:ext cx="614744"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Arial"/>
                <a:ea typeface="Microsoft YaHei"/>
                <a:cs typeface="Arial"/>
              </a:rPr>
              <a:t>知识质量</a:t>
            </a:r>
          </a:p>
        </p:txBody>
      </p:sp>
      <p:sp>
        <p:nvSpPr>
          <p:cNvPr id="68" name="TextBox 68"/>
          <p:cNvSpPr txBox="1"/>
          <p:nvPr/>
        </p:nvSpPr>
        <p:spPr>
          <a:xfrm>
            <a:off x="4683062" y="5966460"/>
            <a:ext cx="1206627" cy="243840"/>
          </a:xfrm>
          <a:prstGeom prst="rect">
            <a:avLst/>
          </a:prstGeom>
          <a:noFill/>
          <a:ln>
            <a:noFill/>
          </a:ln>
        </p:spPr>
        <p:txBody>
          <a:bodyPr wrap="none" lIns="0" tIns="0" rIns="0" bIns="0" anchor="t" anchorCtr="0">
            <a:spAutoFit/>
          </a:bodyPr>
          <a:lstStyle/>
          <a:p>
            <a:pPr algn="ctr"/>
            <a:r>
              <a:rPr lang="zh-CN" sz="1200" b="1" dirty="0">
                <a:solidFill>
                  <a:srgbClr val="2E75B6"/>
                </a:solidFill>
                <a:latin typeface="Arial"/>
                <a:ea typeface="Microsoft YaHei"/>
                <a:cs typeface="Arial"/>
              </a:rPr>
              <a:t>信噪比持续提升</a:t>
            </a:r>
          </a:p>
        </p:txBody>
      </p:sp>
      <p:sp>
        <p:nvSpPr>
          <p:cNvPr id="69" name="TextBox 69"/>
          <p:cNvSpPr txBox="1"/>
          <p:nvPr/>
        </p:nvSpPr>
        <p:spPr>
          <a:xfrm>
            <a:off x="6767322" y="5966460"/>
            <a:ext cx="1038606" cy="243840"/>
          </a:xfrm>
          <a:prstGeom prst="rect">
            <a:avLst/>
          </a:prstGeom>
          <a:noFill/>
          <a:ln>
            <a:noFill/>
          </a:ln>
        </p:spPr>
        <p:txBody>
          <a:bodyPr wrap="none" lIns="0" tIns="0" rIns="0" bIns="0" anchor="t" anchorCtr="0">
            <a:spAutoFit/>
          </a:bodyPr>
          <a:lstStyle/>
          <a:p>
            <a:pPr algn="ctr"/>
            <a:r>
              <a:rPr lang="zh-CN" sz="1200" b="1" dirty="0">
                <a:solidFill>
                  <a:srgbClr val="2E75B6"/>
                </a:solidFill>
                <a:latin typeface="Arial"/>
                <a:ea typeface="Microsoft YaHei"/>
                <a:cs typeface="Arial"/>
              </a:rPr>
              <a:t>模式自动精炼</a:t>
            </a:r>
          </a:p>
        </p:txBody>
      </p:sp>
      <p:sp>
        <p:nvSpPr>
          <p:cNvPr id="70" name="Rectangle 70"/>
          <p:cNvSpPr/>
          <p:nvPr/>
        </p:nvSpPr>
        <p:spPr>
          <a:xfrm>
            <a:off x="8096250" y="5524500"/>
            <a:ext cx="3524250" cy="809625"/>
          </a:xfrm>
          <a:prstGeom prst="roundRect">
            <a:avLst>
              <a:gd name="adj" fmla="val 4706"/>
            </a:avLst>
          </a:prstGeom>
          <a:solidFill>
            <a:srgbClr val="FFFFFF"/>
          </a:solidFill>
          <a:ln w="19050">
            <a:solidFill>
              <a:srgbClr val="E7E6E6"/>
            </a:solidFill>
          </a:ln>
        </p:spPr>
      </p:sp>
      <p:sp>
        <p:nvSpPr>
          <p:cNvPr id="71" name="Rectangle 71"/>
          <p:cNvSpPr/>
          <p:nvPr/>
        </p:nvSpPr>
        <p:spPr>
          <a:xfrm>
            <a:off x="8096250" y="5524500"/>
            <a:ext cx="3524250" cy="285750"/>
          </a:xfrm>
          <a:prstGeom prst="roundRect">
            <a:avLst>
              <a:gd name="adj" fmla="val 13333"/>
            </a:avLst>
          </a:prstGeom>
          <a:solidFill>
            <a:srgbClr val="5B9BD5"/>
          </a:solidFill>
          <a:ln>
            <a:noFill/>
          </a:ln>
        </p:spPr>
      </p:sp>
      <p:sp>
        <p:nvSpPr>
          <p:cNvPr id="72" name="TextBox 72"/>
          <p:cNvSpPr txBox="1"/>
          <p:nvPr/>
        </p:nvSpPr>
        <p:spPr>
          <a:xfrm>
            <a:off x="9551003" y="5611178"/>
            <a:ext cx="614744"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Arial"/>
                <a:ea typeface="Microsoft YaHei"/>
                <a:cs typeface="Arial"/>
              </a:rPr>
              <a:t>人才培养</a:t>
            </a:r>
          </a:p>
        </p:txBody>
      </p:sp>
      <p:sp>
        <p:nvSpPr>
          <p:cNvPr id="73" name="TextBox 73"/>
          <p:cNvSpPr txBox="1"/>
          <p:nvPr/>
        </p:nvSpPr>
        <p:spPr>
          <a:xfrm>
            <a:off x="8350244" y="5966460"/>
            <a:ext cx="1492263" cy="243840"/>
          </a:xfrm>
          <a:prstGeom prst="rect">
            <a:avLst/>
          </a:prstGeom>
          <a:noFill/>
          <a:ln>
            <a:noFill/>
          </a:ln>
        </p:spPr>
        <p:txBody>
          <a:bodyPr wrap="none" lIns="0" tIns="0" rIns="0" bIns="0" anchor="t" anchorCtr="0">
            <a:spAutoFit/>
          </a:bodyPr>
          <a:lstStyle/>
          <a:p>
            <a:pPr algn="ctr"/>
            <a:r>
              <a:rPr lang="zh-CN" sz="1200" b="1" dirty="0">
                <a:solidFill>
                  <a:srgbClr val="5B9BD5"/>
                </a:solidFill>
                <a:latin typeface="Arial"/>
                <a:ea typeface="Microsoft YaHei"/>
                <a:cs typeface="Arial"/>
              </a:rPr>
              <a:t>新人培养周期 -60%</a:t>
            </a:r>
          </a:p>
        </p:txBody>
      </p:sp>
    </p:spTree>
  </p:cSld>
  <p:clrMapOvr>
    <a:masterClrMapping/>
  </p:clrMapOvr>
  <p:transition xmlns:p14="http://schemas.microsoft.com/office/powerpoint/2010/main" p14:dur="400">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38100"/>
          </a:xfrm>
          <a:prstGeom prst="rect">
            <a:avLst/>
          </a:prstGeom>
          <a:solidFill>
            <a:srgbClr val="C00000"/>
          </a:solidFill>
          <a:ln>
            <a:noFill/>
          </a:ln>
        </p:spPr>
      </p:sp>
      <p:sp>
        <p:nvSpPr>
          <p:cNvPr id="4" name="Rectangle 4"/>
          <p:cNvSpPr/>
          <p:nvPr/>
        </p:nvSpPr>
        <p:spPr>
          <a:xfrm>
            <a:off x="0" y="38100"/>
            <a:ext cx="12192000" cy="723900"/>
          </a:xfrm>
          <a:prstGeom prst="rect">
            <a:avLst/>
          </a:prstGeom>
          <a:solidFill>
            <a:srgbClr val="FFFFFF"/>
          </a:solidFill>
          <a:ln>
            <a:noFill/>
          </a:ln>
        </p:spPr>
      </p:sp>
      <p:sp>
        <p:nvSpPr>
          <p:cNvPr id="5" name="Line 5"/>
          <p:cNvSpPr/>
          <p:nvPr/>
        </p:nvSpPr>
        <p:spPr>
          <a:xfrm>
            <a:off x="0" y="762000"/>
            <a:ext cx="12192000" cy="9525"/>
          </a:xfrm>
          <a:custGeom>
            <a:avLst/>
            <a:gdLst/>
            <a:ahLst/>
            <a:cxnLst/>
            <a:rect l="l" t="t" r="r" b="b"/>
            <a:pathLst>
              <a:path w="12192000" h="9525">
                <a:moveTo>
                  <a:pt x="0" y="0"/>
                </a:moveTo>
                <a:lnTo>
                  <a:pt x="12192000" y="0"/>
                </a:lnTo>
              </a:path>
            </a:pathLst>
          </a:custGeom>
          <a:noFill/>
          <a:ln w="9525">
            <a:solidFill>
              <a:srgbClr val="E7E6E6"/>
            </a:solidFill>
          </a:ln>
        </p:spPr>
      </p:sp>
      <p:sp>
        <p:nvSpPr>
          <p:cNvPr id="6" name="Rectangle 6"/>
          <p:cNvSpPr/>
          <p:nvPr/>
        </p:nvSpPr>
        <p:spPr>
          <a:xfrm>
            <a:off x="476250" y="190500"/>
            <a:ext cx="76200" cy="381000"/>
          </a:xfrm>
          <a:prstGeom prst="rect">
            <a:avLst/>
          </a:prstGeom>
          <a:solidFill>
            <a:srgbClr val="C00000"/>
          </a:solidFill>
          <a:ln>
            <a:noFill/>
          </a:ln>
        </p:spPr>
      </p:sp>
      <p:sp>
        <p:nvSpPr>
          <p:cNvPr id="7" name="TextBox 7"/>
          <p:cNvSpPr txBox="1"/>
          <p:nvPr/>
        </p:nvSpPr>
        <p:spPr>
          <a:xfrm>
            <a:off x="655320" y="236220"/>
            <a:ext cx="4328693" cy="487680"/>
          </a:xfrm>
          <a:prstGeom prst="rect">
            <a:avLst/>
          </a:prstGeom>
          <a:noFill/>
          <a:ln>
            <a:noFill/>
          </a:ln>
        </p:spPr>
        <p:txBody>
          <a:bodyPr wrap="none" lIns="0" tIns="0" rIns="0" bIns="0" anchor="t" anchorCtr="0">
            <a:spAutoFit/>
          </a:bodyPr>
          <a:lstStyle/>
          <a:p>
            <a:pPr algn="l"/>
            <a:r>
              <a:rPr lang="zh-CN" sz="2400" b="1" dirty="0">
                <a:solidFill>
                  <a:srgbClr val="000000"/>
                </a:solidFill>
                <a:latin typeface="Arial"/>
                <a:ea typeface="Microsoft YaHei"/>
                <a:cs typeface="Arial"/>
              </a:rPr>
              <a:t>传统方案 vs IntelliOps 对比</a:t>
            </a:r>
          </a:p>
        </p:txBody>
      </p:sp>
      <p:sp>
        <p:nvSpPr>
          <p:cNvPr id="8" name="Rectangle 8"/>
          <p:cNvSpPr/>
          <p:nvPr/>
        </p:nvSpPr>
        <p:spPr>
          <a:xfrm>
            <a:off x="0" y="6477000"/>
            <a:ext cx="12192000" cy="381000"/>
          </a:xfrm>
          <a:prstGeom prst="rect">
            <a:avLst/>
          </a:prstGeom>
          <a:solidFill>
            <a:srgbClr val="F2F2F2"/>
          </a:solidFill>
          <a:ln>
            <a:noFill/>
          </a:ln>
        </p:spPr>
      </p:sp>
      <p:sp>
        <p:nvSpPr>
          <p:cNvPr id="9" name="Rectangle 9"/>
          <p:cNvSpPr/>
          <p:nvPr/>
        </p:nvSpPr>
        <p:spPr>
          <a:xfrm>
            <a:off x="0" y="6477000"/>
            <a:ext cx="38100" cy="381000"/>
          </a:xfrm>
          <a:prstGeom prst="rect">
            <a:avLst/>
          </a:prstGeom>
          <a:solidFill>
            <a:srgbClr val="C00000"/>
          </a:solidFill>
          <a:ln>
            <a:noFill/>
          </a:ln>
        </p:spPr>
      </p:sp>
      <p:sp>
        <p:nvSpPr>
          <p:cNvPr id="10" name="TextBox 10"/>
          <p:cNvSpPr txBox="1"/>
          <p:nvPr/>
        </p:nvSpPr>
        <p:spPr>
          <a:xfrm>
            <a:off x="558165" y="6611302"/>
            <a:ext cx="586740" cy="213360"/>
          </a:xfrm>
          <a:prstGeom prst="rect">
            <a:avLst/>
          </a:prstGeom>
          <a:noFill/>
          <a:ln>
            <a:noFill/>
          </a:ln>
        </p:spPr>
        <p:txBody>
          <a:bodyPr wrap="none" lIns="0" tIns="0" rIns="0" bIns="0" anchor="t" anchorCtr="0">
            <a:spAutoFit/>
          </a:bodyPr>
          <a:lstStyle/>
          <a:p>
            <a:pPr algn="l"/>
            <a:r>
              <a:rPr lang="zh-CN" sz="1050" dirty="0">
                <a:solidFill>
                  <a:srgbClr val="666666"/>
                </a:solidFill>
                <a:latin typeface="Arial"/>
                <a:ea typeface="Microsoft YaHei"/>
                <a:cs typeface="Arial"/>
              </a:rPr>
              <a:t>核心亮点</a:t>
            </a:r>
          </a:p>
        </p:txBody>
      </p:sp>
      <p:sp>
        <p:nvSpPr>
          <p:cNvPr id="11" name="Rectangle 11"/>
          <p:cNvSpPr/>
          <p:nvPr/>
        </p:nvSpPr>
        <p:spPr>
          <a:xfrm>
            <a:off x="11525250" y="6553200"/>
            <a:ext cx="285750" cy="228600"/>
          </a:xfrm>
          <a:prstGeom prst="rect">
            <a:avLst/>
          </a:prstGeom>
          <a:solidFill>
            <a:srgbClr val="C00000"/>
          </a:solidFill>
          <a:ln>
            <a:noFill/>
          </a:ln>
        </p:spPr>
      </p:sp>
      <p:sp>
        <p:nvSpPr>
          <p:cNvPr id="12" name="TextBox 12"/>
          <p:cNvSpPr txBox="1"/>
          <p:nvPr/>
        </p:nvSpPr>
        <p:spPr>
          <a:xfrm>
            <a:off x="11573930" y="6611302"/>
            <a:ext cx="188390"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Arial"/>
                <a:ea typeface="Microsoft YaHei"/>
                <a:cs typeface="Arial"/>
              </a:rPr>
              <a:t>15</a:t>
            </a:r>
          </a:p>
        </p:txBody>
      </p:sp>
      <p:sp>
        <p:nvSpPr>
          <p:cNvPr id="13" name="Rectangle 13"/>
          <p:cNvSpPr/>
          <p:nvPr/>
        </p:nvSpPr>
        <p:spPr>
          <a:xfrm>
            <a:off x="476250" y="952500"/>
            <a:ext cx="11239500" cy="381000"/>
          </a:xfrm>
          <a:prstGeom prst="roundRect">
            <a:avLst>
              <a:gd name="adj" fmla="val 10000"/>
            </a:avLst>
          </a:prstGeom>
          <a:solidFill>
            <a:srgbClr val="C00000"/>
          </a:solidFill>
          <a:ln>
            <a:noFill/>
          </a:ln>
        </p:spPr>
      </p:sp>
      <p:sp>
        <p:nvSpPr>
          <p:cNvPr id="14" name="TextBox 14"/>
          <p:cNvSpPr txBox="1"/>
          <p:nvPr/>
        </p:nvSpPr>
        <p:spPr>
          <a:xfrm>
            <a:off x="3127581" y="1063942"/>
            <a:ext cx="412337" cy="274320"/>
          </a:xfrm>
          <a:prstGeom prst="rect">
            <a:avLst/>
          </a:prstGeom>
          <a:noFill/>
          <a:ln>
            <a:noFill/>
          </a:ln>
        </p:spPr>
        <p:txBody>
          <a:bodyPr wrap="none" lIns="0" tIns="0" rIns="0" bIns="0" anchor="t" anchorCtr="0">
            <a:spAutoFit/>
          </a:bodyPr>
          <a:lstStyle/>
          <a:p>
            <a:pPr algn="ctr"/>
            <a:r>
              <a:rPr lang="zh-CN" sz="1350" b="1" dirty="0">
                <a:solidFill>
                  <a:srgbClr val="FFFFFF"/>
                </a:solidFill>
                <a:latin typeface="Arial"/>
                <a:ea typeface="Microsoft YaHei"/>
                <a:cs typeface="Arial"/>
              </a:rPr>
              <a:t>维度</a:t>
            </a:r>
          </a:p>
        </p:txBody>
      </p:sp>
      <p:sp>
        <p:nvSpPr>
          <p:cNvPr id="15" name="TextBox 15"/>
          <p:cNvSpPr txBox="1"/>
          <p:nvPr/>
        </p:nvSpPr>
        <p:spPr>
          <a:xfrm>
            <a:off x="5700808" y="1063942"/>
            <a:ext cx="790384" cy="274320"/>
          </a:xfrm>
          <a:prstGeom prst="rect">
            <a:avLst/>
          </a:prstGeom>
          <a:noFill/>
          <a:ln>
            <a:noFill/>
          </a:ln>
        </p:spPr>
        <p:txBody>
          <a:bodyPr wrap="none" lIns="0" tIns="0" rIns="0" bIns="0" anchor="t" anchorCtr="0">
            <a:spAutoFit/>
          </a:bodyPr>
          <a:lstStyle/>
          <a:p>
            <a:pPr algn="ctr"/>
            <a:r>
              <a:rPr lang="zh-CN" sz="1350" b="1" dirty="0">
                <a:solidFill>
                  <a:srgbClr val="FFFFFF"/>
                </a:solidFill>
                <a:latin typeface="Arial"/>
                <a:ea typeface="Microsoft YaHei"/>
                <a:cs typeface="Arial"/>
              </a:rPr>
              <a:t>传统方案</a:t>
            </a:r>
          </a:p>
        </p:txBody>
      </p:sp>
      <p:sp>
        <p:nvSpPr>
          <p:cNvPr id="16" name="TextBox 16"/>
          <p:cNvSpPr txBox="1"/>
          <p:nvPr/>
        </p:nvSpPr>
        <p:spPr>
          <a:xfrm>
            <a:off x="8396899" y="1063942"/>
            <a:ext cx="922701" cy="274320"/>
          </a:xfrm>
          <a:prstGeom prst="rect">
            <a:avLst/>
          </a:prstGeom>
          <a:noFill/>
          <a:ln>
            <a:noFill/>
          </a:ln>
        </p:spPr>
        <p:txBody>
          <a:bodyPr wrap="none" lIns="0" tIns="0" rIns="0" bIns="0" anchor="t" anchorCtr="0">
            <a:spAutoFit/>
          </a:bodyPr>
          <a:lstStyle/>
          <a:p>
            <a:pPr algn="ctr"/>
            <a:r>
              <a:rPr lang="zh-CN" sz="1350" b="1" dirty="0">
                <a:solidFill>
                  <a:srgbClr val="FFFFFF"/>
                </a:solidFill>
                <a:latin typeface="Arial"/>
                <a:ea typeface="Microsoft YaHei"/>
                <a:cs typeface="Arial"/>
              </a:rPr>
              <a:t>IntelliOps</a:t>
            </a:r>
          </a:p>
        </p:txBody>
      </p:sp>
      <p:sp>
        <p:nvSpPr>
          <p:cNvPr id="17" name="Rectangle 17"/>
          <p:cNvSpPr/>
          <p:nvPr/>
        </p:nvSpPr>
        <p:spPr>
          <a:xfrm>
            <a:off x="476250" y="1333500"/>
            <a:ext cx="11239500" cy="523875"/>
          </a:xfrm>
          <a:prstGeom prst="rect">
            <a:avLst/>
          </a:prstGeom>
          <a:solidFill>
            <a:srgbClr val="FFFFFF"/>
          </a:solidFill>
          <a:ln w="9525">
            <a:solidFill>
              <a:srgbClr val="E7E6E6"/>
            </a:solidFill>
          </a:ln>
        </p:spPr>
      </p:sp>
      <p:sp>
        <p:nvSpPr>
          <p:cNvPr id="18" name="Rectangle 18"/>
          <p:cNvSpPr/>
          <p:nvPr/>
        </p:nvSpPr>
        <p:spPr>
          <a:xfrm>
            <a:off x="476250" y="1333500"/>
            <a:ext cx="11239500" cy="523875"/>
          </a:xfrm>
          <a:prstGeom prst="rect">
            <a:avLst/>
          </a:prstGeom>
          <a:solidFill>
            <a:srgbClr val="F2F2F2"/>
          </a:solidFill>
          <a:ln>
            <a:noFill/>
          </a:ln>
        </p:spPr>
      </p:sp>
      <p:sp>
        <p:nvSpPr>
          <p:cNvPr id="19" name="TextBox 19"/>
          <p:cNvSpPr txBox="1"/>
          <p:nvPr/>
        </p:nvSpPr>
        <p:spPr>
          <a:xfrm>
            <a:off x="2982468" y="1546860"/>
            <a:ext cx="702564" cy="243840"/>
          </a:xfrm>
          <a:prstGeom prst="rect">
            <a:avLst/>
          </a:prstGeom>
          <a:noFill/>
          <a:ln>
            <a:noFill/>
          </a:ln>
        </p:spPr>
        <p:txBody>
          <a:bodyPr wrap="none" lIns="0" tIns="0" rIns="0" bIns="0" anchor="t" anchorCtr="0">
            <a:spAutoFit/>
          </a:bodyPr>
          <a:lstStyle/>
          <a:p>
            <a:pPr algn="ctr"/>
            <a:r>
              <a:rPr lang="zh-CN" sz="1200" b="1" dirty="0">
                <a:solidFill>
                  <a:srgbClr val="333333"/>
                </a:solidFill>
                <a:latin typeface="Arial"/>
                <a:ea typeface="Microsoft YaHei"/>
                <a:cs typeface="Arial"/>
              </a:rPr>
              <a:t>故障定位</a:t>
            </a:r>
          </a:p>
        </p:txBody>
      </p:sp>
      <p:sp>
        <p:nvSpPr>
          <p:cNvPr id="20" name="TextBox 20"/>
          <p:cNvSpPr txBox="1"/>
          <p:nvPr/>
        </p:nvSpPr>
        <p:spPr>
          <a:xfrm>
            <a:off x="5481638" y="1554956"/>
            <a:ext cx="1228725" cy="228600"/>
          </a:xfrm>
          <a:prstGeom prst="rect">
            <a:avLst/>
          </a:prstGeom>
          <a:noFill/>
          <a:ln>
            <a:noFill/>
          </a:ln>
        </p:spPr>
        <p:txBody>
          <a:bodyPr wrap="none" lIns="0" tIns="0" rIns="0" bIns="0" anchor="t" anchorCtr="0">
            <a:spAutoFit/>
          </a:bodyPr>
          <a:lstStyle/>
          <a:p>
            <a:pPr algn="ctr"/>
            <a:r>
              <a:rPr lang="zh-CN" sz="1125" dirty="0">
                <a:solidFill>
                  <a:srgbClr val="666666"/>
                </a:solidFill>
                <a:latin typeface="Arial"/>
                <a:ea typeface="Microsoft YaHei"/>
                <a:cs typeface="Arial"/>
              </a:rPr>
              <a:t>依赖人工经验检索</a:t>
            </a:r>
          </a:p>
        </p:txBody>
      </p:sp>
      <p:sp>
        <p:nvSpPr>
          <p:cNvPr id="21" name="TextBox 21"/>
          <p:cNvSpPr txBox="1"/>
          <p:nvPr/>
        </p:nvSpPr>
        <p:spPr>
          <a:xfrm>
            <a:off x="8168878" y="1554956"/>
            <a:ext cx="1378744" cy="228600"/>
          </a:xfrm>
          <a:prstGeom prst="rect">
            <a:avLst/>
          </a:prstGeom>
          <a:noFill/>
          <a:ln>
            <a:noFill/>
          </a:ln>
        </p:spPr>
        <p:txBody>
          <a:bodyPr wrap="none" lIns="0" tIns="0" rIns="0" bIns="0" anchor="t" anchorCtr="0">
            <a:spAutoFit/>
          </a:bodyPr>
          <a:lstStyle/>
          <a:p>
            <a:pPr algn="ctr"/>
            <a:r>
              <a:rPr lang="zh-CN" sz="1125" dirty="0">
                <a:solidFill>
                  <a:srgbClr val="C00000"/>
                </a:solidFill>
                <a:latin typeface="Arial"/>
                <a:ea typeface="Microsoft YaHei"/>
                <a:cs typeface="Arial"/>
              </a:rPr>
              <a:t>大模型多步因果推理</a:t>
            </a:r>
          </a:p>
        </p:txBody>
      </p:sp>
      <p:sp>
        <p:nvSpPr>
          <p:cNvPr id="22" name="Rectangle 22"/>
          <p:cNvSpPr/>
          <p:nvPr/>
        </p:nvSpPr>
        <p:spPr>
          <a:xfrm>
            <a:off x="476250" y="1857375"/>
            <a:ext cx="11239500" cy="523875"/>
          </a:xfrm>
          <a:prstGeom prst="rect">
            <a:avLst/>
          </a:prstGeom>
          <a:solidFill>
            <a:srgbClr val="FFFFFF"/>
          </a:solidFill>
          <a:ln w="9525">
            <a:solidFill>
              <a:srgbClr val="E7E6E6"/>
            </a:solidFill>
          </a:ln>
        </p:spPr>
      </p:sp>
      <p:sp>
        <p:nvSpPr>
          <p:cNvPr id="23" name="TextBox 23"/>
          <p:cNvSpPr txBox="1"/>
          <p:nvPr/>
        </p:nvSpPr>
        <p:spPr>
          <a:xfrm>
            <a:off x="2982468" y="2070735"/>
            <a:ext cx="702564" cy="243840"/>
          </a:xfrm>
          <a:prstGeom prst="rect">
            <a:avLst/>
          </a:prstGeom>
          <a:noFill/>
          <a:ln>
            <a:noFill/>
          </a:ln>
        </p:spPr>
        <p:txBody>
          <a:bodyPr wrap="none" lIns="0" tIns="0" rIns="0" bIns="0" anchor="t" anchorCtr="0">
            <a:spAutoFit/>
          </a:bodyPr>
          <a:lstStyle/>
          <a:p>
            <a:pPr algn="ctr"/>
            <a:r>
              <a:rPr lang="zh-CN" sz="1200" b="1" dirty="0">
                <a:solidFill>
                  <a:srgbClr val="333333"/>
                </a:solidFill>
                <a:latin typeface="Arial"/>
                <a:ea typeface="Microsoft YaHei"/>
                <a:cs typeface="Arial"/>
              </a:rPr>
              <a:t>日志分析</a:t>
            </a:r>
          </a:p>
        </p:txBody>
      </p:sp>
      <p:sp>
        <p:nvSpPr>
          <p:cNvPr id="24" name="TextBox 24"/>
          <p:cNvSpPr txBox="1"/>
          <p:nvPr/>
        </p:nvSpPr>
        <p:spPr>
          <a:xfrm>
            <a:off x="5781675" y="2078831"/>
            <a:ext cx="628650" cy="228600"/>
          </a:xfrm>
          <a:prstGeom prst="rect">
            <a:avLst/>
          </a:prstGeom>
          <a:noFill/>
          <a:ln>
            <a:noFill/>
          </a:ln>
        </p:spPr>
        <p:txBody>
          <a:bodyPr wrap="none" lIns="0" tIns="0" rIns="0" bIns="0" anchor="t" anchorCtr="0">
            <a:spAutoFit/>
          </a:bodyPr>
          <a:lstStyle/>
          <a:p>
            <a:pPr algn="ctr"/>
            <a:r>
              <a:rPr lang="zh-CN" sz="1125" dirty="0">
                <a:solidFill>
                  <a:srgbClr val="666666"/>
                </a:solidFill>
                <a:latin typeface="Arial"/>
                <a:ea typeface="Microsoft YaHei"/>
                <a:cs typeface="Arial"/>
              </a:rPr>
              <a:t>人工查询</a:t>
            </a:r>
          </a:p>
        </p:txBody>
      </p:sp>
      <p:sp>
        <p:nvSpPr>
          <p:cNvPr id="25" name="TextBox 25"/>
          <p:cNvSpPr txBox="1"/>
          <p:nvPr/>
        </p:nvSpPr>
        <p:spPr>
          <a:xfrm>
            <a:off x="8157627" y="2078831"/>
            <a:ext cx="1401247" cy="228600"/>
          </a:xfrm>
          <a:prstGeom prst="rect">
            <a:avLst/>
          </a:prstGeom>
          <a:noFill/>
          <a:ln>
            <a:noFill/>
          </a:ln>
        </p:spPr>
        <p:txBody>
          <a:bodyPr wrap="none" lIns="0" tIns="0" rIns="0" bIns="0" anchor="t" anchorCtr="0">
            <a:spAutoFit/>
          </a:bodyPr>
          <a:lstStyle/>
          <a:p>
            <a:pPr algn="ctr"/>
            <a:r>
              <a:rPr lang="zh-CN" sz="1125" dirty="0">
                <a:solidFill>
                  <a:srgbClr val="2E75B6"/>
                </a:solidFill>
                <a:latin typeface="Arial"/>
                <a:ea typeface="Microsoft YaHei"/>
                <a:cs typeface="Arial"/>
              </a:rPr>
              <a:t>自动摘要 + 异常检测</a:t>
            </a:r>
          </a:p>
        </p:txBody>
      </p:sp>
      <p:sp>
        <p:nvSpPr>
          <p:cNvPr id="26" name="Rectangle 26"/>
          <p:cNvSpPr/>
          <p:nvPr/>
        </p:nvSpPr>
        <p:spPr>
          <a:xfrm>
            <a:off x="476250" y="2381250"/>
            <a:ext cx="11239500" cy="523875"/>
          </a:xfrm>
          <a:prstGeom prst="rect">
            <a:avLst/>
          </a:prstGeom>
          <a:solidFill>
            <a:srgbClr val="FFFFFF"/>
          </a:solidFill>
          <a:ln w="9525">
            <a:solidFill>
              <a:srgbClr val="E7E6E6"/>
            </a:solidFill>
          </a:ln>
        </p:spPr>
      </p:sp>
      <p:sp>
        <p:nvSpPr>
          <p:cNvPr id="27" name="Rectangle 27"/>
          <p:cNvSpPr/>
          <p:nvPr/>
        </p:nvSpPr>
        <p:spPr>
          <a:xfrm>
            <a:off x="476250" y="2381250"/>
            <a:ext cx="11239500" cy="523875"/>
          </a:xfrm>
          <a:prstGeom prst="rect">
            <a:avLst/>
          </a:prstGeom>
          <a:solidFill>
            <a:srgbClr val="F2F2F2"/>
          </a:solidFill>
          <a:ln>
            <a:noFill/>
          </a:ln>
        </p:spPr>
      </p:sp>
      <p:sp>
        <p:nvSpPr>
          <p:cNvPr id="28" name="TextBox 28"/>
          <p:cNvSpPr txBox="1"/>
          <p:nvPr/>
        </p:nvSpPr>
        <p:spPr>
          <a:xfrm>
            <a:off x="2982468" y="2594610"/>
            <a:ext cx="702564" cy="243840"/>
          </a:xfrm>
          <a:prstGeom prst="rect">
            <a:avLst/>
          </a:prstGeom>
          <a:noFill/>
          <a:ln>
            <a:noFill/>
          </a:ln>
        </p:spPr>
        <p:txBody>
          <a:bodyPr wrap="none" lIns="0" tIns="0" rIns="0" bIns="0" anchor="t" anchorCtr="0">
            <a:spAutoFit/>
          </a:bodyPr>
          <a:lstStyle/>
          <a:p>
            <a:pPr algn="ctr"/>
            <a:r>
              <a:rPr lang="zh-CN" sz="1200" b="1" dirty="0">
                <a:solidFill>
                  <a:srgbClr val="333333"/>
                </a:solidFill>
                <a:latin typeface="Arial"/>
                <a:ea typeface="Microsoft YaHei"/>
                <a:cs typeface="Arial"/>
              </a:rPr>
              <a:t>排查过程</a:t>
            </a:r>
          </a:p>
        </p:txBody>
      </p:sp>
      <p:sp>
        <p:nvSpPr>
          <p:cNvPr id="29" name="TextBox 29"/>
          <p:cNvSpPr txBox="1"/>
          <p:nvPr/>
        </p:nvSpPr>
        <p:spPr>
          <a:xfrm>
            <a:off x="5631656" y="2602706"/>
            <a:ext cx="928688" cy="228600"/>
          </a:xfrm>
          <a:prstGeom prst="rect">
            <a:avLst/>
          </a:prstGeom>
          <a:noFill/>
          <a:ln>
            <a:noFill/>
          </a:ln>
        </p:spPr>
        <p:txBody>
          <a:bodyPr wrap="none" lIns="0" tIns="0" rIns="0" bIns="0" anchor="t" anchorCtr="0">
            <a:spAutoFit/>
          </a:bodyPr>
          <a:lstStyle/>
          <a:p>
            <a:pPr algn="ctr"/>
            <a:r>
              <a:rPr lang="zh-CN" sz="1125" dirty="0">
                <a:solidFill>
                  <a:srgbClr val="666666"/>
                </a:solidFill>
                <a:latin typeface="Arial"/>
                <a:ea typeface="Microsoft YaHei"/>
                <a:cs typeface="Arial"/>
              </a:rPr>
              <a:t>固定步骤推荐</a:t>
            </a:r>
          </a:p>
        </p:txBody>
      </p:sp>
      <p:sp>
        <p:nvSpPr>
          <p:cNvPr id="30" name="TextBox 30"/>
          <p:cNvSpPr txBox="1"/>
          <p:nvPr/>
        </p:nvSpPr>
        <p:spPr>
          <a:xfrm>
            <a:off x="8157627" y="2602706"/>
            <a:ext cx="1401247" cy="228600"/>
          </a:xfrm>
          <a:prstGeom prst="rect">
            <a:avLst/>
          </a:prstGeom>
          <a:noFill/>
          <a:ln>
            <a:noFill/>
          </a:ln>
        </p:spPr>
        <p:txBody>
          <a:bodyPr wrap="none" lIns="0" tIns="0" rIns="0" bIns="0" anchor="t" anchorCtr="0">
            <a:spAutoFit/>
          </a:bodyPr>
          <a:lstStyle/>
          <a:p>
            <a:pPr algn="ctr"/>
            <a:r>
              <a:rPr lang="zh-CN" sz="1125" dirty="0">
                <a:solidFill>
                  <a:srgbClr val="C00000"/>
                </a:solidFill>
                <a:latin typeface="Arial"/>
                <a:ea typeface="Microsoft YaHei"/>
                <a:cs typeface="Arial"/>
              </a:rPr>
              <a:t>多轮对话 + 状态跟踪</a:t>
            </a:r>
          </a:p>
        </p:txBody>
      </p:sp>
      <p:sp>
        <p:nvSpPr>
          <p:cNvPr id="31" name="Rectangle 31"/>
          <p:cNvSpPr/>
          <p:nvPr/>
        </p:nvSpPr>
        <p:spPr>
          <a:xfrm>
            <a:off x="476250" y="2905125"/>
            <a:ext cx="11239500" cy="523875"/>
          </a:xfrm>
          <a:prstGeom prst="rect">
            <a:avLst/>
          </a:prstGeom>
          <a:solidFill>
            <a:srgbClr val="FFFFFF"/>
          </a:solidFill>
          <a:ln w="9525">
            <a:solidFill>
              <a:srgbClr val="E7E6E6"/>
            </a:solidFill>
          </a:ln>
        </p:spPr>
      </p:sp>
      <p:sp>
        <p:nvSpPr>
          <p:cNvPr id="32" name="TextBox 32"/>
          <p:cNvSpPr txBox="1"/>
          <p:nvPr/>
        </p:nvSpPr>
        <p:spPr>
          <a:xfrm>
            <a:off x="2982468" y="3118485"/>
            <a:ext cx="702564" cy="243840"/>
          </a:xfrm>
          <a:prstGeom prst="rect">
            <a:avLst/>
          </a:prstGeom>
          <a:noFill/>
          <a:ln>
            <a:noFill/>
          </a:ln>
        </p:spPr>
        <p:txBody>
          <a:bodyPr wrap="none" lIns="0" tIns="0" rIns="0" bIns="0" anchor="t" anchorCtr="0">
            <a:spAutoFit/>
          </a:bodyPr>
          <a:lstStyle/>
          <a:p>
            <a:pPr algn="ctr"/>
            <a:r>
              <a:rPr lang="zh-CN" sz="1200" b="1" dirty="0">
                <a:solidFill>
                  <a:srgbClr val="333333"/>
                </a:solidFill>
                <a:latin typeface="Arial"/>
                <a:ea typeface="Microsoft YaHei"/>
                <a:cs typeface="Arial"/>
              </a:rPr>
              <a:t>协同方式</a:t>
            </a:r>
          </a:p>
        </p:txBody>
      </p:sp>
      <p:sp>
        <p:nvSpPr>
          <p:cNvPr id="33" name="TextBox 33"/>
          <p:cNvSpPr txBox="1"/>
          <p:nvPr/>
        </p:nvSpPr>
        <p:spPr>
          <a:xfrm>
            <a:off x="5631656" y="3126581"/>
            <a:ext cx="928688" cy="228600"/>
          </a:xfrm>
          <a:prstGeom prst="rect">
            <a:avLst/>
          </a:prstGeom>
          <a:noFill/>
          <a:ln>
            <a:noFill/>
          </a:ln>
        </p:spPr>
        <p:txBody>
          <a:bodyPr wrap="none" lIns="0" tIns="0" rIns="0" bIns="0" anchor="t" anchorCtr="0">
            <a:spAutoFit/>
          </a:bodyPr>
          <a:lstStyle/>
          <a:p>
            <a:pPr algn="ctr"/>
            <a:r>
              <a:rPr lang="zh-CN" sz="1125" dirty="0">
                <a:solidFill>
                  <a:srgbClr val="666666"/>
                </a:solidFill>
                <a:latin typeface="Arial"/>
                <a:ea typeface="Microsoft YaHei"/>
                <a:cs typeface="Arial"/>
              </a:rPr>
              <a:t>人工建群通知</a:t>
            </a:r>
          </a:p>
        </p:txBody>
      </p:sp>
      <p:sp>
        <p:nvSpPr>
          <p:cNvPr id="34" name="TextBox 34"/>
          <p:cNvSpPr txBox="1"/>
          <p:nvPr/>
        </p:nvSpPr>
        <p:spPr>
          <a:xfrm>
            <a:off x="7951351" y="3126581"/>
            <a:ext cx="1813798" cy="228600"/>
          </a:xfrm>
          <a:prstGeom prst="rect">
            <a:avLst/>
          </a:prstGeom>
          <a:noFill/>
          <a:ln>
            <a:noFill/>
          </a:ln>
        </p:spPr>
        <p:txBody>
          <a:bodyPr wrap="none" lIns="0" tIns="0" rIns="0" bIns="0" anchor="t" anchorCtr="0">
            <a:spAutoFit/>
          </a:bodyPr>
          <a:lstStyle/>
          <a:p>
            <a:pPr algn="ctr"/>
            <a:r>
              <a:rPr lang="zh-CN" sz="1125" dirty="0">
                <a:solidFill>
                  <a:srgbClr val="2E75B6"/>
                </a:solidFill>
                <a:latin typeface="Arial"/>
                <a:ea typeface="Microsoft YaHei"/>
                <a:cs typeface="Arial"/>
              </a:rPr>
              <a:t>War Room Agent 自动协同</a:t>
            </a:r>
          </a:p>
        </p:txBody>
      </p:sp>
      <p:sp>
        <p:nvSpPr>
          <p:cNvPr id="35" name="Rectangle 35"/>
          <p:cNvSpPr/>
          <p:nvPr/>
        </p:nvSpPr>
        <p:spPr>
          <a:xfrm>
            <a:off x="476250" y="3429000"/>
            <a:ext cx="11239500" cy="523875"/>
          </a:xfrm>
          <a:prstGeom prst="rect">
            <a:avLst/>
          </a:prstGeom>
          <a:solidFill>
            <a:srgbClr val="FFFFFF"/>
          </a:solidFill>
          <a:ln w="9525">
            <a:solidFill>
              <a:srgbClr val="E7E6E6"/>
            </a:solidFill>
          </a:ln>
        </p:spPr>
      </p:sp>
      <p:sp>
        <p:nvSpPr>
          <p:cNvPr id="36" name="Rectangle 36"/>
          <p:cNvSpPr/>
          <p:nvPr/>
        </p:nvSpPr>
        <p:spPr>
          <a:xfrm>
            <a:off x="476250" y="3429000"/>
            <a:ext cx="11239500" cy="523875"/>
          </a:xfrm>
          <a:prstGeom prst="rect">
            <a:avLst/>
          </a:prstGeom>
          <a:solidFill>
            <a:srgbClr val="F2F2F2"/>
          </a:solidFill>
          <a:ln>
            <a:noFill/>
          </a:ln>
        </p:spPr>
      </p:sp>
      <p:sp>
        <p:nvSpPr>
          <p:cNvPr id="37" name="TextBox 37"/>
          <p:cNvSpPr txBox="1"/>
          <p:nvPr/>
        </p:nvSpPr>
        <p:spPr>
          <a:xfrm>
            <a:off x="2982468" y="3642360"/>
            <a:ext cx="702564" cy="243840"/>
          </a:xfrm>
          <a:prstGeom prst="rect">
            <a:avLst/>
          </a:prstGeom>
          <a:noFill/>
          <a:ln>
            <a:noFill/>
          </a:ln>
        </p:spPr>
        <p:txBody>
          <a:bodyPr wrap="none" lIns="0" tIns="0" rIns="0" bIns="0" anchor="t" anchorCtr="0">
            <a:spAutoFit/>
          </a:bodyPr>
          <a:lstStyle/>
          <a:p>
            <a:pPr algn="ctr"/>
            <a:r>
              <a:rPr lang="zh-CN" sz="1200" b="1" dirty="0">
                <a:solidFill>
                  <a:srgbClr val="333333"/>
                </a:solidFill>
                <a:latin typeface="Arial"/>
                <a:ea typeface="Microsoft YaHei"/>
                <a:cs typeface="Arial"/>
              </a:rPr>
              <a:t>经验沉淀</a:t>
            </a:r>
          </a:p>
        </p:txBody>
      </p:sp>
      <p:sp>
        <p:nvSpPr>
          <p:cNvPr id="38" name="TextBox 38"/>
          <p:cNvSpPr txBox="1"/>
          <p:nvPr/>
        </p:nvSpPr>
        <p:spPr>
          <a:xfrm>
            <a:off x="5481638" y="3650456"/>
            <a:ext cx="1228725" cy="228600"/>
          </a:xfrm>
          <a:prstGeom prst="rect">
            <a:avLst/>
          </a:prstGeom>
          <a:noFill/>
          <a:ln>
            <a:noFill/>
          </a:ln>
        </p:spPr>
        <p:txBody>
          <a:bodyPr wrap="none" lIns="0" tIns="0" rIns="0" bIns="0" anchor="t" anchorCtr="0">
            <a:spAutoFit/>
          </a:bodyPr>
          <a:lstStyle/>
          <a:p>
            <a:pPr algn="ctr"/>
            <a:r>
              <a:rPr lang="zh-CN" sz="1125" dirty="0">
                <a:solidFill>
                  <a:srgbClr val="666666"/>
                </a:solidFill>
                <a:latin typeface="Arial"/>
                <a:ea typeface="Microsoft YaHei"/>
                <a:cs typeface="Arial"/>
              </a:rPr>
              <a:t>文档整理（被动）</a:t>
            </a:r>
          </a:p>
        </p:txBody>
      </p:sp>
      <p:sp>
        <p:nvSpPr>
          <p:cNvPr id="39" name="TextBox 39"/>
          <p:cNvSpPr txBox="1"/>
          <p:nvPr/>
        </p:nvSpPr>
        <p:spPr>
          <a:xfrm>
            <a:off x="8093869" y="3650456"/>
            <a:ext cx="1528762" cy="228600"/>
          </a:xfrm>
          <a:prstGeom prst="rect">
            <a:avLst/>
          </a:prstGeom>
          <a:noFill/>
          <a:ln>
            <a:noFill/>
          </a:ln>
        </p:spPr>
        <p:txBody>
          <a:bodyPr wrap="none" lIns="0" tIns="0" rIns="0" bIns="0" anchor="t" anchorCtr="0">
            <a:spAutoFit/>
          </a:bodyPr>
          <a:lstStyle/>
          <a:p>
            <a:pPr algn="ctr"/>
            <a:r>
              <a:rPr lang="zh-CN" sz="1125" dirty="0">
                <a:solidFill>
                  <a:srgbClr val="C00000"/>
                </a:solidFill>
                <a:latin typeface="Arial"/>
                <a:ea typeface="Microsoft YaHei"/>
                <a:cs typeface="Arial"/>
              </a:rPr>
              <a:t>知识蒸馏（主动学习）</a:t>
            </a:r>
          </a:p>
        </p:txBody>
      </p:sp>
      <p:sp>
        <p:nvSpPr>
          <p:cNvPr id="40" name="Rectangle 40"/>
          <p:cNvSpPr/>
          <p:nvPr/>
        </p:nvSpPr>
        <p:spPr>
          <a:xfrm>
            <a:off x="476250" y="3952875"/>
            <a:ext cx="11239500" cy="523875"/>
          </a:xfrm>
          <a:prstGeom prst="rect">
            <a:avLst/>
          </a:prstGeom>
          <a:solidFill>
            <a:srgbClr val="FFFFFF"/>
          </a:solidFill>
          <a:ln w="9525">
            <a:solidFill>
              <a:srgbClr val="E7E6E6"/>
            </a:solidFill>
          </a:ln>
        </p:spPr>
      </p:sp>
      <p:sp>
        <p:nvSpPr>
          <p:cNvPr id="41" name="TextBox 41"/>
          <p:cNvSpPr txBox="1"/>
          <p:nvPr/>
        </p:nvSpPr>
        <p:spPr>
          <a:xfrm>
            <a:off x="3066478" y="4166235"/>
            <a:ext cx="534543" cy="243840"/>
          </a:xfrm>
          <a:prstGeom prst="rect">
            <a:avLst/>
          </a:prstGeom>
          <a:noFill/>
          <a:ln>
            <a:noFill/>
          </a:ln>
        </p:spPr>
        <p:txBody>
          <a:bodyPr wrap="none" lIns="0" tIns="0" rIns="0" bIns="0" anchor="t" anchorCtr="0">
            <a:spAutoFit/>
          </a:bodyPr>
          <a:lstStyle/>
          <a:p>
            <a:pPr algn="ctr"/>
            <a:r>
              <a:rPr lang="zh-CN" sz="1200" b="1" dirty="0">
                <a:solidFill>
                  <a:srgbClr val="333333"/>
                </a:solidFill>
                <a:latin typeface="Arial"/>
                <a:ea typeface="Microsoft YaHei"/>
                <a:cs typeface="Arial"/>
              </a:rPr>
              <a:t>可信度</a:t>
            </a:r>
          </a:p>
        </p:txBody>
      </p:sp>
      <p:sp>
        <p:nvSpPr>
          <p:cNvPr id="42" name="TextBox 42"/>
          <p:cNvSpPr txBox="1"/>
          <p:nvPr/>
        </p:nvSpPr>
        <p:spPr>
          <a:xfrm>
            <a:off x="5781675" y="4174331"/>
            <a:ext cx="628650" cy="228600"/>
          </a:xfrm>
          <a:prstGeom prst="rect">
            <a:avLst/>
          </a:prstGeom>
          <a:noFill/>
          <a:ln>
            <a:noFill/>
          </a:ln>
        </p:spPr>
        <p:txBody>
          <a:bodyPr wrap="none" lIns="0" tIns="0" rIns="0" bIns="0" anchor="t" anchorCtr="0">
            <a:spAutoFit/>
          </a:bodyPr>
          <a:lstStyle/>
          <a:p>
            <a:pPr algn="ctr"/>
            <a:r>
              <a:rPr lang="zh-CN" sz="1125" dirty="0">
                <a:solidFill>
                  <a:srgbClr val="666666"/>
                </a:solidFill>
                <a:latin typeface="Arial"/>
                <a:ea typeface="Microsoft YaHei"/>
                <a:cs typeface="Arial"/>
              </a:rPr>
              <a:t>黑盒推荐</a:t>
            </a:r>
          </a:p>
        </p:txBody>
      </p:sp>
      <p:sp>
        <p:nvSpPr>
          <p:cNvPr id="43" name="TextBox 43"/>
          <p:cNvSpPr txBox="1"/>
          <p:nvPr/>
        </p:nvSpPr>
        <p:spPr>
          <a:xfrm>
            <a:off x="8307645" y="4174331"/>
            <a:ext cx="1101209" cy="228600"/>
          </a:xfrm>
          <a:prstGeom prst="rect">
            <a:avLst/>
          </a:prstGeom>
          <a:noFill/>
          <a:ln>
            <a:noFill/>
          </a:ln>
        </p:spPr>
        <p:txBody>
          <a:bodyPr wrap="none" lIns="0" tIns="0" rIns="0" bIns="0" anchor="t" anchorCtr="0">
            <a:spAutoFit/>
          </a:bodyPr>
          <a:lstStyle/>
          <a:p>
            <a:pPr algn="ctr"/>
            <a:r>
              <a:rPr lang="zh-CN" sz="1125" dirty="0">
                <a:solidFill>
                  <a:srgbClr val="2E75B6"/>
                </a:solidFill>
                <a:latin typeface="Arial"/>
                <a:ea typeface="Microsoft YaHei"/>
                <a:cs typeface="Arial"/>
              </a:rPr>
              <a:t>置信度 + 依据链</a:t>
            </a:r>
          </a:p>
        </p:txBody>
      </p:sp>
      <p:sp>
        <p:nvSpPr>
          <p:cNvPr id="44" name="Rectangle 44"/>
          <p:cNvSpPr/>
          <p:nvPr/>
        </p:nvSpPr>
        <p:spPr>
          <a:xfrm>
            <a:off x="476250" y="4476750"/>
            <a:ext cx="11239500" cy="523875"/>
          </a:xfrm>
          <a:prstGeom prst="rect">
            <a:avLst/>
          </a:prstGeom>
          <a:solidFill>
            <a:srgbClr val="FFFFFF"/>
          </a:solidFill>
          <a:ln w="9525">
            <a:solidFill>
              <a:srgbClr val="E7E6E6"/>
            </a:solidFill>
          </a:ln>
        </p:spPr>
      </p:sp>
      <p:sp>
        <p:nvSpPr>
          <p:cNvPr id="45" name="Rectangle 45"/>
          <p:cNvSpPr/>
          <p:nvPr/>
        </p:nvSpPr>
        <p:spPr>
          <a:xfrm>
            <a:off x="476250" y="4476750"/>
            <a:ext cx="11239500" cy="523875"/>
          </a:xfrm>
          <a:prstGeom prst="rect">
            <a:avLst/>
          </a:prstGeom>
          <a:solidFill>
            <a:srgbClr val="F2F2F2"/>
          </a:solidFill>
          <a:ln>
            <a:noFill/>
          </a:ln>
        </p:spPr>
      </p:sp>
      <p:sp>
        <p:nvSpPr>
          <p:cNvPr id="46" name="TextBox 46"/>
          <p:cNvSpPr txBox="1"/>
          <p:nvPr/>
        </p:nvSpPr>
        <p:spPr>
          <a:xfrm>
            <a:off x="2982468" y="4690110"/>
            <a:ext cx="702564" cy="243840"/>
          </a:xfrm>
          <a:prstGeom prst="rect">
            <a:avLst/>
          </a:prstGeom>
          <a:noFill/>
          <a:ln>
            <a:noFill/>
          </a:ln>
        </p:spPr>
        <p:txBody>
          <a:bodyPr wrap="none" lIns="0" tIns="0" rIns="0" bIns="0" anchor="t" anchorCtr="0">
            <a:spAutoFit/>
          </a:bodyPr>
          <a:lstStyle/>
          <a:p>
            <a:pPr algn="ctr"/>
            <a:r>
              <a:rPr lang="zh-CN" sz="1200" b="1" dirty="0">
                <a:solidFill>
                  <a:srgbClr val="333333"/>
                </a:solidFill>
                <a:latin typeface="Arial"/>
                <a:ea typeface="Microsoft YaHei"/>
                <a:cs typeface="Arial"/>
              </a:rPr>
              <a:t>新人培养</a:t>
            </a:r>
          </a:p>
        </p:txBody>
      </p:sp>
      <p:sp>
        <p:nvSpPr>
          <p:cNvPr id="47" name="TextBox 47"/>
          <p:cNvSpPr txBox="1"/>
          <p:nvPr/>
        </p:nvSpPr>
        <p:spPr>
          <a:xfrm>
            <a:off x="5706666" y="4698206"/>
            <a:ext cx="778669" cy="228600"/>
          </a:xfrm>
          <a:prstGeom prst="rect">
            <a:avLst/>
          </a:prstGeom>
          <a:noFill/>
          <a:ln>
            <a:noFill/>
          </a:ln>
        </p:spPr>
        <p:txBody>
          <a:bodyPr wrap="none" lIns="0" tIns="0" rIns="0" bIns="0" anchor="t" anchorCtr="0">
            <a:spAutoFit/>
          </a:bodyPr>
          <a:lstStyle/>
          <a:p>
            <a:pPr algn="ctr"/>
            <a:r>
              <a:rPr lang="zh-CN" sz="1125" dirty="0">
                <a:solidFill>
                  <a:srgbClr val="666666"/>
                </a:solidFill>
                <a:latin typeface="Arial"/>
                <a:ea typeface="Microsoft YaHei"/>
                <a:cs typeface="Arial"/>
              </a:rPr>
              <a:t>依赖师傅带</a:t>
            </a:r>
          </a:p>
        </p:txBody>
      </p:sp>
      <p:sp>
        <p:nvSpPr>
          <p:cNvPr id="48" name="TextBox 48"/>
          <p:cNvSpPr txBox="1"/>
          <p:nvPr/>
        </p:nvSpPr>
        <p:spPr>
          <a:xfrm>
            <a:off x="8393906" y="4698206"/>
            <a:ext cx="928688" cy="228600"/>
          </a:xfrm>
          <a:prstGeom prst="rect">
            <a:avLst/>
          </a:prstGeom>
          <a:noFill/>
          <a:ln>
            <a:noFill/>
          </a:ln>
        </p:spPr>
        <p:txBody>
          <a:bodyPr wrap="none" lIns="0" tIns="0" rIns="0" bIns="0" anchor="t" anchorCtr="0">
            <a:spAutoFit/>
          </a:bodyPr>
          <a:lstStyle/>
          <a:p>
            <a:pPr algn="ctr"/>
            <a:r>
              <a:rPr lang="zh-CN" sz="1125" dirty="0">
                <a:solidFill>
                  <a:srgbClr val="C00000"/>
                </a:solidFill>
                <a:latin typeface="Arial"/>
                <a:ea typeface="Microsoft YaHei"/>
                <a:cs typeface="Arial"/>
              </a:rPr>
              <a:t>AI演练 + 评测</a:t>
            </a:r>
          </a:p>
        </p:txBody>
      </p:sp>
      <p:sp>
        <p:nvSpPr>
          <p:cNvPr id="49" name="Rectangle 49"/>
          <p:cNvSpPr/>
          <p:nvPr/>
        </p:nvSpPr>
        <p:spPr>
          <a:xfrm>
            <a:off x="476250" y="5000625"/>
            <a:ext cx="11239500" cy="523875"/>
          </a:xfrm>
          <a:prstGeom prst="rect">
            <a:avLst/>
          </a:prstGeom>
          <a:solidFill>
            <a:srgbClr val="FFFFFF"/>
          </a:solidFill>
          <a:ln w="9525">
            <a:solidFill>
              <a:srgbClr val="E7E6E6"/>
            </a:solidFill>
          </a:ln>
        </p:spPr>
      </p:sp>
      <p:sp>
        <p:nvSpPr>
          <p:cNvPr id="50" name="TextBox 50"/>
          <p:cNvSpPr txBox="1"/>
          <p:nvPr/>
        </p:nvSpPr>
        <p:spPr>
          <a:xfrm>
            <a:off x="2982468" y="5213985"/>
            <a:ext cx="702564" cy="243840"/>
          </a:xfrm>
          <a:prstGeom prst="rect">
            <a:avLst/>
          </a:prstGeom>
          <a:noFill/>
          <a:ln>
            <a:noFill/>
          </a:ln>
        </p:spPr>
        <p:txBody>
          <a:bodyPr wrap="none" lIns="0" tIns="0" rIns="0" bIns="0" anchor="t" anchorCtr="0">
            <a:spAutoFit/>
          </a:bodyPr>
          <a:lstStyle/>
          <a:p>
            <a:pPr algn="ctr"/>
            <a:r>
              <a:rPr lang="zh-CN" sz="1200" b="1" dirty="0">
                <a:solidFill>
                  <a:srgbClr val="333333"/>
                </a:solidFill>
                <a:latin typeface="Arial"/>
                <a:ea typeface="Microsoft YaHei"/>
                <a:cs typeface="Arial"/>
              </a:rPr>
              <a:t>复盘管理</a:t>
            </a:r>
          </a:p>
        </p:txBody>
      </p:sp>
      <p:sp>
        <p:nvSpPr>
          <p:cNvPr id="51" name="TextBox 51"/>
          <p:cNvSpPr txBox="1"/>
          <p:nvPr/>
        </p:nvSpPr>
        <p:spPr>
          <a:xfrm>
            <a:off x="5481638" y="5222081"/>
            <a:ext cx="1228725" cy="228600"/>
          </a:xfrm>
          <a:prstGeom prst="rect">
            <a:avLst/>
          </a:prstGeom>
          <a:noFill/>
          <a:ln>
            <a:noFill/>
          </a:ln>
        </p:spPr>
        <p:txBody>
          <a:bodyPr wrap="none" lIns="0" tIns="0" rIns="0" bIns="0" anchor="t" anchorCtr="0">
            <a:spAutoFit/>
          </a:bodyPr>
          <a:lstStyle/>
          <a:p>
            <a:pPr algn="ctr"/>
            <a:r>
              <a:rPr lang="zh-CN" sz="1125" dirty="0">
                <a:solidFill>
                  <a:srgbClr val="666666"/>
                </a:solidFill>
                <a:latin typeface="Arial"/>
                <a:ea typeface="Microsoft YaHei"/>
                <a:cs typeface="Arial"/>
              </a:rPr>
              <a:t>手工复盘、无跟踪</a:t>
            </a:r>
          </a:p>
        </p:txBody>
      </p:sp>
      <p:sp>
        <p:nvSpPr>
          <p:cNvPr id="52" name="TextBox 52"/>
          <p:cNvSpPr txBox="1"/>
          <p:nvPr/>
        </p:nvSpPr>
        <p:spPr>
          <a:xfrm>
            <a:off x="8168878" y="5222081"/>
            <a:ext cx="1378744" cy="228600"/>
          </a:xfrm>
          <a:prstGeom prst="rect">
            <a:avLst/>
          </a:prstGeom>
          <a:noFill/>
          <a:ln>
            <a:noFill/>
          </a:ln>
        </p:spPr>
        <p:txBody>
          <a:bodyPr wrap="none" lIns="0" tIns="0" rIns="0" bIns="0" anchor="t" anchorCtr="0">
            <a:spAutoFit/>
          </a:bodyPr>
          <a:lstStyle/>
          <a:p>
            <a:pPr algn="ctr"/>
            <a:r>
              <a:rPr lang="zh-CN" sz="1125" dirty="0">
                <a:solidFill>
                  <a:srgbClr val="2E75B6"/>
                </a:solidFill>
                <a:latin typeface="Arial"/>
                <a:ea typeface="Microsoft YaHei"/>
                <a:cs typeface="Arial"/>
              </a:rPr>
              <a:t>自动闭环、措施跟踪</a:t>
            </a:r>
          </a:p>
        </p:txBody>
      </p:sp>
      <p:sp>
        <p:nvSpPr>
          <p:cNvPr id="53" name="Rectangle 53"/>
          <p:cNvSpPr/>
          <p:nvPr/>
        </p:nvSpPr>
        <p:spPr>
          <a:xfrm>
            <a:off x="476250" y="5715000"/>
            <a:ext cx="11239500" cy="571500"/>
          </a:xfrm>
          <a:prstGeom prst="roundRect">
            <a:avLst>
              <a:gd name="adj" fmla="val 6667"/>
            </a:avLst>
          </a:prstGeom>
          <a:solidFill>
            <a:srgbClr val="FDF3EB"/>
          </a:solidFill>
          <a:ln w="19050">
            <a:solidFill>
              <a:srgbClr val="F8CBAD"/>
            </a:solidFill>
          </a:ln>
        </p:spPr>
      </p:sp>
      <p:sp>
        <p:nvSpPr>
          <p:cNvPr id="54" name="Rectangle 54"/>
          <p:cNvSpPr/>
          <p:nvPr/>
        </p:nvSpPr>
        <p:spPr>
          <a:xfrm>
            <a:off x="476250" y="5715000"/>
            <a:ext cx="76200" cy="571500"/>
          </a:xfrm>
          <a:prstGeom prst="rect">
            <a:avLst/>
          </a:prstGeom>
          <a:solidFill>
            <a:srgbClr val="C00000"/>
          </a:solidFill>
          <a:ln>
            <a:noFill/>
          </a:ln>
        </p:spPr>
      </p:sp>
      <p:sp>
        <p:nvSpPr>
          <p:cNvPr id="55" name="TextBox 55"/>
          <p:cNvSpPr txBox="1"/>
          <p:nvPr/>
        </p:nvSpPr>
        <p:spPr>
          <a:xfrm>
            <a:off x="3886181" y="5807392"/>
            <a:ext cx="4419638" cy="274320"/>
          </a:xfrm>
          <a:prstGeom prst="rect">
            <a:avLst/>
          </a:prstGeom>
          <a:noFill/>
          <a:ln>
            <a:noFill/>
          </a:ln>
        </p:spPr>
        <p:txBody>
          <a:bodyPr wrap="none" lIns="0" tIns="0" rIns="0" bIns="0" anchor="t" anchorCtr="0">
            <a:spAutoFit/>
          </a:bodyPr>
          <a:lstStyle/>
          <a:p>
            <a:pPr algn="ctr"/>
            <a:r>
              <a:rPr lang="zh-CN" sz="1350" b="1" dirty="0">
                <a:solidFill>
                  <a:srgbClr val="C00000"/>
                </a:solidFill>
                <a:latin typeface="Arial"/>
                <a:ea typeface="Microsoft YaHei"/>
                <a:cs typeface="Arial"/>
              </a:rPr>
              <a:t>核心结论：从"信息聚合"到"认知驱动"的全维度升级</a:t>
            </a:r>
          </a:p>
        </p:txBody>
      </p:sp>
      <p:sp>
        <p:nvSpPr>
          <p:cNvPr id="56" name="TextBox 56"/>
          <p:cNvSpPr txBox="1"/>
          <p:nvPr/>
        </p:nvSpPr>
        <p:spPr>
          <a:xfrm>
            <a:off x="4220432" y="6077902"/>
            <a:ext cx="3751136" cy="213360"/>
          </a:xfrm>
          <a:prstGeom prst="rect">
            <a:avLst/>
          </a:prstGeom>
          <a:noFill/>
          <a:ln>
            <a:noFill/>
          </a:ln>
        </p:spPr>
        <p:txBody>
          <a:bodyPr wrap="none" lIns="0" tIns="0" rIns="0" bIns="0" anchor="t" anchorCtr="0">
            <a:spAutoFit/>
          </a:bodyPr>
          <a:lstStyle/>
          <a:p>
            <a:pPr algn="ctr"/>
            <a:r>
              <a:rPr lang="zh-CN" sz="1050" dirty="0">
                <a:solidFill>
                  <a:srgbClr val="666666"/>
                </a:solidFill>
                <a:latin typeface="Arial"/>
                <a:ea typeface="Microsoft YaHei"/>
                <a:cs typeface="Arial"/>
              </a:rPr>
              <a:t>推理型 · 协同型 · 学习型 · 可信型 — 大模型的真正价值所在</a:t>
            </a:r>
          </a:p>
        </p:txBody>
      </p:sp>
    </p:spTree>
  </p:cSld>
  <p:clrMapOvr>
    <a:masterClrMapping/>
  </p:clrMapOvr>
  <p:transition xmlns:p14="http://schemas.microsoft.com/office/powerpoint/2010/main" p14:dur="400">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76200"/>
          </a:xfrm>
          <a:prstGeom prst="rect">
            <a:avLst/>
          </a:prstGeom>
          <a:solidFill>
            <a:srgbClr val="C00000"/>
          </a:solidFill>
          <a:ln>
            <a:noFill/>
          </a:ln>
        </p:spPr>
      </p:sp>
      <p:sp>
        <p:nvSpPr>
          <p:cNvPr id="4" name="Rectangle 4"/>
          <p:cNvSpPr/>
          <p:nvPr/>
        </p:nvSpPr>
        <p:spPr>
          <a:xfrm>
            <a:off x="0" y="762000"/>
            <a:ext cx="1143000" cy="5334000"/>
          </a:xfrm>
          <a:prstGeom prst="rect">
            <a:avLst/>
          </a:prstGeom>
          <a:solidFill>
            <a:srgbClr val="F2F2F2"/>
          </a:solidFill>
          <a:ln>
            <a:noFill/>
          </a:ln>
        </p:spPr>
      </p:sp>
      <p:sp>
        <p:nvSpPr>
          <p:cNvPr id="5" name="Rectangle 5"/>
          <p:cNvSpPr/>
          <p:nvPr/>
        </p:nvSpPr>
        <p:spPr>
          <a:xfrm>
            <a:off x="0" y="762000"/>
            <a:ext cx="76200" cy="5334000"/>
          </a:xfrm>
          <a:prstGeom prst="rect">
            <a:avLst/>
          </a:prstGeom>
          <a:solidFill>
            <a:srgbClr val="C00000"/>
          </a:solidFill>
          <a:ln>
            <a:noFill/>
          </a:ln>
        </p:spPr>
      </p:sp>
      <p:sp>
        <p:nvSpPr>
          <p:cNvPr id="6" name="Rectangle 6"/>
          <p:cNvSpPr/>
          <p:nvPr/>
        </p:nvSpPr>
        <p:spPr>
          <a:xfrm>
            <a:off x="11049000" y="762000"/>
            <a:ext cx="1143000" cy="5334000"/>
          </a:xfrm>
          <a:prstGeom prst="rect">
            <a:avLst/>
          </a:prstGeom>
          <a:solidFill>
            <a:srgbClr val="FDF3EB"/>
          </a:solidFill>
          <a:ln>
            <a:noFill/>
          </a:ln>
        </p:spPr>
      </p:sp>
      <p:sp>
        <p:nvSpPr>
          <p:cNvPr id="7" name="Rectangle 7"/>
          <p:cNvSpPr/>
          <p:nvPr/>
        </p:nvSpPr>
        <p:spPr>
          <a:xfrm>
            <a:off x="12115800" y="762000"/>
            <a:ext cx="76200" cy="5334000"/>
          </a:xfrm>
          <a:prstGeom prst="rect">
            <a:avLst/>
          </a:prstGeom>
          <a:solidFill>
            <a:srgbClr val="2E75B6"/>
          </a:solidFill>
          <a:ln>
            <a:noFill/>
          </a:ln>
        </p:spPr>
      </p:sp>
      <p:sp>
        <p:nvSpPr>
          <p:cNvPr id="8" name="Rectangle 8"/>
          <p:cNvSpPr/>
          <p:nvPr/>
        </p:nvSpPr>
        <p:spPr>
          <a:xfrm>
            <a:off x="5143500" y="2095500"/>
            <a:ext cx="762000" cy="762000"/>
          </a:xfrm>
          <a:prstGeom prst="rect">
            <a:avLst/>
          </a:prstGeom>
          <a:solidFill>
            <a:srgbClr val="C00000"/>
          </a:solidFill>
          <a:ln>
            <a:noFill/>
          </a:ln>
        </p:spPr>
      </p:sp>
      <p:sp>
        <p:nvSpPr>
          <p:cNvPr id="9" name="TextBox 9"/>
          <p:cNvSpPr txBox="1"/>
          <p:nvPr/>
        </p:nvSpPr>
        <p:spPr>
          <a:xfrm>
            <a:off x="5201545" y="2259330"/>
            <a:ext cx="645909" cy="731520"/>
          </a:xfrm>
          <a:prstGeom prst="rect">
            <a:avLst/>
          </a:prstGeom>
          <a:noFill/>
          <a:ln>
            <a:noFill/>
          </a:ln>
        </p:spPr>
        <p:txBody>
          <a:bodyPr wrap="none" lIns="0" tIns="0" rIns="0" bIns="0" anchor="t" anchorCtr="0">
            <a:spAutoFit/>
          </a:bodyPr>
          <a:lstStyle/>
          <a:p>
            <a:pPr algn="ctr"/>
            <a:r>
              <a:rPr lang="zh-CN" sz="3600" b="1" dirty="0">
                <a:solidFill>
                  <a:srgbClr val="FFFFFF"/>
                </a:solidFill>
                <a:latin typeface="Arial"/>
                <a:ea typeface="Microsoft YaHei"/>
                <a:cs typeface="Arial"/>
              </a:rPr>
              <a:t>04</a:t>
            </a:r>
          </a:p>
        </p:txBody>
      </p:sp>
      <p:sp>
        <p:nvSpPr>
          <p:cNvPr id="10" name="TextBox 10"/>
          <p:cNvSpPr txBox="1"/>
          <p:nvPr/>
        </p:nvSpPr>
        <p:spPr>
          <a:xfrm>
            <a:off x="5019484" y="1943100"/>
            <a:ext cx="2153031" cy="2438400"/>
          </a:xfrm>
          <a:prstGeom prst="rect">
            <a:avLst/>
          </a:prstGeom>
          <a:noFill/>
          <a:ln>
            <a:noFill/>
          </a:ln>
        </p:spPr>
        <p:txBody>
          <a:bodyPr wrap="none" lIns="0" tIns="0" rIns="0" bIns="0" anchor="t" anchorCtr="0">
            <a:spAutoFit/>
          </a:bodyPr>
          <a:lstStyle/>
          <a:p>
            <a:pPr algn="ctr"/>
            <a:r>
              <a:rPr lang="zh-CN" sz="12000" b="1" dirty="0">
                <a:solidFill>
                  <a:srgbClr val="F2F2F2"/>
                </a:solidFill>
                <a:latin typeface="Arial"/>
                <a:ea typeface="Microsoft YaHei"/>
                <a:cs typeface="Arial"/>
              </a:rPr>
              <a:t>04</a:t>
            </a:r>
          </a:p>
        </p:txBody>
      </p:sp>
      <p:sp>
        <p:nvSpPr>
          <p:cNvPr id="11" name="TextBox 11"/>
          <p:cNvSpPr txBox="1"/>
          <p:nvPr/>
        </p:nvSpPr>
        <p:spPr>
          <a:xfrm>
            <a:off x="4286060" y="3611880"/>
            <a:ext cx="3619881" cy="731520"/>
          </a:xfrm>
          <a:prstGeom prst="rect">
            <a:avLst/>
          </a:prstGeom>
          <a:noFill/>
          <a:ln>
            <a:noFill/>
          </a:ln>
        </p:spPr>
        <p:txBody>
          <a:bodyPr wrap="none" lIns="0" tIns="0" rIns="0" bIns="0" anchor="t" anchorCtr="0">
            <a:spAutoFit/>
          </a:bodyPr>
          <a:lstStyle/>
          <a:p>
            <a:pPr algn="ctr"/>
            <a:r>
              <a:rPr lang="zh-CN" sz="3600" b="1" dirty="0">
                <a:solidFill>
                  <a:srgbClr val="000000"/>
                </a:solidFill>
                <a:latin typeface="Arial"/>
                <a:ea typeface="Microsoft YaHei"/>
                <a:cs typeface="Arial"/>
              </a:rPr>
              <a:t>后续计划与展望</a:t>
            </a:r>
          </a:p>
        </p:txBody>
      </p:sp>
      <p:sp>
        <p:nvSpPr>
          <p:cNvPr id="12" name="Line 12"/>
          <p:cNvSpPr/>
          <p:nvPr/>
        </p:nvSpPr>
        <p:spPr>
          <a:xfrm>
            <a:off x="4572000" y="4286250"/>
            <a:ext cx="3048000" cy="9525"/>
          </a:xfrm>
          <a:custGeom>
            <a:avLst/>
            <a:gdLst/>
            <a:ahLst/>
            <a:cxnLst/>
            <a:rect l="l" t="t" r="r" b="b"/>
            <a:pathLst>
              <a:path w="3048000" h="9525">
                <a:moveTo>
                  <a:pt x="0" y="0"/>
                </a:moveTo>
                <a:lnTo>
                  <a:pt x="3048000" y="0"/>
                </a:lnTo>
              </a:path>
            </a:pathLst>
          </a:custGeom>
          <a:noFill/>
          <a:ln w="28575">
            <a:solidFill>
              <a:srgbClr val="C00000"/>
            </a:solidFill>
          </a:ln>
        </p:spPr>
      </p:sp>
      <p:sp>
        <p:nvSpPr>
          <p:cNvPr id="13" name="Line 13"/>
          <p:cNvSpPr/>
          <p:nvPr/>
        </p:nvSpPr>
        <p:spPr>
          <a:xfrm>
            <a:off x="4953000" y="4362450"/>
            <a:ext cx="2286000" cy="9525"/>
          </a:xfrm>
          <a:custGeom>
            <a:avLst/>
            <a:gdLst/>
            <a:ahLst/>
            <a:cxnLst/>
            <a:rect l="l" t="t" r="r" b="b"/>
            <a:pathLst>
              <a:path w="2286000" h="9525">
                <a:moveTo>
                  <a:pt x="0" y="0"/>
                </a:moveTo>
                <a:lnTo>
                  <a:pt x="2286000" y="0"/>
                </a:lnTo>
              </a:path>
            </a:pathLst>
          </a:custGeom>
          <a:noFill/>
          <a:ln w="9525">
            <a:solidFill>
              <a:srgbClr val="2E75B6"/>
            </a:solidFill>
          </a:ln>
        </p:spPr>
      </p:sp>
      <p:sp>
        <p:nvSpPr>
          <p:cNvPr id="14" name="TextBox 14"/>
          <p:cNvSpPr txBox="1"/>
          <p:nvPr/>
        </p:nvSpPr>
        <p:spPr>
          <a:xfrm>
            <a:off x="4121706" y="4695825"/>
            <a:ext cx="3948589" cy="304800"/>
          </a:xfrm>
          <a:prstGeom prst="rect">
            <a:avLst/>
          </a:prstGeom>
          <a:noFill/>
          <a:ln>
            <a:noFill/>
          </a:ln>
        </p:spPr>
        <p:txBody>
          <a:bodyPr wrap="none" lIns="0" tIns="0" rIns="0" bIns="0" anchor="t" anchorCtr="0">
            <a:spAutoFit/>
          </a:bodyPr>
          <a:lstStyle/>
          <a:p>
            <a:pPr algn="ctr"/>
            <a:r>
              <a:rPr lang="zh-CN" sz="1500" dirty="0">
                <a:solidFill>
                  <a:srgbClr val="666666"/>
                </a:solidFill>
                <a:latin typeface="Arial"/>
                <a:ea typeface="Microsoft YaHei"/>
                <a:cs typeface="Arial"/>
              </a:rPr>
              <a:t>7周三阶段，从基础设施到协同闭环稳步推进</a:t>
            </a:r>
          </a:p>
        </p:txBody>
      </p:sp>
      <p:sp>
        <p:nvSpPr>
          <p:cNvPr id="15" name="Rectangle 15"/>
          <p:cNvSpPr/>
          <p:nvPr/>
        </p:nvSpPr>
        <p:spPr>
          <a:xfrm>
            <a:off x="0" y="6572250"/>
            <a:ext cx="12192000" cy="285750"/>
          </a:xfrm>
          <a:prstGeom prst="rect">
            <a:avLst/>
          </a:prstGeom>
          <a:solidFill>
            <a:srgbClr val="2E75B6"/>
          </a:solidFill>
          <a:ln>
            <a:noFill/>
          </a:ln>
        </p:spPr>
      </p:sp>
      <p:sp>
        <p:nvSpPr>
          <p:cNvPr id="16" name="Rectangle 16"/>
          <p:cNvSpPr/>
          <p:nvPr/>
        </p:nvSpPr>
        <p:spPr>
          <a:xfrm>
            <a:off x="0" y="6477000"/>
            <a:ext cx="12192000" cy="95250"/>
          </a:xfrm>
          <a:prstGeom prst="rect">
            <a:avLst/>
          </a:prstGeom>
          <a:solidFill>
            <a:srgbClr val="FDF3EB"/>
          </a:solidFill>
          <a:ln>
            <a:noFill/>
          </a:ln>
        </p:spPr>
      </p:sp>
    </p:spTree>
  </p:cSld>
  <p:clrMapOvr>
    <a:masterClrMapping/>
  </p:clrMapOvr>
  <p:transition xmlns:p14="http://schemas.microsoft.com/office/powerpoint/2010/main" p14:dur="400">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38100"/>
          </a:xfrm>
          <a:prstGeom prst="rect">
            <a:avLst/>
          </a:prstGeom>
          <a:solidFill>
            <a:srgbClr val="C00000"/>
          </a:solidFill>
          <a:ln>
            <a:noFill/>
          </a:ln>
        </p:spPr>
      </p:sp>
      <p:sp>
        <p:nvSpPr>
          <p:cNvPr id="4" name="Rectangle 4"/>
          <p:cNvSpPr/>
          <p:nvPr/>
        </p:nvSpPr>
        <p:spPr>
          <a:xfrm>
            <a:off x="0" y="38100"/>
            <a:ext cx="12192000" cy="723900"/>
          </a:xfrm>
          <a:prstGeom prst="rect">
            <a:avLst/>
          </a:prstGeom>
          <a:solidFill>
            <a:srgbClr val="FFFFFF"/>
          </a:solidFill>
          <a:ln>
            <a:noFill/>
          </a:ln>
        </p:spPr>
      </p:sp>
      <p:sp>
        <p:nvSpPr>
          <p:cNvPr id="5" name="Line 5"/>
          <p:cNvSpPr/>
          <p:nvPr/>
        </p:nvSpPr>
        <p:spPr>
          <a:xfrm>
            <a:off x="0" y="762000"/>
            <a:ext cx="12192000" cy="9525"/>
          </a:xfrm>
          <a:custGeom>
            <a:avLst/>
            <a:gdLst/>
            <a:ahLst/>
            <a:cxnLst/>
            <a:rect l="l" t="t" r="r" b="b"/>
            <a:pathLst>
              <a:path w="12192000" h="9525">
                <a:moveTo>
                  <a:pt x="0" y="0"/>
                </a:moveTo>
                <a:lnTo>
                  <a:pt x="12192000" y="0"/>
                </a:lnTo>
              </a:path>
            </a:pathLst>
          </a:custGeom>
          <a:noFill/>
          <a:ln w="9525">
            <a:solidFill>
              <a:srgbClr val="E7E6E6"/>
            </a:solidFill>
          </a:ln>
        </p:spPr>
      </p:sp>
      <p:sp>
        <p:nvSpPr>
          <p:cNvPr id="6" name="Rectangle 6"/>
          <p:cNvSpPr/>
          <p:nvPr/>
        </p:nvSpPr>
        <p:spPr>
          <a:xfrm>
            <a:off x="476250" y="190500"/>
            <a:ext cx="76200" cy="381000"/>
          </a:xfrm>
          <a:prstGeom prst="rect">
            <a:avLst/>
          </a:prstGeom>
          <a:solidFill>
            <a:srgbClr val="C00000"/>
          </a:solidFill>
          <a:ln>
            <a:noFill/>
          </a:ln>
        </p:spPr>
      </p:sp>
      <p:sp>
        <p:nvSpPr>
          <p:cNvPr id="7" name="TextBox 7"/>
          <p:cNvSpPr txBox="1"/>
          <p:nvPr/>
        </p:nvSpPr>
        <p:spPr>
          <a:xfrm>
            <a:off x="655320" y="236220"/>
            <a:ext cx="2749296" cy="487680"/>
          </a:xfrm>
          <a:prstGeom prst="rect">
            <a:avLst/>
          </a:prstGeom>
          <a:noFill/>
          <a:ln>
            <a:noFill/>
          </a:ln>
        </p:spPr>
        <p:txBody>
          <a:bodyPr wrap="none" lIns="0" tIns="0" rIns="0" bIns="0" anchor="t" anchorCtr="0">
            <a:spAutoFit/>
          </a:bodyPr>
          <a:lstStyle/>
          <a:p>
            <a:pPr algn="l"/>
            <a:r>
              <a:rPr lang="zh-CN" sz="2400" b="1" dirty="0">
                <a:solidFill>
                  <a:srgbClr val="000000"/>
                </a:solidFill>
                <a:latin typeface="Arial"/>
                <a:ea typeface="Microsoft YaHei"/>
                <a:cs typeface="Arial"/>
              </a:rPr>
              <a:t>三阶段交付路线图</a:t>
            </a:r>
          </a:p>
        </p:txBody>
      </p:sp>
      <p:sp>
        <p:nvSpPr>
          <p:cNvPr id="8" name="Rectangle 8"/>
          <p:cNvSpPr/>
          <p:nvPr/>
        </p:nvSpPr>
        <p:spPr>
          <a:xfrm>
            <a:off x="476250" y="904875"/>
            <a:ext cx="11239500" cy="476250"/>
          </a:xfrm>
          <a:prstGeom prst="rect">
            <a:avLst/>
          </a:prstGeom>
          <a:solidFill>
            <a:srgbClr val="F2F2F2"/>
          </a:solidFill>
          <a:ln>
            <a:noFill/>
          </a:ln>
        </p:spPr>
      </p:sp>
      <p:sp>
        <p:nvSpPr>
          <p:cNvPr id="9" name="TextBox 9"/>
          <p:cNvSpPr txBox="1"/>
          <p:nvPr/>
        </p:nvSpPr>
        <p:spPr>
          <a:xfrm>
            <a:off x="4836604" y="1061085"/>
            <a:ext cx="2518791" cy="243840"/>
          </a:xfrm>
          <a:prstGeom prst="rect">
            <a:avLst/>
          </a:prstGeom>
          <a:noFill/>
          <a:ln>
            <a:noFill/>
          </a:ln>
        </p:spPr>
        <p:txBody>
          <a:bodyPr wrap="none" lIns="0" tIns="0" rIns="0" bIns="0" anchor="t" anchorCtr="0">
            <a:spAutoFit/>
          </a:bodyPr>
          <a:lstStyle/>
          <a:p>
            <a:pPr algn="ctr"/>
            <a:r>
              <a:rPr lang="zh-CN" sz="1200" dirty="0">
                <a:solidFill>
                  <a:srgbClr val="333333"/>
                </a:solidFill>
                <a:latin typeface="Arial"/>
                <a:ea typeface="Microsoft YaHei"/>
                <a:cs typeface="Arial"/>
              </a:rPr>
              <a:t>7周分三阶段，并行开发，快速验证</a:t>
            </a:r>
          </a:p>
        </p:txBody>
      </p:sp>
      <p:sp>
        <p:nvSpPr>
          <p:cNvPr id="10" name="Rectangle 10"/>
          <p:cNvSpPr/>
          <p:nvPr/>
        </p:nvSpPr>
        <p:spPr>
          <a:xfrm>
            <a:off x="0" y="6477000"/>
            <a:ext cx="12192000" cy="381000"/>
          </a:xfrm>
          <a:prstGeom prst="rect">
            <a:avLst/>
          </a:prstGeom>
          <a:solidFill>
            <a:srgbClr val="F2F2F2"/>
          </a:solidFill>
          <a:ln>
            <a:noFill/>
          </a:ln>
        </p:spPr>
      </p:sp>
      <p:sp>
        <p:nvSpPr>
          <p:cNvPr id="11" name="Rectangle 11"/>
          <p:cNvSpPr/>
          <p:nvPr/>
        </p:nvSpPr>
        <p:spPr>
          <a:xfrm>
            <a:off x="0" y="6477000"/>
            <a:ext cx="38100" cy="381000"/>
          </a:xfrm>
          <a:prstGeom prst="rect">
            <a:avLst/>
          </a:prstGeom>
          <a:solidFill>
            <a:srgbClr val="C00000"/>
          </a:solidFill>
          <a:ln>
            <a:noFill/>
          </a:ln>
        </p:spPr>
      </p:sp>
      <p:sp>
        <p:nvSpPr>
          <p:cNvPr id="12" name="TextBox 12"/>
          <p:cNvSpPr txBox="1"/>
          <p:nvPr/>
        </p:nvSpPr>
        <p:spPr>
          <a:xfrm>
            <a:off x="558165" y="6611302"/>
            <a:ext cx="586740" cy="213360"/>
          </a:xfrm>
          <a:prstGeom prst="rect">
            <a:avLst/>
          </a:prstGeom>
          <a:noFill/>
          <a:ln>
            <a:noFill/>
          </a:ln>
        </p:spPr>
        <p:txBody>
          <a:bodyPr wrap="none" lIns="0" tIns="0" rIns="0" bIns="0" anchor="t" anchorCtr="0">
            <a:spAutoFit/>
          </a:bodyPr>
          <a:lstStyle/>
          <a:p>
            <a:pPr algn="l"/>
            <a:r>
              <a:rPr lang="zh-CN" sz="1050" dirty="0">
                <a:solidFill>
                  <a:srgbClr val="666666"/>
                </a:solidFill>
                <a:latin typeface="Arial"/>
                <a:ea typeface="Microsoft YaHei"/>
                <a:cs typeface="Arial"/>
              </a:rPr>
              <a:t>后续计划</a:t>
            </a:r>
          </a:p>
        </p:txBody>
      </p:sp>
      <p:sp>
        <p:nvSpPr>
          <p:cNvPr id="13" name="Rectangle 13"/>
          <p:cNvSpPr/>
          <p:nvPr/>
        </p:nvSpPr>
        <p:spPr>
          <a:xfrm>
            <a:off x="11525250" y="6553200"/>
            <a:ext cx="285750" cy="228600"/>
          </a:xfrm>
          <a:prstGeom prst="rect">
            <a:avLst/>
          </a:prstGeom>
          <a:solidFill>
            <a:srgbClr val="C00000"/>
          </a:solidFill>
          <a:ln>
            <a:noFill/>
          </a:ln>
        </p:spPr>
      </p:sp>
      <p:sp>
        <p:nvSpPr>
          <p:cNvPr id="14" name="TextBox 14"/>
          <p:cNvSpPr txBox="1"/>
          <p:nvPr/>
        </p:nvSpPr>
        <p:spPr>
          <a:xfrm>
            <a:off x="11573930" y="6611302"/>
            <a:ext cx="188390"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Arial"/>
                <a:ea typeface="Microsoft YaHei"/>
                <a:cs typeface="Arial"/>
              </a:rPr>
              <a:t>17</a:t>
            </a:r>
          </a:p>
        </p:txBody>
      </p:sp>
      <p:sp>
        <p:nvSpPr>
          <p:cNvPr id="15" name="Line 15"/>
          <p:cNvSpPr/>
          <p:nvPr/>
        </p:nvSpPr>
        <p:spPr>
          <a:xfrm>
            <a:off x="762000" y="1762125"/>
            <a:ext cx="10668000" cy="9525"/>
          </a:xfrm>
          <a:custGeom>
            <a:avLst/>
            <a:gdLst/>
            <a:ahLst/>
            <a:cxnLst/>
            <a:rect l="l" t="t" r="r" b="b"/>
            <a:pathLst>
              <a:path w="10668000" h="9525">
                <a:moveTo>
                  <a:pt x="0" y="0"/>
                </a:moveTo>
                <a:lnTo>
                  <a:pt x="10668000" y="0"/>
                </a:lnTo>
              </a:path>
            </a:pathLst>
          </a:custGeom>
          <a:noFill/>
          <a:ln w="38100">
            <a:solidFill>
              <a:srgbClr val="E7E6E6"/>
            </a:solidFill>
          </a:ln>
        </p:spPr>
      </p:sp>
      <p:sp>
        <p:nvSpPr>
          <p:cNvPr id="16" name="Rectangle 16"/>
          <p:cNvSpPr/>
          <p:nvPr/>
        </p:nvSpPr>
        <p:spPr>
          <a:xfrm>
            <a:off x="762000" y="1524000"/>
            <a:ext cx="3238500" cy="476250"/>
          </a:xfrm>
          <a:prstGeom prst="roundRect">
            <a:avLst>
              <a:gd name="adj" fmla="val 12000"/>
            </a:avLst>
          </a:prstGeom>
          <a:solidFill>
            <a:srgbClr val="C00000"/>
          </a:solidFill>
          <a:ln>
            <a:noFill/>
          </a:ln>
        </p:spPr>
      </p:sp>
      <p:sp>
        <p:nvSpPr>
          <p:cNvPr id="17" name="TextBox 17"/>
          <p:cNvSpPr txBox="1"/>
          <p:nvPr/>
        </p:nvSpPr>
        <p:spPr>
          <a:xfrm>
            <a:off x="1404945" y="1648778"/>
            <a:ext cx="1952611"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Arial"/>
                <a:ea typeface="Microsoft YaHei"/>
                <a:cs typeface="Arial"/>
              </a:rPr>
              <a:t>Phase A: 基础设施（周1-2）</a:t>
            </a:r>
          </a:p>
        </p:txBody>
      </p:sp>
      <p:sp>
        <p:nvSpPr>
          <p:cNvPr id="18" name="TextBox 18"/>
          <p:cNvSpPr txBox="1"/>
          <p:nvPr/>
        </p:nvSpPr>
        <p:spPr>
          <a:xfrm>
            <a:off x="1646730" y="1836420"/>
            <a:ext cx="1469041" cy="182880"/>
          </a:xfrm>
          <a:prstGeom prst="rect">
            <a:avLst/>
          </a:prstGeom>
          <a:noFill/>
          <a:ln>
            <a:noFill/>
          </a:ln>
        </p:spPr>
        <p:txBody>
          <a:bodyPr wrap="none" lIns="0" tIns="0" rIns="0" bIns="0" anchor="t" anchorCtr="0">
            <a:spAutoFit/>
          </a:bodyPr>
          <a:lstStyle/>
          <a:p>
            <a:pPr algn="ctr"/>
            <a:r>
              <a:rPr lang="zh-CN" sz="900" dirty="0">
                <a:solidFill>
                  <a:srgbClr val="FFFFFF"/>
                </a:solidFill>
                <a:latin typeface="Arial"/>
                <a:ea typeface="Microsoft YaHei"/>
                <a:cs typeface="Arial"/>
              </a:rPr>
              <a:t>Feb 01 - Feb 14，2 weeks</a:t>
            </a:r>
          </a:p>
        </p:txBody>
      </p:sp>
      <p:sp>
        <p:nvSpPr>
          <p:cNvPr id="19" name="Line 19"/>
          <p:cNvSpPr/>
          <p:nvPr/>
        </p:nvSpPr>
        <p:spPr>
          <a:xfrm>
            <a:off x="2381250" y="2000250"/>
            <a:ext cx="9525" cy="190500"/>
          </a:xfrm>
          <a:custGeom>
            <a:avLst/>
            <a:gdLst/>
            <a:ahLst/>
            <a:cxnLst/>
            <a:rect l="l" t="t" r="r" b="b"/>
            <a:pathLst>
              <a:path w="9525" h="190500">
                <a:moveTo>
                  <a:pt x="0" y="0"/>
                </a:moveTo>
                <a:lnTo>
                  <a:pt x="0" y="190500"/>
                </a:lnTo>
              </a:path>
            </a:pathLst>
          </a:custGeom>
          <a:noFill/>
          <a:ln w="19050">
            <a:solidFill>
              <a:srgbClr val="C00000"/>
            </a:solidFill>
          </a:ln>
        </p:spPr>
      </p:sp>
      <p:sp>
        <p:nvSpPr>
          <p:cNvPr id="20" name="Rectangle 20"/>
          <p:cNvSpPr/>
          <p:nvPr/>
        </p:nvSpPr>
        <p:spPr>
          <a:xfrm>
            <a:off x="4476750" y="1524000"/>
            <a:ext cx="3238500" cy="476250"/>
          </a:xfrm>
          <a:prstGeom prst="roundRect">
            <a:avLst>
              <a:gd name="adj" fmla="val 12000"/>
            </a:avLst>
          </a:prstGeom>
          <a:solidFill>
            <a:srgbClr val="2E75B6"/>
          </a:solidFill>
          <a:ln>
            <a:noFill/>
          </a:ln>
        </p:spPr>
      </p:sp>
      <p:sp>
        <p:nvSpPr>
          <p:cNvPr id="21" name="TextBox 21"/>
          <p:cNvSpPr txBox="1"/>
          <p:nvPr/>
        </p:nvSpPr>
        <p:spPr>
          <a:xfrm>
            <a:off x="5046185" y="1648778"/>
            <a:ext cx="2099629"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Arial"/>
                <a:ea typeface="Microsoft YaHei"/>
                <a:cs typeface="Arial"/>
              </a:rPr>
              <a:t>Phase B: 大模型认知（周3-4）</a:t>
            </a:r>
          </a:p>
        </p:txBody>
      </p:sp>
      <p:sp>
        <p:nvSpPr>
          <p:cNvPr id="22" name="TextBox 22"/>
          <p:cNvSpPr txBox="1"/>
          <p:nvPr/>
        </p:nvSpPr>
        <p:spPr>
          <a:xfrm>
            <a:off x="5361480" y="1836420"/>
            <a:ext cx="1469041" cy="182880"/>
          </a:xfrm>
          <a:prstGeom prst="rect">
            <a:avLst/>
          </a:prstGeom>
          <a:noFill/>
          <a:ln>
            <a:noFill/>
          </a:ln>
        </p:spPr>
        <p:txBody>
          <a:bodyPr wrap="none" lIns="0" tIns="0" rIns="0" bIns="0" anchor="t" anchorCtr="0">
            <a:spAutoFit/>
          </a:bodyPr>
          <a:lstStyle/>
          <a:p>
            <a:pPr algn="ctr"/>
            <a:r>
              <a:rPr lang="zh-CN" sz="900" dirty="0">
                <a:solidFill>
                  <a:srgbClr val="FFFFFF"/>
                </a:solidFill>
                <a:latin typeface="Arial"/>
                <a:ea typeface="Microsoft YaHei"/>
                <a:cs typeface="Arial"/>
              </a:rPr>
              <a:t>Feb 15 - Feb 28，2 weeks</a:t>
            </a:r>
          </a:p>
        </p:txBody>
      </p:sp>
      <p:sp>
        <p:nvSpPr>
          <p:cNvPr id="23" name="Line 23"/>
          <p:cNvSpPr/>
          <p:nvPr/>
        </p:nvSpPr>
        <p:spPr>
          <a:xfrm>
            <a:off x="6096000" y="2000250"/>
            <a:ext cx="9525" cy="190500"/>
          </a:xfrm>
          <a:custGeom>
            <a:avLst/>
            <a:gdLst/>
            <a:ahLst/>
            <a:cxnLst/>
            <a:rect l="l" t="t" r="r" b="b"/>
            <a:pathLst>
              <a:path w="9525" h="190500">
                <a:moveTo>
                  <a:pt x="0" y="0"/>
                </a:moveTo>
                <a:lnTo>
                  <a:pt x="0" y="190500"/>
                </a:lnTo>
              </a:path>
            </a:pathLst>
          </a:custGeom>
          <a:noFill/>
          <a:ln w="19050">
            <a:solidFill>
              <a:srgbClr val="2E75B6"/>
            </a:solidFill>
          </a:ln>
        </p:spPr>
      </p:sp>
      <p:sp>
        <p:nvSpPr>
          <p:cNvPr id="24" name="Rectangle 24"/>
          <p:cNvSpPr/>
          <p:nvPr/>
        </p:nvSpPr>
        <p:spPr>
          <a:xfrm>
            <a:off x="8191500" y="1524000"/>
            <a:ext cx="3238500" cy="476250"/>
          </a:xfrm>
          <a:prstGeom prst="roundRect">
            <a:avLst>
              <a:gd name="adj" fmla="val 12000"/>
            </a:avLst>
          </a:prstGeom>
          <a:solidFill>
            <a:srgbClr val="5B9BD5"/>
          </a:solidFill>
          <a:ln>
            <a:noFill/>
          </a:ln>
        </p:spPr>
      </p:sp>
      <p:sp>
        <p:nvSpPr>
          <p:cNvPr id="25" name="TextBox 25"/>
          <p:cNvSpPr txBox="1"/>
          <p:nvPr/>
        </p:nvSpPr>
        <p:spPr>
          <a:xfrm>
            <a:off x="8760935" y="1648778"/>
            <a:ext cx="2099629"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Arial"/>
                <a:ea typeface="Microsoft YaHei"/>
                <a:cs typeface="Arial"/>
              </a:rPr>
              <a:t>Phase C: 协同与闭环（周5-7）</a:t>
            </a:r>
          </a:p>
        </p:txBody>
      </p:sp>
      <p:sp>
        <p:nvSpPr>
          <p:cNvPr id="26" name="TextBox 26"/>
          <p:cNvSpPr txBox="1"/>
          <p:nvPr/>
        </p:nvSpPr>
        <p:spPr>
          <a:xfrm>
            <a:off x="9052227" y="1836420"/>
            <a:ext cx="1517047" cy="182880"/>
          </a:xfrm>
          <a:prstGeom prst="rect">
            <a:avLst/>
          </a:prstGeom>
          <a:noFill/>
          <a:ln>
            <a:noFill/>
          </a:ln>
        </p:spPr>
        <p:txBody>
          <a:bodyPr wrap="none" lIns="0" tIns="0" rIns="0" bIns="0" anchor="t" anchorCtr="0">
            <a:spAutoFit/>
          </a:bodyPr>
          <a:lstStyle/>
          <a:p>
            <a:pPr algn="ctr"/>
            <a:r>
              <a:rPr lang="zh-CN" sz="900" dirty="0">
                <a:solidFill>
                  <a:srgbClr val="FFFFFF"/>
                </a:solidFill>
                <a:latin typeface="Arial"/>
                <a:ea typeface="Microsoft YaHei"/>
                <a:cs typeface="Arial"/>
              </a:rPr>
              <a:t>Mar 01 - Mar 21，3 weeks</a:t>
            </a:r>
          </a:p>
        </p:txBody>
      </p:sp>
      <p:sp>
        <p:nvSpPr>
          <p:cNvPr id="27" name="Line 27"/>
          <p:cNvSpPr/>
          <p:nvPr/>
        </p:nvSpPr>
        <p:spPr>
          <a:xfrm>
            <a:off x="9810750" y="2000250"/>
            <a:ext cx="9525" cy="190500"/>
          </a:xfrm>
          <a:custGeom>
            <a:avLst/>
            <a:gdLst/>
            <a:ahLst/>
            <a:cxnLst/>
            <a:rect l="l" t="t" r="r" b="b"/>
            <a:pathLst>
              <a:path w="9525" h="190500">
                <a:moveTo>
                  <a:pt x="0" y="0"/>
                </a:moveTo>
                <a:lnTo>
                  <a:pt x="0" y="190500"/>
                </a:lnTo>
              </a:path>
            </a:pathLst>
          </a:custGeom>
          <a:noFill/>
          <a:ln w="19050">
            <a:solidFill>
              <a:srgbClr val="5B9BD5"/>
            </a:solidFill>
          </a:ln>
        </p:spPr>
      </p:sp>
      <p:sp>
        <p:nvSpPr>
          <p:cNvPr id="28" name="Rectangle 28"/>
          <p:cNvSpPr/>
          <p:nvPr/>
        </p:nvSpPr>
        <p:spPr>
          <a:xfrm>
            <a:off x="571500" y="2286000"/>
            <a:ext cx="3429000" cy="1905000"/>
          </a:xfrm>
          <a:prstGeom prst="roundRect">
            <a:avLst>
              <a:gd name="adj" fmla="val 2000"/>
            </a:avLst>
          </a:prstGeom>
          <a:solidFill>
            <a:srgbClr val="FFFFFF"/>
          </a:solidFill>
          <a:ln w="19050">
            <a:solidFill>
              <a:srgbClr val="C00000"/>
            </a:solidFill>
          </a:ln>
        </p:spPr>
      </p:sp>
      <p:sp>
        <p:nvSpPr>
          <p:cNvPr id="29" name="Rectangle 29"/>
          <p:cNvSpPr/>
          <p:nvPr/>
        </p:nvSpPr>
        <p:spPr>
          <a:xfrm>
            <a:off x="571500" y="2286000"/>
            <a:ext cx="3429000" cy="285750"/>
          </a:xfrm>
          <a:prstGeom prst="roundRect">
            <a:avLst>
              <a:gd name="adj" fmla="val 13333"/>
            </a:avLst>
          </a:prstGeom>
          <a:solidFill>
            <a:srgbClr val="C00000"/>
          </a:solidFill>
          <a:ln>
            <a:noFill/>
          </a:ln>
        </p:spPr>
      </p:sp>
      <p:sp>
        <p:nvSpPr>
          <p:cNvPr id="30" name="TextBox 30"/>
          <p:cNvSpPr txBox="1"/>
          <p:nvPr/>
        </p:nvSpPr>
        <p:spPr>
          <a:xfrm>
            <a:off x="1427309" y="2372678"/>
            <a:ext cx="1717381"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Arial"/>
                <a:ea typeface="Microsoft YaHei"/>
                <a:cs typeface="Arial"/>
              </a:rPr>
              <a:t>Person A: LLM + Prompt</a:t>
            </a:r>
          </a:p>
        </p:txBody>
      </p:sp>
      <p:sp>
        <p:nvSpPr>
          <p:cNvPr id="31" name="TextBox 31"/>
          <p:cNvSpPr txBox="1"/>
          <p:nvPr/>
        </p:nvSpPr>
        <p:spPr>
          <a:xfrm>
            <a:off x="701992" y="2685574"/>
            <a:ext cx="1609725" cy="826770"/>
          </a:xfrm>
          <a:prstGeom prst="rect">
            <a:avLst/>
          </a:prstGeom>
          <a:noFill/>
          <a:ln>
            <a:noFill/>
          </a:ln>
        </p:spPr>
        <p:txBody>
          <a:bodyPr wrap="square" lIns="0" tIns="0" rIns="0" bIns="0" anchor="t" anchorCtr="0"/>
          <a:lstStyle/>
          <a:p>
            <a:pPr algn="l">
              <a:lnSpc>
                <a:spcPts val="1650"/>
              </a:lnSpc>
            </a:pPr>
            <a:r>
              <a:rPr lang="zh-CN" sz="975" dirty="0">
                <a:solidFill>
                  <a:srgbClr val="333333"/>
                </a:solidFill>
                <a:latin typeface="Arial"/>
                <a:ea typeface="Microsoft YaHei"/>
                <a:cs typeface="Arial"/>
              </a:rPr>
              <a:t xml:space="preserve">- 准备LLM API环境 </a:t>
            </a:r>
            <a:r>
              <a:rPr lang="zh-CN" sz="975" dirty="0">
                <a:solidFill>
                  <a:srgbClr val="333333"/>
                </a:solidFill>
                <a:latin typeface="Arial"/>
                <a:ea typeface="Microsoft YaHei"/>
                <a:cs typeface="Arial"/>
              </a:rPr>
              <a:t xml:space="preserve">- Prompt框架设计 </a:t>
            </a:r>
            <a:r>
              <a:rPr lang="zh-CN" sz="975" dirty="0">
                <a:solidFill>
                  <a:srgbClr val="333333"/>
                </a:solidFill>
                <a:latin typeface="Arial"/>
                <a:ea typeface="Microsoft YaHei"/>
                <a:cs typeface="Arial"/>
              </a:rPr>
              <a:t xml:space="preserve">- Root Cause Reasoner原型 </a:t>
            </a:r>
            <a:r>
              <a:rPr lang="zh-CN" sz="975" dirty="0">
                <a:solidFill>
                  <a:srgbClr val="333333"/>
                </a:solidFill>
                <a:latin typeface="Arial"/>
                <a:ea typeface="Microsoft YaHei"/>
                <a:cs typeface="Arial"/>
              </a:rPr>
              <a:t>- Log Analyzer接口</a:t>
            </a:r>
          </a:p>
        </p:txBody>
      </p:sp>
      <p:sp>
        <p:nvSpPr>
          <p:cNvPr id="32" name="Line 32"/>
          <p:cNvSpPr/>
          <p:nvPr/>
        </p:nvSpPr>
        <p:spPr>
          <a:xfrm>
            <a:off x="714375" y="3048000"/>
            <a:ext cx="3095625" cy="9525"/>
          </a:xfrm>
          <a:custGeom>
            <a:avLst/>
            <a:gdLst/>
            <a:ahLst/>
            <a:cxnLst/>
            <a:rect l="l" t="t" r="r" b="b"/>
            <a:pathLst>
              <a:path w="3095625" h="9525">
                <a:moveTo>
                  <a:pt x="0" y="0"/>
                </a:moveTo>
                <a:lnTo>
                  <a:pt x="3095625" y="0"/>
                </a:lnTo>
              </a:path>
            </a:pathLst>
          </a:custGeom>
          <a:noFill/>
          <a:ln w="9525">
            <a:solidFill>
              <a:srgbClr val="E7E6E6"/>
            </a:solidFill>
            <a:custDash>
              <a:ds d="300000" sp="300000"/>
            </a:custDash>
          </a:ln>
        </p:spPr>
      </p:sp>
      <p:sp>
        <p:nvSpPr>
          <p:cNvPr id="33" name="TextBox 33"/>
          <p:cNvSpPr txBox="1"/>
          <p:nvPr/>
        </p:nvSpPr>
        <p:spPr>
          <a:xfrm>
            <a:off x="701992" y="3161824"/>
            <a:ext cx="1393031" cy="826770"/>
          </a:xfrm>
          <a:prstGeom prst="rect">
            <a:avLst/>
          </a:prstGeom>
          <a:noFill/>
          <a:ln>
            <a:noFill/>
          </a:ln>
        </p:spPr>
        <p:txBody>
          <a:bodyPr wrap="square" lIns="0" tIns="0" rIns="0" bIns="0" anchor="t" anchorCtr="0"/>
          <a:lstStyle/>
          <a:p>
            <a:pPr algn="l">
              <a:lnSpc>
                <a:spcPts val="1650"/>
              </a:lnSpc>
            </a:pPr>
            <a:r>
              <a:rPr lang="zh-CN" sz="975" dirty="0">
                <a:solidFill>
                  <a:srgbClr val="333333"/>
                </a:solidFill>
                <a:latin typeface="Arial"/>
                <a:ea typeface="Microsoft YaHei"/>
                <a:cs typeface="Arial"/>
              </a:rPr>
              <a:t xml:space="preserve">Person B: 数据 + UI </a:t>
            </a:r>
            <a:r>
              <a:rPr lang="zh-CN" sz="975" dirty="0">
                <a:solidFill>
                  <a:srgbClr val="333333"/>
                </a:solidFill>
                <a:latin typeface="Arial"/>
                <a:ea typeface="Microsoft YaHei"/>
                <a:cs typeface="Arial"/>
              </a:rPr>
              <a:t xml:space="preserve">- ETL管道 + 知识库搭建 </a:t>
            </a:r>
            <a:r>
              <a:rPr lang="zh-CN" sz="975" dirty="0">
                <a:solidFill>
                  <a:srgbClr val="333333"/>
                </a:solidFill>
                <a:latin typeface="Arial"/>
                <a:ea typeface="Microsoft YaHei"/>
                <a:cs typeface="Arial"/>
              </a:rPr>
              <a:t xml:space="preserve">- Incident Graph初版 </a:t>
            </a:r>
            <a:r>
              <a:rPr lang="zh-CN" sz="975" dirty="0">
                <a:solidFill>
                  <a:srgbClr val="333333"/>
                </a:solidFill>
                <a:latin typeface="Arial"/>
                <a:ea typeface="Microsoft YaHei"/>
                <a:cs typeface="Arial"/>
              </a:rPr>
              <a:t>- 事故看板 + Action执行</a:t>
            </a:r>
          </a:p>
        </p:txBody>
      </p:sp>
      <p:sp>
        <p:nvSpPr>
          <p:cNvPr id="34" name="Rectangle 34"/>
          <p:cNvSpPr/>
          <p:nvPr/>
        </p:nvSpPr>
        <p:spPr>
          <a:xfrm>
            <a:off x="4286250" y="2286000"/>
            <a:ext cx="3429000" cy="1905000"/>
          </a:xfrm>
          <a:prstGeom prst="roundRect">
            <a:avLst>
              <a:gd name="adj" fmla="val 2000"/>
            </a:avLst>
          </a:prstGeom>
          <a:solidFill>
            <a:srgbClr val="FFFFFF"/>
          </a:solidFill>
          <a:ln w="19050">
            <a:solidFill>
              <a:srgbClr val="2E75B6"/>
            </a:solidFill>
          </a:ln>
        </p:spPr>
      </p:sp>
      <p:sp>
        <p:nvSpPr>
          <p:cNvPr id="35" name="Rectangle 35"/>
          <p:cNvSpPr/>
          <p:nvPr/>
        </p:nvSpPr>
        <p:spPr>
          <a:xfrm>
            <a:off x="4286250" y="2286000"/>
            <a:ext cx="3429000" cy="285750"/>
          </a:xfrm>
          <a:prstGeom prst="roundRect">
            <a:avLst>
              <a:gd name="adj" fmla="val 13333"/>
            </a:avLst>
          </a:prstGeom>
          <a:solidFill>
            <a:srgbClr val="2E75B6"/>
          </a:solidFill>
          <a:ln>
            <a:noFill/>
          </a:ln>
        </p:spPr>
      </p:sp>
      <p:sp>
        <p:nvSpPr>
          <p:cNvPr id="36" name="TextBox 36"/>
          <p:cNvSpPr txBox="1"/>
          <p:nvPr/>
        </p:nvSpPr>
        <p:spPr>
          <a:xfrm>
            <a:off x="5252323" y="2372678"/>
            <a:ext cx="1496854"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Arial"/>
                <a:ea typeface="Microsoft YaHei"/>
                <a:cs typeface="Arial"/>
              </a:rPr>
              <a:t>Person A: 推理链验证</a:t>
            </a:r>
          </a:p>
        </p:txBody>
      </p:sp>
      <p:sp>
        <p:nvSpPr>
          <p:cNvPr id="37" name="TextBox 37"/>
          <p:cNvSpPr txBox="1"/>
          <p:nvPr/>
        </p:nvSpPr>
        <p:spPr>
          <a:xfrm>
            <a:off x="4416742" y="2685574"/>
            <a:ext cx="1609725" cy="826770"/>
          </a:xfrm>
          <a:prstGeom prst="rect">
            <a:avLst/>
          </a:prstGeom>
          <a:noFill/>
          <a:ln>
            <a:noFill/>
          </a:ln>
        </p:spPr>
        <p:txBody>
          <a:bodyPr wrap="square" lIns="0" tIns="0" rIns="0" bIns="0" anchor="t" anchorCtr="0"/>
          <a:lstStyle/>
          <a:p>
            <a:pPr algn="l">
              <a:lnSpc>
                <a:spcPts val="1650"/>
              </a:lnSpc>
            </a:pPr>
            <a:r>
              <a:rPr lang="zh-CN" sz="975" dirty="0">
                <a:solidFill>
                  <a:srgbClr val="333333"/>
                </a:solidFill>
                <a:latin typeface="Arial"/>
                <a:ea typeface="Microsoft YaHei"/>
                <a:cs typeface="Arial"/>
              </a:rPr>
              <a:t xml:space="preserve">- Root Cause Reasoner上线 </a:t>
            </a:r>
            <a:r>
              <a:rPr lang="zh-CN" sz="975" dirty="0">
                <a:solidFill>
                  <a:srgbClr val="333333"/>
                </a:solidFill>
                <a:latin typeface="Arial"/>
                <a:ea typeface="Microsoft YaHei"/>
                <a:cs typeface="Arial"/>
              </a:rPr>
              <a:t xml:space="preserve">- Log Analyzer集成 </a:t>
            </a:r>
            <a:r>
              <a:rPr lang="zh-CN" sz="975" dirty="0">
                <a:solidFill>
                  <a:srgbClr val="333333"/>
                </a:solidFill>
                <a:latin typeface="Arial"/>
                <a:ea typeface="Microsoft YaHei"/>
                <a:cs typeface="Arial"/>
              </a:rPr>
              <a:t xml:space="preserve">- Incident Copilot上线 </a:t>
            </a:r>
            <a:r>
              <a:rPr lang="zh-CN" sz="975" dirty="0">
                <a:solidFill>
                  <a:srgbClr val="333333"/>
                </a:solidFill>
                <a:latin typeface="Arial"/>
                <a:ea typeface="Microsoft YaHei"/>
                <a:cs typeface="Arial"/>
              </a:rPr>
              <a:t>- 可信度框架集成</a:t>
            </a:r>
          </a:p>
        </p:txBody>
      </p:sp>
      <p:sp>
        <p:nvSpPr>
          <p:cNvPr id="38" name="Line 38"/>
          <p:cNvSpPr/>
          <p:nvPr/>
        </p:nvSpPr>
        <p:spPr>
          <a:xfrm>
            <a:off x="4429125" y="3048000"/>
            <a:ext cx="3095625" cy="9525"/>
          </a:xfrm>
          <a:custGeom>
            <a:avLst/>
            <a:gdLst/>
            <a:ahLst/>
            <a:cxnLst/>
            <a:rect l="l" t="t" r="r" b="b"/>
            <a:pathLst>
              <a:path w="3095625" h="9525">
                <a:moveTo>
                  <a:pt x="0" y="0"/>
                </a:moveTo>
                <a:lnTo>
                  <a:pt x="3095625" y="0"/>
                </a:lnTo>
              </a:path>
            </a:pathLst>
          </a:custGeom>
          <a:noFill/>
          <a:ln w="9525">
            <a:solidFill>
              <a:srgbClr val="E7E6E6"/>
            </a:solidFill>
            <a:custDash>
              <a:ds d="300000" sp="300000"/>
            </a:custDash>
          </a:ln>
        </p:spPr>
      </p:sp>
      <p:sp>
        <p:nvSpPr>
          <p:cNvPr id="39" name="TextBox 39"/>
          <p:cNvSpPr txBox="1"/>
          <p:nvPr/>
        </p:nvSpPr>
        <p:spPr>
          <a:xfrm>
            <a:off x="4416742" y="3161824"/>
            <a:ext cx="1807845" cy="826770"/>
          </a:xfrm>
          <a:prstGeom prst="rect">
            <a:avLst/>
          </a:prstGeom>
          <a:noFill/>
          <a:ln>
            <a:noFill/>
          </a:ln>
        </p:spPr>
        <p:txBody>
          <a:bodyPr wrap="square" lIns="0" tIns="0" rIns="0" bIns="0" anchor="t" anchorCtr="0"/>
          <a:lstStyle/>
          <a:p>
            <a:pPr algn="l">
              <a:lnSpc>
                <a:spcPts val="1650"/>
              </a:lnSpc>
            </a:pPr>
            <a:r>
              <a:rPr lang="zh-CN" sz="975" dirty="0">
                <a:solidFill>
                  <a:srgbClr val="333333"/>
                </a:solidFill>
                <a:latin typeface="Arial"/>
                <a:ea typeface="Microsoft YaHei"/>
                <a:cs typeface="Arial"/>
              </a:rPr>
              <a:t xml:space="preserve">Person B: 数据 + 展示 </a:t>
            </a:r>
            <a:r>
              <a:rPr lang="zh-CN" sz="975" dirty="0">
                <a:solidFill>
                  <a:srgbClr val="333333"/>
                </a:solidFill>
                <a:latin typeface="Arial"/>
                <a:ea typeface="Microsoft YaHei"/>
                <a:cs typeface="Arial"/>
              </a:rPr>
              <a:t xml:space="preserve">- 数据接口对接 </a:t>
            </a:r>
            <a:r>
              <a:rPr lang="zh-CN" sz="975" dirty="0">
                <a:solidFill>
                  <a:srgbClr val="333333"/>
                </a:solidFill>
                <a:latin typeface="Arial"/>
                <a:ea typeface="Microsoft YaHei"/>
                <a:cs typeface="Arial"/>
              </a:rPr>
              <a:t xml:space="preserve">- Investigation State Machine </a:t>
            </a:r>
            <a:r>
              <a:rPr lang="zh-CN" sz="975" dirty="0">
                <a:solidFill>
                  <a:srgbClr val="333333"/>
                </a:solidFill>
                <a:latin typeface="Arial"/>
                <a:ea typeface="Microsoft YaHei"/>
                <a:cs typeface="Arial"/>
              </a:rPr>
              <a:t>- 结果展示UI</a:t>
            </a:r>
          </a:p>
        </p:txBody>
      </p:sp>
      <p:sp>
        <p:nvSpPr>
          <p:cNvPr id="40" name="Rectangle 40"/>
          <p:cNvSpPr/>
          <p:nvPr/>
        </p:nvSpPr>
        <p:spPr>
          <a:xfrm>
            <a:off x="8001000" y="2286000"/>
            <a:ext cx="3619500" cy="1905000"/>
          </a:xfrm>
          <a:prstGeom prst="roundRect">
            <a:avLst>
              <a:gd name="adj" fmla="val 2000"/>
            </a:avLst>
          </a:prstGeom>
          <a:solidFill>
            <a:srgbClr val="FFFFFF"/>
          </a:solidFill>
          <a:ln w="19050">
            <a:solidFill>
              <a:srgbClr val="5B9BD5"/>
            </a:solidFill>
          </a:ln>
        </p:spPr>
      </p:sp>
      <p:sp>
        <p:nvSpPr>
          <p:cNvPr id="41" name="Rectangle 41"/>
          <p:cNvSpPr/>
          <p:nvPr/>
        </p:nvSpPr>
        <p:spPr>
          <a:xfrm>
            <a:off x="8001000" y="2286000"/>
            <a:ext cx="3619500" cy="285750"/>
          </a:xfrm>
          <a:prstGeom prst="roundRect">
            <a:avLst>
              <a:gd name="adj" fmla="val 13333"/>
            </a:avLst>
          </a:prstGeom>
          <a:solidFill>
            <a:srgbClr val="5B9BD5"/>
          </a:solidFill>
          <a:ln>
            <a:noFill/>
          </a:ln>
        </p:spPr>
      </p:sp>
      <p:sp>
        <p:nvSpPr>
          <p:cNvPr id="42" name="TextBox 42"/>
          <p:cNvSpPr txBox="1"/>
          <p:nvPr/>
        </p:nvSpPr>
        <p:spPr>
          <a:xfrm>
            <a:off x="9135832" y="2372678"/>
            <a:ext cx="1349835"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Arial"/>
                <a:ea typeface="Microsoft YaHei"/>
                <a:cs typeface="Arial"/>
              </a:rPr>
              <a:t>Person A: 知识闭环</a:t>
            </a:r>
          </a:p>
        </p:txBody>
      </p:sp>
      <p:sp>
        <p:nvSpPr>
          <p:cNvPr id="43" name="TextBox 43"/>
          <p:cNvSpPr txBox="1"/>
          <p:nvPr/>
        </p:nvSpPr>
        <p:spPr>
          <a:xfrm>
            <a:off x="8131492" y="2685574"/>
            <a:ext cx="1758315" cy="617220"/>
          </a:xfrm>
          <a:prstGeom prst="rect">
            <a:avLst/>
          </a:prstGeom>
          <a:noFill/>
          <a:ln>
            <a:noFill/>
          </a:ln>
        </p:spPr>
        <p:txBody>
          <a:bodyPr wrap="square" lIns="0" tIns="0" rIns="0" bIns="0" anchor="t" anchorCtr="0"/>
          <a:lstStyle/>
          <a:p>
            <a:pPr algn="l">
              <a:lnSpc>
                <a:spcPts val="1650"/>
              </a:lnSpc>
            </a:pPr>
            <a:r>
              <a:rPr lang="zh-CN" sz="975" dirty="0">
                <a:solidFill>
                  <a:srgbClr val="333333"/>
                </a:solidFill>
                <a:latin typeface="Arial"/>
                <a:ea typeface="Microsoft YaHei"/>
                <a:cs typeface="Arial"/>
              </a:rPr>
              <a:t xml:space="preserve">- Knowledge Distiller自动学习 </a:t>
            </a:r>
            <a:r>
              <a:rPr lang="zh-CN" sz="975" dirty="0">
                <a:solidFill>
                  <a:srgbClr val="333333"/>
                </a:solidFill>
                <a:latin typeface="Arial"/>
                <a:ea typeface="Microsoft YaHei"/>
                <a:cs typeface="Arial"/>
              </a:rPr>
              <a:t xml:space="preserve">- 去重聚合 + 模式精炼 </a:t>
            </a:r>
            <a:r>
              <a:rPr lang="zh-CN" sz="975" dirty="0">
                <a:solidFill>
                  <a:srgbClr val="333333"/>
                </a:solidFill>
                <a:latin typeface="Arial"/>
                <a:ea typeface="Microsoft YaHei"/>
                <a:cs typeface="Arial"/>
              </a:rPr>
              <a:t>- SKILL热更新机制</a:t>
            </a:r>
          </a:p>
        </p:txBody>
      </p:sp>
      <p:sp>
        <p:nvSpPr>
          <p:cNvPr id="44" name="Line 44"/>
          <p:cNvSpPr/>
          <p:nvPr/>
        </p:nvSpPr>
        <p:spPr>
          <a:xfrm>
            <a:off x="8143875" y="3048000"/>
            <a:ext cx="3286125" cy="9525"/>
          </a:xfrm>
          <a:custGeom>
            <a:avLst/>
            <a:gdLst/>
            <a:ahLst/>
            <a:cxnLst/>
            <a:rect l="l" t="t" r="r" b="b"/>
            <a:pathLst>
              <a:path w="3286125" h="9525">
                <a:moveTo>
                  <a:pt x="0" y="0"/>
                </a:moveTo>
                <a:lnTo>
                  <a:pt x="3286125" y="0"/>
                </a:lnTo>
              </a:path>
            </a:pathLst>
          </a:custGeom>
          <a:noFill/>
          <a:ln w="9525">
            <a:solidFill>
              <a:srgbClr val="E7E6E6"/>
            </a:solidFill>
            <a:custDash>
              <a:ds d="300000" sp="300000"/>
            </a:custDash>
          </a:ln>
        </p:spPr>
      </p:sp>
      <p:sp>
        <p:nvSpPr>
          <p:cNvPr id="45" name="TextBox 45"/>
          <p:cNvSpPr txBox="1"/>
          <p:nvPr/>
        </p:nvSpPr>
        <p:spPr>
          <a:xfrm>
            <a:off x="8131492" y="3161824"/>
            <a:ext cx="1721168" cy="826770"/>
          </a:xfrm>
          <a:prstGeom prst="rect">
            <a:avLst/>
          </a:prstGeom>
          <a:noFill/>
          <a:ln>
            <a:noFill/>
          </a:ln>
        </p:spPr>
        <p:txBody>
          <a:bodyPr wrap="square" lIns="0" tIns="0" rIns="0" bIns="0" anchor="t" anchorCtr="0"/>
          <a:lstStyle/>
          <a:p>
            <a:pPr algn="l">
              <a:lnSpc>
                <a:spcPts val="1650"/>
              </a:lnSpc>
            </a:pPr>
            <a:r>
              <a:rPr lang="zh-CN" sz="975" dirty="0">
                <a:solidFill>
                  <a:srgbClr val="333333"/>
                </a:solidFill>
                <a:latin typeface="Arial"/>
                <a:ea typeface="Microsoft YaHei"/>
                <a:cs typeface="Arial"/>
              </a:rPr>
              <a:t xml:space="preserve">Person B: 协同 + 演练 </a:t>
            </a:r>
            <a:r>
              <a:rPr lang="zh-CN" sz="975" dirty="0">
                <a:solidFill>
                  <a:srgbClr val="333333"/>
                </a:solidFill>
                <a:latin typeface="Arial"/>
                <a:ea typeface="Microsoft YaHei"/>
                <a:cs typeface="Arial"/>
              </a:rPr>
              <a:t xml:space="preserve">- War Room Agent多角色协同 </a:t>
            </a:r>
            <a:r>
              <a:rPr lang="zh-CN" sz="975" dirty="0">
                <a:solidFill>
                  <a:srgbClr val="333333"/>
                </a:solidFill>
                <a:latin typeface="Arial"/>
                <a:ea typeface="Microsoft YaHei"/>
                <a:cs typeface="Arial"/>
              </a:rPr>
              <a:t xml:space="preserve">- Incident Simulator演练系统 </a:t>
            </a:r>
            <a:r>
              <a:rPr lang="zh-CN" sz="975" dirty="0">
                <a:solidFill>
                  <a:srgbClr val="333333"/>
                </a:solidFill>
                <a:latin typeface="Arial"/>
                <a:ea typeface="Microsoft YaHei"/>
                <a:cs typeface="Arial"/>
              </a:rPr>
              <a:t>- 完整端到端验证</a:t>
            </a:r>
          </a:p>
        </p:txBody>
      </p:sp>
      <p:sp>
        <p:nvSpPr>
          <p:cNvPr id="46" name="Rectangle 46"/>
          <p:cNvSpPr/>
          <p:nvPr/>
        </p:nvSpPr>
        <p:spPr>
          <a:xfrm>
            <a:off x="571500" y="4476750"/>
            <a:ext cx="11049000" cy="619125"/>
          </a:xfrm>
          <a:prstGeom prst="roundRect">
            <a:avLst>
              <a:gd name="adj" fmla="val 6154"/>
            </a:avLst>
          </a:prstGeom>
          <a:solidFill>
            <a:srgbClr val="FDF3EB"/>
          </a:solidFill>
          <a:ln w="19050">
            <a:solidFill>
              <a:srgbClr val="F8CBAD"/>
            </a:solidFill>
          </a:ln>
        </p:spPr>
      </p:sp>
      <p:sp>
        <p:nvSpPr>
          <p:cNvPr id="47" name="Rectangle 47"/>
          <p:cNvSpPr/>
          <p:nvPr/>
        </p:nvSpPr>
        <p:spPr>
          <a:xfrm>
            <a:off x="571500" y="4476750"/>
            <a:ext cx="57150" cy="619125"/>
          </a:xfrm>
          <a:prstGeom prst="rect">
            <a:avLst/>
          </a:prstGeom>
          <a:solidFill>
            <a:srgbClr val="C00000"/>
          </a:solidFill>
          <a:ln>
            <a:noFill/>
          </a:ln>
        </p:spPr>
      </p:sp>
      <p:sp>
        <p:nvSpPr>
          <p:cNvPr id="48" name="TextBox 48"/>
          <p:cNvSpPr txBox="1"/>
          <p:nvPr/>
        </p:nvSpPr>
        <p:spPr>
          <a:xfrm>
            <a:off x="939165" y="4620578"/>
            <a:ext cx="908780" cy="213360"/>
          </a:xfrm>
          <a:prstGeom prst="rect">
            <a:avLst/>
          </a:prstGeom>
          <a:noFill/>
          <a:ln>
            <a:noFill/>
          </a:ln>
        </p:spPr>
        <p:txBody>
          <a:bodyPr wrap="none" lIns="0" tIns="0" rIns="0" bIns="0" anchor="t" anchorCtr="0">
            <a:spAutoFit/>
          </a:bodyPr>
          <a:lstStyle/>
          <a:p>
            <a:pPr algn="l"/>
            <a:r>
              <a:rPr lang="zh-CN" sz="1050" b="1" dirty="0">
                <a:solidFill>
                  <a:srgbClr val="C00000"/>
                </a:solidFill>
                <a:latin typeface="Arial"/>
                <a:ea typeface="Microsoft YaHei"/>
                <a:cs typeface="Arial"/>
              </a:rPr>
              <a:t>关键交付物：</a:t>
            </a:r>
          </a:p>
        </p:txBody>
      </p:sp>
      <p:sp>
        <p:nvSpPr>
          <p:cNvPr id="49" name="TextBox 49"/>
          <p:cNvSpPr txBox="1"/>
          <p:nvPr/>
        </p:nvSpPr>
        <p:spPr>
          <a:xfrm>
            <a:off x="940118" y="4866799"/>
            <a:ext cx="6746605" cy="198120"/>
          </a:xfrm>
          <a:prstGeom prst="rect">
            <a:avLst/>
          </a:prstGeom>
          <a:noFill/>
          <a:ln>
            <a:noFill/>
          </a:ln>
        </p:spPr>
        <p:txBody>
          <a:bodyPr wrap="none" lIns="0" tIns="0" rIns="0" bIns="0" anchor="t" anchorCtr="0">
            <a:spAutoFit/>
          </a:bodyPr>
          <a:lstStyle/>
          <a:p>
            <a:pPr algn="l"/>
            <a:r>
              <a:rPr lang="zh-CN" sz="975" dirty="0">
                <a:solidFill>
                  <a:srgbClr val="333333"/>
                </a:solidFill>
                <a:latin typeface="Arial"/>
                <a:ea typeface="Microsoft YaHei"/>
                <a:cs typeface="Arial"/>
              </a:rPr>
              <a:t>可运行的故障应急认知原型系统 · 完整的技术架构与接口文档 · 三阶段验证指标报告（MTTR、诊断准确率、闭环率）</a:t>
            </a:r>
          </a:p>
        </p:txBody>
      </p:sp>
      <p:sp>
        <p:nvSpPr>
          <p:cNvPr id="50" name="Rectangle 50"/>
          <p:cNvSpPr/>
          <p:nvPr/>
        </p:nvSpPr>
        <p:spPr>
          <a:xfrm>
            <a:off x="571500" y="5286375"/>
            <a:ext cx="3524250" cy="1000125"/>
          </a:xfrm>
          <a:prstGeom prst="roundRect">
            <a:avLst>
              <a:gd name="adj" fmla="val 3810"/>
            </a:avLst>
          </a:prstGeom>
          <a:solidFill>
            <a:srgbClr val="FFFFFF"/>
          </a:solidFill>
          <a:ln w="19050">
            <a:solidFill>
              <a:srgbClr val="E7E6E6"/>
            </a:solidFill>
          </a:ln>
        </p:spPr>
      </p:sp>
      <p:sp>
        <p:nvSpPr>
          <p:cNvPr id="51" name="Rectangle 51"/>
          <p:cNvSpPr/>
          <p:nvPr/>
        </p:nvSpPr>
        <p:spPr>
          <a:xfrm>
            <a:off x="571500" y="5286375"/>
            <a:ext cx="3524250" cy="285750"/>
          </a:xfrm>
          <a:prstGeom prst="roundRect">
            <a:avLst>
              <a:gd name="adj" fmla="val 13333"/>
            </a:avLst>
          </a:prstGeom>
          <a:solidFill>
            <a:srgbClr val="C00000"/>
          </a:solidFill>
          <a:ln>
            <a:noFill/>
          </a:ln>
        </p:spPr>
      </p:sp>
      <p:sp>
        <p:nvSpPr>
          <p:cNvPr id="52" name="TextBox 52"/>
          <p:cNvSpPr txBox="1"/>
          <p:nvPr/>
        </p:nvSpPr>
        <p:spPr>
          <a:xfrm>
            <a:off x="1879235" y="5373052"/>
            <a:ext cx="908780"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Arial"/>
                <a:ea typeface="Microsoft YaHei"/>
                <a:cs typeface="Arial"/>
              </a:rPr>
              <a:t>数据治理原则</a:t>
            </a:r>
          </a:p>
        </p:txBody>
      </p:sp>
      <p:sp>
        <p:nvSpPr>
          <p:cNvPr id="53" name="TextBox 53"/>
          <p:cNvSpPr txBox="1"/>
          <p:nvPr/>
        </p:nvSpPr>
        <p:spPr>
          <a:xfrm>
            <a:off x="702945" y="5665470"/>
            <a:ext cx="1588770" cy="563880"/>
          </a:xfrm>
          <a:prstGeom prst="rect">
            <a:avLst/>
          </a:prstGeom>
          <a:noFill/>
          <a:ln>
            <a:noFill/>
          </a:ln>
        </p:spPr>
        <p:txBody>
          <a:bodyPr wrap="square" lIns="0" tIns="0" rIns="0" bIns="0" anchor="t" anchorCtr="0"/>
          <a:lstStyle/>
          <a:p>
            <a:pPr algn="l">
              <a:lnSpc>
                <a:spcPts val="1500"/>
              </a:lnSpc>
            </a:pPr>
            <a:r>
              <a:rPr lang="zh-CN" sz="900" dirty="0">
                <a:solidFill>
                  <a:srgbClr val="333333"/>
                </a:solidFill>
                <a:latin typeface="Arial"/>
                <a:ea typeface="Microsoft YaHei"/>
                <a:cs typeface="Arial"/>
              </a:rPr>
              <a:t xml:space="preserve">- 统一ID、时间窗口、字段命名 </a:t>
            </a:r>
            <a:r>
              <a:rPr lang="zh-CN" sz="900" dirty="0">
                <a:solidFill>
                  <a:srgbClr val="333333"/>
                </a:solidFill>
                <a:latin typeface="Arial"/>
                <a:ea typeface="Microsoft YaHei"/>
                <a:cs typeface="Arial"/>
              </a:rPr>
              <a:t xml:space="preserve">- 为LLM提供一致数据源 </a:t>
            </a:r>
            <a:r>
              <a:rPr lang="zh-CN" sz="900" dirty="0">
                <a:solidFill>
                  <a:srgbClr val="333333"/>
                </a:solidFill>
                <a:latin typeface="Arial"/>
                <a:ea typeface="Microsoft YaHei"/>
                <a:cs typeface="Arial"/>
              </a:rPr>
              <a:t>- 接口Schema对齐</a:t>
            </a:r>
          </a:p>
        </p:txBody>
      </p:sp>
      <p:sp>
        <p:nvSpPr>
          <p:cNvPr id="54" name="Rectangle 54"/>
          <p:cNvSpPr/>
          <p:nvPr/>
        </p:nvSpPr>
        <p:spPr>
          <a:xfrm>
            <a:off x="4333875" y="5286375"/>
            <a:ext cx="3524250" cy="1000125"/>
          </a:xfrm>
          <a:prstGeom prst="roundRect">
            <a:avLst>
              <a:gd name="adj" fmla="val 3810"/>
            </a:avLst>
          </a:prstGeom>
          <a:solidFill>
            <a:srgbClr val="FFFFFF"/>
          </a:solidFill>
          <a:ln w="19050">
            <a:solidFill>
              <a:srgbClr val="E7E6E6"/>
            </a:solidFill>
          </a:ln>
        </p:spPr>
      </p:sp>
      <p:sp>
        <p:nvSpPr>
          <p:cNvPr id="55" name="Rectangle 55"/>
          <p:cNvSpPr/>
          <p:nvPr/>
        </p:nvSpPr>
        <p:spPr>
          <a:xfrm>
            <a:off x="4333875" y="5286375"/>
            <a:ext cx="3524250" cy="285750"/>
          </a:xfrm>
          <a:prstGeom prst="roundRect">
            <a:avLst>
              <a:gd name="adj" fmla="val 13333"/>
            </a:avLst>
          </a:prstGeom>
          <a:solidFill>
            <a:srgbClr val="2E75B6"/>
          </a:solidFill>
          <a:ln>
            <a:noFill/>
          </a:ln>
        </p:spPr>
      </p:sp>
      <p:sp>
        <p:nvSpPr>
          <p:cNvPr id="56" name="TextBox 56"/>
          <p:cNvSpPr txBox="1"/>
          <p:nvPr/>
        </p:nvSpPr>
        <p:spPr>
          <a:xfrm>
            <a:off x="5652636" y="5373052"/>
            <a:ext cx="886727"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Arial"/>
                <a:ea typeface="Microsoft YaHei"/>
                <a:cs typeface="Arial"/>
              </a:rPr>
              <a:t>MVP验证策略</a:t>
            </a:r>
          </a:p>
        </p:txBody>
      </p:sp>
      <p:sp>
        <p:nvSpPr>
          <p:cNvPr id="57" name="TextBox 57"/>
          <p:cNvSpPr txBox="1"/>
          <p:nvPr/>
        </p:nvSpPr>
        <p:spPr>
          <a:xfrm>
            <a:off x="4465320" y="5665470"/>
            <a:ext cx="1337310" cy="563880"/>
          </a:xfrm>
          <a:prstGeom prst="rect">
            <a:avLst/>
          </a:prstGeom>
          <a:noFill/>
          <a:ln>
            <a:noFill/>
          </a:ln>
        </p:spPr>
        <p:txBody>
          <a:bodyPr wrap="square" lIns="0" tIns="0" rIns="0" bIns="0" anchor="t" anchorCtr="0"/>
          <a:lstStyle/>
          <a:p>
            <a:pPr algn="l">
              <a:lnSpc>
                <a:spcPts val="1500"/>
              </a:lnSpc>
            </a:pPr>
            <a:r>
              <a:rPr lang="zh-CN" sz="900" dirty="0">
                <a:solidFill>
                  <a:srgbClr val="333333"/>
                </a:solidFill>
                <a:latin typeface="Arial"/>
                <a:ea typeface="Microsoft YaHei"/>
                <a:cs typeface="Arial"/>
              </a:rPr>
              <a:t xml:space="preserve">- 最小样本优先 </a:t>
            </a:r>
            <a:r>
              <a:rPr lang="zh-CN" sz="900" dirty="0">
                <a:solidFill>
                  <a:srgbClr val="333333"/>
                </a:solidFill>
                <a:latin typeface="Arial"/>
                <a:ea typeface="Microsoft YaHei"/>
                <a:cs typeface="Arial"/>
              </a:rPr>
              <a:t xml:space="preserve">- 验证1~2个产品完整链路 </a:t>
            </a:r>
            <a:r>
              <a:rPr lang="zh-CN" sz="900" dirty="0">
                <a:solidFill>
                  <a:srgbClr val="333333"/>
                </a:solidFill>
                <a:latin typeface="Arial"/>
                <a:ea typeface="Microsoft YaHei"/>
                <a:cs typeface="Arial"/>
              </a:rPr>
              <a:t>- 非全量上线</a:t>
            </a:r>
          </a:p>
        </p:txBody>
      </p:sp>
      <p:sp>
        <p:nvSpPr>
          <p:cNvPr id="58" name="Rectangle 58"/>
          <p:cNvSpPr/>
          <p:nvPr/>
        </p:nvSpPr>
        <p:spPr>
          <a:xfrm>
            <a:off x="8096250" y="5286375"/>
            <a:ext cx="3524250" cy="1000125"/>
          </a:xfrm>
          <a:prstGeom prst="roundRect">
            <a:avLst>
              <a:gd name="adj" fmla="val 3810"/>
            </a:avLst>
          </a:prstGeom>
          <a:solidFill>
            <a:srgbClr val="FFFFFF"/>
          </a:solidFill>
          <a:ln w="19050">
            <a:solidFill>
              <a:srgbClr val="E7E6E6"/>
            </a:solidFill>
          </a:ln>
        </p:spPr>
      </p:sp>
      <p:sp>
        <p:nvSpPr>
          <p:cNvPr id="59" name="Rectangle 59"/>
          <p:cNvSpPr/>
          <p:nvPr/>
        </p:nvSpPr>
        <p:spPr>
          <a:xfrm>
            <a:off x="8096250" y="5286375"/>
            <a:ext cx="3524250" cy="285750"/>
          </a:xfrm>
          <a:prstGeom prst="roundRect">
            <a:avLst>
              <a:gd name="adj" fmla="val 13333"/>
            </a:avLst>
          </a:prstGeom>
          <a:solidFill>
            <a:srgbClr val="5B9BD5"/>
          </a:solidFill>
          <a:ln>
            <a:noFill/>
          </a:ln>
        </p:spPr>
      </p:sp>
      <p:sp>
        <p:nvSpPr>
          <p:cNvPr id="60" name="TextBox 60"/>
          <p:cNvSpPr txBox="1"/>
          <p:nvPr/>
        </p:nvSpPr>
        <p:spPr>
          <a:xfrm>
            <a:off x="9477494" y="5373052"/>
            <a:ext cx="761762"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Arial"/>
                <a:ea typeface="Microsoft YaHei"/>
                <a:cs typeface="Arial"/>
              </a:rPr>
              <a:t>安全与审计</a:t>
            </a:r>
          </a:p>
        </p:txBody>
      </p:sp>
      <p:sp>
        <p:nvSpPr>
          <p:cNvPr id="61" name="TextBox 61"/>
          <p:cNvSpPr txBox="1"/>
          <p:nvPr/>
        </p:nvSpPr>
        <p:spPr>
          <a:xfrm>
            <a:off x="8227695" y="5665470"/>
            <a:ext cx="1131570" cy="563880"/>
          </a:xfrm>
          <a:prstGeom prst="rect">
            <a:avLst/>
          </a:prstGeom>
          <a:noFill/>
          <a:ln>
            <a:noFill/>
          </a:ln>
        </p:spPr>
        <p:txBody>
          <a:bodyPr wrap="square" lIns="0" tIns="0" rIns="0" bIns="0" anchor="t" anchorCtr="0"/>
          <a:lstStyle/>
          <a:p>
            <a:pPr algn="l">
              <a:lnSpc>
                <a:spcPts val="1500"/>
              </a:lnSpc>
            </a:pPr>
            <a:r>
              <a:rPr lang="zh-CN" sz="900" dirty="0">
                <a:solidFill>
                  <a:srgbClr val="333333"/>
                </a:solidFill>
                <a:latin typeface="Arial"/>
                <a:ea typeface="Microsoft YaHei"/>
                <a:cs typeface="Arial"/>
              </a:rPr>
              <a:t xml:space="preserve">- 所有操作记录审计ID </a:t>
            </a:r>
            <a:r>
              <a:rPr lang="zh-CN" sz="900" dirty="0">
                <a:solidFill>
                  <a:srgbClr val="333333"/>
                </a:solidFill>
                <a:latin typeface="Arial"/>
                <a:ea typeface="Microsoft YaHei"/>
                <a:cs typeface="Arial"/>
              </a:rPr>
              <a:t xml:space="preserve">- 审批/风险等级分类 </a:t>
            </a:r>
            <a:r>
              <a:rPr lang="zh-CN" sz="900" dirty="0">
                <a:solidFill>
                  <a:srgbClr val="333333"/>
                </a:solidFill>
                <a:latin typeface="Arial"/>
                <a:ea typeface="Microsoft YaHei"/>
                <a:cs typeface="Arial"/>
              </a:rPr>
              <a:t>- 可回滚机制</a:t>
            </a:r>
          </a:p>
        </p:txBody>
      </p:sp>
    </p:spTree>
  </p:cSld>
  <p:clrMapOvr>
    <a:masterClrMapping/>
  </p:clrMapOvr>
  <p:transition xmlns:p14="http://schemas.microsoft.com/office/powerpoint/2010/main" p14:dur="400">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76200"/>
          </a:xfrm>
          <a:prstGeom prst="rect">
            <a:avLst/>
          </a:prstGeom>
          <a:solidFill>
            <a:srgbClr val="C00000"/>
          </a:solidFill>
          <a:ln>
            <a:noFill/>
          </a:ln>
        </p:spPr>
      </p:sp>
      <p:sp>
        <p:nvSpPr>
          <p:cNvPr id="4" name="Rectangle 4"/>
          <p:cNvSpPr/>
          <p:nvPr/>
        </p:nvSpPr>
        <p:spPr>
          <a:xfrm>
            <a:off x="0" y="0"/>
            <a:ext cx="571500" cy="3429000"/>
          </a:xfrm>
          <a:prstGeom prst="rect">
            <a:avLst/>
          </a:prstGeom>
          <a:solidFill>
            <a:srgbClr val="C00000"/>
          </a:solidFill>
          <a:ln>
            <a:noFill/>
          </a:ln>
        </p:spPr>
      </p:sp>
      <p:sp>
        <p:nvSpPr>
          <p:cNvPr id="5" name="Rectangle 5"/>
          <p:cNvSpPr/>
          <p:nvPr/>
        </p:nvSpPr>
        <p:spPr>
          <a:xfrm>
            <a:off x="0" y="3429000"/>
            <a:ext cx="571500" cy="3429000"/>
          </a:xfrm>
          <a:prstGeom prst="rect">
            <a:avLst/>
          </a:prstGeom>
          <a:solidFill>
            <a:srgbClr val="2E75B6"/>
          </a:solidFill>
          <a:ln>
            <a:noFill/>
          </a:ln>
        </p:spPr>
      </p:sp>
      <p:sp>
        <p:nvSpPr>
          <p:cNvPr id="6" name="Rectangle 6"/>
          <p:cNvSpPr/>
          <p:nvPr/>
        </p:nvSpPr>
        <p:spPr>
          <a:xfrm>
            <a:off x="2667000" y="1905000"/>
            <a:ext cx="6858000" cy="3048000"/>
          </a:xfrm>
          <a:prstGeom prst="rect">
            <a:avLst/>
          </a:prstGeom>
          <a:solidFill>
            <a:srgbClr val="FDF3EB"/>
          </a:solidFill>
          <a:ln w="19050">
            <a:solidFill>
              <a:srgbClr val="F8CBAD"/>
            </a:solidFill>
          </a:ln>
        </p:spPr>
      </p:sp>
      <p:sp>
        <p:nvSpPr>
          <p:cNvPr id="7" name="TextBox 7"/>
          <p:cNvSpPr txBox="1"/>
          <p:nvPr/>
        </p:nvSpPr>
        <p:spPr>
          <a:xfrm>
            <a:off x="4690872" y="2434590"/>
            <a:ext cx="2810256" cy="975360"/>
          </a:xfrm>
          <a:prstGeom prst="rect">
            <a:avLst/>
          </a:prstGeom>
          <a:noFill/>
          <a:ln>
            <a:noFill/>
          </a:ln>
        </p:spPr>
        <p:txBody>
          <a:bodyPr wrap="none" lIns="0" tIns="0" rIns="0" bIns="0" anchor="t" anchorCtr="0">
            <a:spAutoFit/>
          </a:bodyPr>
          <a:lstStyle/>
          <a:p>
            <a:pPr algn="ctr"/>
            <a:r>
              <a:rPr lang="zh-CN" sz="4800" b="1" dirty="0">
                <a:solidFill>
                  <a:srgbClr val="C00000"/>
                </a:solidFill>
                <a:latin typeface="Arial"/>
                <a:ea typeface="Microsoft YaHei"/>
                <a:cs typeface="Arial"/>
              </a:rPr>
              <a:t>感谢聆听</a:t>
            </a:r>
          </a:p>
        </p:txBody>
      </p:sp>
      <p:sp>
        <p:nvSpPr>
          <p:cNvPr id="8" name="TextBox 8"/>
          <p:cNvSpPr txBox="1"/>
          <p:nvPr/>
        </p:nvSpPr>
        <p:spPr>
          <a:xfrm>
            <a:off x="3858268" y="3346132"/>
            <a:ext cx="4475464" cy="335280"/>
          </a:xfrm>
          <a:prstGeom prst="rect">
            <a:avLst/>
          </a:prstGeom>
          <a:noFill/>
          <a:ln>
            <a:noFill/>
          </a:ln>
        </p:spPr>
        <p:txBody>
          <a:bodyPr wrap="none" lIns="0" tIns="0" rIns="0" bIns="0" anchor="t" anchorCtr="0">
            <a:spAutoFit/>
          </a:bodyPr>
          <a:lstStyle/>
          <a:p>
            <a:pPr algn="ctr"/>
            <a:r>
              <a:rPr lang="zh-CN" sz="1650" dirty="0">
                <a:solidFill>
                  <a:srgbClr val="2E75B6"/>
                </a:solidFill>
                <a:latin typeface="Arial"/>
                <a:ea typeface="Microsoft YaHei"/>
                <a:cs typeface="Arial"/>
              </a:rPr>
              <a:t>INTELLIOPS · AI-DRIVEN INCIDENT COGNITION</a:t>
            </a:r>
          </a:p>
        </p:txBody>
      </p:sp>
      <p:sp>
        <p:nvSpPr>
          <p:cNvPr id="9" name="Line 9"/>
          <p:cNvSpPr/>
          <p:nvPr/>
        </p:nvSpPr>
        <p:spPr>
          <a:xfrm>
            <a:off x="4572000" y="3810000"/>
            <a:ext cx="3048000" cy="9525"/>
          </a:xfrm>
          <a:custGeom>
            <a:avLst/>
            <a:gdLst/>
            <a:ahLst/>
            <a:cxnLst/>
            <a:rect l="l" t="t" r="r" b="b"/>
            <a:pathLst>
              <a:path w="3048000" h="9525">
                <a:moveTo>
                  <a:pt x="0" y="0"/>
                </a:moveTo>
                <a:lnTo>
                  <a:pt x="3048000" y="0"/>
                </a:lnTo>
              </a:path>
            </a:pathLst>
          </a:custGeom>
          <a:noFill/>
          <a:ln w="9525">
            <a:solidFill>
              <a:srgbClr val="E7E6E6"/>
            </a:solidFill>
          </a:ln>
        </p:spPr>
      </p:sp>
      <p:sp>
        <p:nvSpPr>
          <p:cNvPr id="10" name="TextBox 10"/>
          <p:cNvSpPr txBox="1"/>
          <p:nvPr/>
        </p:nvSpPr>
        <p:spPr>
          <a:xfrm>
            <a:off x="4197620" y="4140518"/>
            <a:ext cx="3796760" cy="274320"/>
          </a:xfrm>
          <a:prstGeom prst="rect">
            <a:avLst/>
          </a:prstGeom>
          <a:noFill/>
          <a:ln>
            <a:noFill/>
          </a:ln>
        </p:spPr>
        <p:txBody>
          <a:bodyPr wrap="none" lIns="0" tIns="0" rIns="0" bIns="0" anchor="t" anchorCtr="0">
            <a:spAutoFit/>
          </a:bodyPr>
          <a:lstStyle/>
          <a:p>
            <a:pPr algn="ctr"/>
            <a:r>
              <a:rPr lang="zh-CN" sz="1350" dirty="0">
                <a:solidFill>
                  <a:srgbClr val="666666"/>
                </a:solidFill>
                <a:latin typeface="Arial"/>
                <a:ea typeface="Microsoft YaHei"/>
                <a:cs typeface="Arial"/>
              </a:rPr>
              <a:t>大模型驱动的故障应急认知系统 | 原型研发项目</a:t>
            </a:r>
          </a:p>
        </p:txBody>
      </p:sp>
      <p:sp>
        <p:nvSpPr>
          <p:cNvPr id="11" name="TextBox 11"/>
          <p:cNvSpPr txBox="1"/>
          <p:nvPr/>
        </p:nvSpPr>
        <p:spPr>
          <a:xfrm>
            <a:off x="5519095" y="4553902"/>
            <a:ext cx="1153811" cy="213360"/>
          </a:xfrm>
          <a:prstGeom prst="rect">
            <a:avLst/>
          </a:prstGeom>
          <a:noFill/>
          <a:ln>
            <a:noFill/>
          </a:ln>
        </p:spPr>
        <p:txBody>
          <a:bodyPr wrap="none" lIns="0" tIns="0" rIns="0" bIns="0" anchor="t" anchorCtr="0">
            <a:spAutoFit/>
          </a:bodyPr>
          <a:lstStyle/>
          <a:p>
            <a:pPr algn="ctr"/>
            <a:r>
              <a:rPr lang="zh-CN" sz="1050" dirty="0">
                <a:solidFill>
                  <a:srgbClr val="999999"/>
                </a:solidFill>
                <a:latin typeface="Arial"/>
                <a:ea typeface="Microsoft YaHei"/>
                <a:cs typeface="Arial"/>
              </a:rPr>
              <a:t>© 2026 IntelliOps</a:t>
            </a:r>
          </a:p>
        </p:txBody>
      </p:sp>
      <p:sp>
        <p:nvSpPr>
          <p:cNvPr id="12" name="Rectangle 12"/>
          <p:cNvSpPr/>
          <p:nvPr/>
        </p:nvSpPr>
        <p:spPr>
          <a:xfrm>
            <a:off x="0" y="6477000"/>
            <a:ext cx="12192000" cy="95250"/>
          </a:xfrm>
          <a:prstGeom prst="rect">
            <a:avLst/>
          </a:prstGeom>
          <a:solidFill>
            <a:srgbClr val="FDF3EB"/>
          </a:solidFill>
          <a:ln>
            <a:noFill/>
          </a:ln>
        </p:spPr>
      </p:sp>
      <p:sp>
        <p:nvSpPr>
          <p:cNvPr id="13" name="Rectangle 13"/>
          <p:cNvSpPr/>
          <p:nvPr/>
        </p:nvSpPr>
        <p:spPr>
          <a:xfrm>
            <a:off x="0" y="6572250"/>
            <a:ext cx="12192000" cy="285750"/>
          </a:xfrm>
          <a:prstGeom prst="rect">
            <a:avLst/>
          </a:prstGeom>
          <a:solidFill>
            <a:srgbClr val="2E75B6"/>
          </a:solidFill>
          <a:ln>
            <a:noFill/>
          </a:ln>
        </p:spPr>
      </p:sp>
      <p:sp>
        <p:nvSpPr>
          <p:cNvPr id="14" name="Rectangle 14"/>
          <p:cNvSpPr/>
          <p:nvPr/>
        </p:nvSpPr>
        <p:spPr>
          <a:xfrm>
            <a:off x="2857500" y="5524500"/>
            <a:ext cx="285750" cy="285750"/>
          </a:xfrm>
          <a:prstGeom prst="rect">
            <a:avLst/>
          </a:prstGeom>
          <a:solidFill>
            <a:srgbClr val="C00000"/>
          </a:solidFill>
          <a:ln>
            <a:noFill/>
          </a:ln>
        </p:spPr>
      </p:sp>
      <p:sp>
        <p:nvSpPr>
          <p:cNvPr id="15" name="TextBox 15"/>
          <p:cNvSpPr txBox="1"/>
          <p:nvPr/>
        </p:nvSpPr>
        <p:spPr>
          <a:xfrm>
            <a:off x="2938929" y="5604510"/>
            <a:ext cx="122892" cy="243840"/>
          </a:xfrm>
          <a:prstGeom prst="rect">
            <a:avLst/>
          </a:prstGeom>
          <a:noFill/>
          <a:ln>
            <a:noFill/>
          </a:ln>
        </p:spPr>
        <p:txBody>
          <a:bodyPr wrap="none" lIns="0" tIns="0" rIns="0" bIns="0" anchor="t" anchorCtr="0">
            <a:spAutoFit/>
          </a:bodyPr>
          <a:lstStyle/>
          <a:p>
            <a:pPr algn="ctr"/>
            <a:r>
              <a:rPr lang="zh-CN" sz="1200" b="1" dirty="0">
                <a:solidFill>
                  <a:srgbClr val="FFFFFF"/>
                </a:solidFill>
                <a:latin typeface="Arial"/>
                <a:ea typeface="Microsoft YaHei"/>
                <a:cs typeface="Arial"/>
              </a:rPr>
              <a:t>1</a:t>
            </a:r>
          </a:p>
        </p:txBody>
      </p:sp>
      <p:sp>
        <p:nvSpPr>
          <p:cNvPr id="16" name="Rectangle 16"/>
          <p:cNvSpPr/>
          <p:nvPr/>
        </p:nvSpPr>
        <p:spPr>
          <a:xfrm>
            <a:off x="4762500" y="5524500"/>
            <a:ext cx="285750" cy="285750"/>
          </a:xfrm>
          <a:prstGeom prst="rect">
            <a:avLst/>
          </a:prstGeom>
          <a:solidFill>
            <a:srgbClr val="C00000"/>
          </a:solidFill>
          <a:ln>
            <a:noFill/>
          </a:ln>
        </p:spPr>
      </p:sp>
      <p:sp>
        <p:nvSpPr>
          <p:cNvPr id="17" name="TextBox 17"/>
          <p:cNvSpPr txBox="1"/>
          <p:nvPr/>
        </p:nvSpPr>
        <p:spPr>
          <a:xfrm>
            <a:off x="4843929" y="5604510"/>
            <a:ext cx="122892" cy="243840"/>
          </a:xfrm>
          <a:prstGeom prst="rect">
            <a:avLst/>
          </a:prstGeom>
          <a:noFill/>
          <a:ln>
            <a:noFill/>
          </a:ln>
        </p:spPr>
        <p:txBody>
          <a:bodyPr wrap="none" lIns="0" tIns="0" rIns="0" bIns="0" anchor="t" anchorCtr="0">
            <a:spAutoFit/>
          </a:bodyPr>
          <a:lstStyle/>
          <a:p>
            <a:pPr algn="ctr"/>
            <a:r>
              <a:rPr lang="zh-CN" sz="1200" b="1" dirty="0">
                <a:solidFill>
                  <a:srgbClr val="FFFFFF"/>
                </a:solidFill>
                <a:latin typeface="Arial"/>
                <a:ea typeface="Microsoft YaHei"/>
                <a:cs typeface="Arial"/>
              </a:rPr>
              <a:t>2</a:t>
            </a:r>
          </a:p>
        </p:txBody>
      </p:sp>
      <p:sp>
        <p:nvSpPr>
          <p:cNvPr id="18" name="Rectangle 18"/>
          <p:cNvSpPr/>
          <p:nvPr/>
        </p:nvSpPr>
        <p:spPr>
          <a:xfrm>
            <a:off x="6667500" y="5524500"/>
            <a:ext cx="285750" cy="285750"/>
          </a:xfrm>
          <a:prstGeom prst="rect">
            <a:avLst/>
          </a:prstGeom>
          <a:solidFill>
            <a:srgbClr val="C00000"/>
          </a:solidFill>
          <a:ln>
            <a:noFill/>
          </a:ln>
        </p:spPr>
      </p:sp>
      <p:sp>
        <p:nvSpPr>
          <p:cNvPr id="19" name="TextBox 19"/>
          <p:cNvSpPr txBox="1"/>
          <p:nvPr/>
        </p:nvSpPr>
        <p:spPr>
          <a:xfrm>
            <a:off x="6748929" y="5604510"/>
            <a:ext cx="122892" cy="243840"/>
          </a:xfrm>
          <a:prstGeom prst="rect">
            <a:avLst/>
          </a:prstGeom>
          <a:noFill/>
          <a:ln>
            <a:noFill/>
          </a:ln>
        </p:spPr>
        <p:txBody>
          <a:bodyPr wrap="none" lIns="0" tIns="0" rIns="0" bIns="0" anchor="t" anchorCtr="0">
            <a:spAutoFit/>
          </a:bodyPr>
          <a:lstStyle/>
          <a:p>
            <a:pPr algn="ctr"/>
            <a:r>
              <a:rPr lang="zh-CN" sz="1200" b="1" dirty="0">
                <a:solidFill>
                  <a:srgbClr val="FFFFFF"/>
                </a:solidFill>
                <a:latin typeface="Arial"/>
                <a:ea typeface="Microsoft YaHei"/>
                <a:cs typeface="Arial"/>
              </a:rPr>
              <a:t>3</a:t>
            </a:r>
          </a:p>
        </p:txBody>
      </p:sp>
      <p:sp>
        <p:nvSpPr>
          <p:cNvPr id="20" name="Rectangle 20"/>
          <p:cNvSpPr/>
          <p:nvPr/>
        </p:nvSpPr>
        <p:spPr>
          <a:xfrm>
            <a:off x="8572500" y="5524500"/>
            <a:ext cx="285750" cy="285750"/>
          </a:xfrm>
          <a:prstGeom prst="rect">
            <a:avLst/>
          </a:prstGeom>
          <a:solidFill>
            <a:srgbClr val="C00000"/>
          </a:solidFill>
          <a:ln>
            <a:noFill/>
          </a:ln>
        </p:spPr>
      </p:sp>
      <p:sp>
        <p:nvSpPr>
          <p:cNvPr id="21" name="TextBox 21"/>
          <p:cNvSpPr txBox="1"/>
          <p:nvPr/>
        </p:nvSpPr>
        <p:spPr>
          <a:xfrm>
            <a:off x="8653929" y="5604510"/>
            <a:ext cx="122892" cy="243840"/>
          </a:xfrm>
          <a:prstGeom prst="rect">
            <a:avLst/>
          </a:prstGeom>
          <a:noFill/>
          <a:ln>
            <a:noFill/>
          </a:ln>
        </p:spPr>
        <p:txBody>
          <a:bodyPr wrap="none" lIns="0" tIns="0" rIns="0" bIns="0" anchor="t" anchorCtr="0">
            <a:spAutoFit/>
          </a:bodyPr>
          <a:lstStyle/>
          <a:p>
            <a:pPr algn="ctr"/>
            <a:r>
              <a:rPr lang="zh-CN" sz="1200" b="1" dirty="0">
                <a:solidFill>
                  <a:srgbClr val="FFFFFF"/>
                </a:solidFill>
                <a:latin typeface="Arial"/>
                <a:ea typeface="Microsoft YaHei"/>
                <a:cs typeface="Arial"/>
              </a:rPr>
              <a:t>4</a:t>
            </a:r>
          </a:p>
        </p:txBody>
      </p:sp>
      <p:sp>
        <p:nvSpPr>
          <p:cNvPr id="22" name="Rectangle 22"/>
          <p:cNvSpPr/>
          <p:nvPr/>
        </p:nvSpPr>
        <p:spPr>
          <a:xfrm>
            <a:off x="3238500" y="5524500"/>
            <a:ext cx="952500" cy="285750"/>
          </a:xfrm>
          <a:prstGeom prst="rect">
            <a:avLst/>
          </a:prstGeom>
          <a:solidFill>
            <a:srgbClr val="5B9BD5"/>
          </a:solidFill>
          <a:ln>
            <a:noFill/>
          </a:ln>
        </p:spPr>
      </p:sp>
      <p:sp>
        <p:nvSpPr>
          <p:cNvPr id="23" name="TextBox 23"/>
          <p:cNvSpPr txBox="1"/>
          <p:nvPr/>
        </p:nvSpPr>
        <p:spPr>
          <a:xfrm>
            <a:off x="3583305" y="5627370"/>
            <a:ext cx="262890" cy="182880"/>
          </a:xfrm>
          <a:prstGeom prst="rect">
            <a:avLst/>
          </a:prstGeom>
          <a:noFill/>
          <a:ln>
            <a:noFill/>
          </a:ln>
        </p:spPr>
        <p:txBody>
          <a:bodyPr wrap="none" lIns="0" tIns="0" rIns="0" bIns="0" anchor="t" anchorCtr="0">
            <a:spAutoFit/>
          </a:bodyPr>
          <a:lstStyle/>
          <a:p>
            <a:pPr algn="ctr"/>
            <a:r>
              <a:rPr lang="zh-CN" sz="900" dirty="0">
                <a:solidFill>
                  <a:srgbClr val="FFFFFF"/>
                </a:solidFill>
                <a:latin typeface="Arial"/>
                <a:ea typeface="Microsoft YaHei"/>
                <a:cs typeface="Arial"/>
              </a:rPr>
              <a:t>感知</a:t>
            </a:r>
          </a:p>
        </p:txBody>
      </p:sp>
      <p:sp>
        <p:nvSpPr>
          <p:cNvPr id="24" name="Rectangle 24"/>
          <p:cNvSpPr/>
          <p:nvPr/>
        </p:nvSpPr>
        <p:spPr>
          <a:xfrm>
            <a:off x="5143500" y="5524500"/>
            <a:ext cx="952500" cy="285750"/>
          </a:xfrm>
          <a:prstGeom prst="rect">
            <a:avLst/>
          </a:prstGeom>
          <a:solidFill>
            <a:srgbClr val="5B9BD5"/>
          </a:solidFill>
          <a:ln>
            <a:noFill/>
          </a:ln>
        </p:spPr>
      </p:sp>
      <p:sp>
        <p:nvSpPr>
          <p:cNvPr id="25" name="TextBox 25"/>
          <p:cNvSpPr txBox="1"/>
          <p:nvPr/>
        </p:nvSpPr>
        <p:spPr>
          <a:xfrm>
            <a:off x="5488305" y="5627370"/>
            <a:ext cx="262890" cy="182880"/>
          </a:xfrm>
          <a:prstGeom prst="rect">
            <a:avLst/>
          </a:prstGeom>
          <a:noFill/>
          <a:ln>
            <a:noFill/>
          </a:ln>
        </p:spPr>
        <p:txBody>
          <a:bodyPr wrap="none" lIns="0" tIns="0" rIns="0" bIns="0" anchor="t" anchorCtr="0">
            <a:spAutoFit/>
          </a:bodyPr>
          <a:lstStyle/>
          <a:p>
            <a:pPr algn="ctr"/>
            <a:r>
              <a:rPr lang="zh-CN" sz="900" dirty="0">
                <a:solidFill>
                  <a:srgbClr val="FFFFFF"/>
                </a:solidFill>
                <a:latin typeface="Arial"/>
                <a:ea typeface="Microsoft YaHei"/>
                <a:cs typeface="Arial"/>
              </a:rPr>
              <a:t>推理</a:t>
            </a:r>
          </a:p>
        </p:txBody>
      </p:sp>
      <p:sp>
        <p:nvSpPr>
          <p:cNvPr id="26" name="Rectangle 26"/>
          <p:cNvSpPr/>
          <p:nvPr/>
        </p:nvSpPr>
        <p:spPr>
          <a:xfrm>
            <a:off x="7048500" y="5524500"/>
            <a:ext cx="952500" cy="285750"/>
          </a:xfrm>
          <a:prstGeom prst="rect">
            <a:avLst/>
          </a:prstGeom>
          <a:solidFill>
            <a:srgbClr val="5B9BD5"/>
          </a:solidFill>
          <a:ln>
            <a:noFill/>
          </a:ln>
        </p:spPr>
      </p:sp>
      <p:sp>
        <p:nvSpPr>
          <p:cNvPr id="27" name="TextBox 27"/>
          <p:cNvSpPr txBox="1"/>
          <p:nvPr/>
        </p:nvSpPr>
        <p:spPr>
          <a:xfrm>
            <a:off x="7393305" y="5627370"/>
            <a:ext cx="262890" cy="182880"/>
          </a:xfrm>
          <a:prstGeom prst="rect">
            <a:avLst/>
          </a:prstGeom>
          <a:noFill/>
          <a:ln>
            <a:noFill/>
          </a:ln>
        </p:spPr>
        <p:txBody>
          <a:bodyPr wrap="none" lIns="0" tIns="0" rIns="0" bIns="0" anchor="t" anchorCtr="0">
            <a:spAutoFit/>
          </a:bodyPr>
          <a:lstStyle/>
          <a:p>
            <a:pPr algn="ctr"/>
            <a:r>
              <a:rPr lang="zh-CN" sz="900" dirty="0">
                <a:solidFill>
                  <a:srgbClr val="FFFFFF"/>
                </a:solidFill>
                <a:latin typeface="Arial"/>
                <a:ea typeface="Microsoft YaHei"/>
                <a:cs typeface="Arial"/>
              </a:rPr>
              <a:t>协同</a:t>
            </a:r>
          </a:p>
        </p:txBody>
      </p:sp>
      <p:sp>
        <p:nvSpPr>
          <p:cNvPr id="28" name="Rectangle 28"/>
          <p:cNvSpPr/>
          <p:nvPr/>
        </p:nvSpPr>
        <p:spPr>
          <a:xfrm>
            <a:off x="8953500" y="5524500"/>
            <a:ext cx="952500" cy="285750"/>
          </a:xfrm>
          <a:prstGeom prst="rect">
            <a:avLst/>
          </a:prstGeom>
          <a:solidFill>
            <a:srgbClr val="5B9BD5"/>
          </a:solidFill>
          <a:ln>
            <a:noFill/>
          </a:ln>
        </p:spPr>
      </p:sp>
      <p:sp>
        <p:nvSpPr>
          <p:cNvPr id="29" name="TextBox 29"/>
          <p:cNvSpPr txBox="1"/>
          <p:nvPr/>
        </p:nvSpPr>
        <p:spPr>
          <a:xfrm>
            <a:off x="9298305" y="5627370"/>
            <a:ext cx="262890" cy="182880"/>
          </a:xfrm>
          <a:prstGeom prst="rect">
            <a:avLst/>
          </a:prstGeom>
          <a:noFill/>
          <a:ln>
            <a:noFill/>
          </a:ln>
        </p:spPr>
        <p:txBody>
          <a:bodyPr wrap="none" lIns="0" tIns="0" rIns="0" bIns="0" anchor="t" anchorCtr="0">
            <a:spAutoFit/>
          </a:bodyPr>
          <a:lstStyle/>
          <a:p>
            <a:pPr algn="ctr"/>
            <a:r>
              <a:rPr lang="zh-CN" sz="900" dirty="0">
                <a:solidFill>
                  <a:srgbClr val="FFFFFF"/>
                </a:solidFill>
                <a:latin typeface="Arial"/>
                <a:ea typeface="Microsoft YaHei"/>
                <a:cs typeface="Arial"/>
              </a:rPr>
              <a:t>学习</a:t>
            </a:r>
          </a:p>
        </p:txBody>
      </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